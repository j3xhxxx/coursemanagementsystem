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69b5374aee4101" /><Relationship Type="http://schemas.openxmlformats.org/officeDocument/2006/relationships/extended-properties" Target="/docProps/app.xml" Id="R6305e1045c9040f2" /><Relationship Type="http://schemas.openxmlformats.org/officeDocument/2006/relationships/officeDocument" Target="/ppt/presentation.xml" Id="R78eaf045ccf248cc" /></Relationships>
</file>

<file path=ppt/presentation.xml><?xml version="1.0" encoding="utf-8"?>
<p:presentation xmlns:p="http://schemas.openxmlformats.org/presentationml/2006/main">
  <p:sldMasterIdLst>
    <p:sldMasterId xmlns:r="http://schemas.openxmlformats.org/officeDocument/2006/relationships" id="2147483648" r:id="Rce07d04fab8544a7"/>
  </p:sldMasterIdLst>
  <p:notesMasterIdLst>
    <p:notesMasterId xmlns:r="http://schemas.openxmlformats.org/officeDocument/2006/relationships" r:id="R27f7ce11ee4245e2"/>
  </p:notesMasterIdLst>
  <p:sldIdLst>
    <p:sldId xmlns:r="http://schemas.openxmlformats.org/officeDocument/2006/relationships" id="256" r:id="Rb7d34af409ee4bd4"/>
    <p:sldId xmlns:r="http://schemas.openxmlformats.org/officeDocument/2006/relationships" id="257" r:id="R9e7e6593b7324fa0"/>
    <p:sldId xmlns:r="http://schemas.openxmlformats.org/officeDocument/2006/relationships" id="258" r:id="R34e37086a47f48fc"/>
    <p:sldId xmlns:r="http://schemas.openxmlformats.org/officeDocument/2006/relationships" id="259" r:id="R3451712b659341a1"/>
    <p:sldId xmlns:r="http://schemas.openxmlformats.org/officeDocument/2006/relationships" id="260" r:id="R8d6fcda100ed42ae"/>
    <p:sldId xmlns:r="http://schemas.openxmlformats.org/officeDocument/2006/relationships" id="261" r:id="R728b6b27e61c4db6"/>
    <p:sldId xmlns:r="http://schemas.openxmlformats.org/officeDocument/2006/relationships" id="262" r:id="R1f59aa05066e441a"/>
    <p:sldId xmlns:r="http://schemas.openxmlformats.org/officeDocument/2006/relationships" id="263" r:id="R153f9d0c92ba4ada"/>
    <p:sldId xmlns:r="http://schemas.openxmlformats.org/officeDocument/2006/relationships" id="264" r:id="R2fac0b980bff458c"/>
    <p:sldId xmlns:r="http://schemas.openxmlformats.org/officeDocument/2006/relationships" id="265" r:id="R89fe05b812064f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c7b5170b3941cd" /><Relationship Type="http://schemas.openxmlformats.org/officeDocument/2006/relationships/slideMaster" Target="/ppt/slideMasters/slideMaster1.xml" Id="Rce07d04fab8544a7" /><Relationship Type="http://schemas.openxmlformats.org/officeDocument/2006/relationships/notesMaster" Target="/ppt/notesMasters/notesMaster1.xml" Id="R27f7ce11ee4245e2" /><Relationship Type="http://schemas.openxmlformats.org/officeDocument/2006/relationships/presProps" Target="/ppt/presProps.xml" Id="Re6d6d2bf534d41a4" /><Relationship Type="http://schemas.openxmlformats.org/officeDocument/2006/relationships/tableStyles" Target="/ppt/tableStyles.xml" Id="R7f26f52d81d84d21" /><Relationship Type="http://schemas.openxmlformats.org/officeDocument/2006/relationships/slide" Target="/ppt/slides/slide1.xml" Id="Rb7d34af409ee4bd4" /><Relationship Type="http://schemas.openxmlformats.org/officeDocument/2006/relationships/slide" Target="/ppt/slides/slide2.xml" Id="R9e7e6593b7324fa0" /><Relationship Type="http://schemas.openxmlformats.org/officeDocument/2006/relationships/slide" Target="/ppt/slides/slide3.xml" Id="R34e37086a47f48fc" /><Relationship Type="http://schemas.openxmlformats.org/officeDocument/2006/relationships/slide" Target="/ppt/slides/slide4.xml" Id="R3451712b659341a1" /><Relationship Type="http://schemas.openxmlformats.org/officeDocument/2006/relationships/slide" Target="/ppt/slides/slide5.xml" Id="R8d6fcda100ed42ae" /><Relationship Type="http://schemas.openxmlformats.org/officeDocument/2006/relationships/slide" Target="/ppt/slides/slide6.xml" Id="R728b6b27e61c4db6" /><Relationship Type="http://schemas.openxmlformats.org/officeDocument/2006/relationships/slide" Target="/ppt/slides/slide7.xml" Id="R1f59aa05066e441a" /><Relationship Type="http://schemas.openxmlformats.org/officeDocument/2006/relationships/slide" Target="/ppt/slides/slide8.xml" Id="R153f9d0c92ba4ada" /><Relationship Type="http://schemas.openxmlformats.org/officeDocument/2006/relationships/slide" Target="/ppt/slides/slide9.xml" Id="R2fac0b980bff458c" /><Relationship Type="http://schemas.openxmlformats.org/officeDocument/2006/relationships/slide" Target="/ppt/slides/slide10.xml" Id="R89fe05b812064f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bbe9ed6fca4e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ddf55e4e6f42d3" /><Relationship Type="http://schemas.openxmlformats.org/officeDocument/2006/relationships/notesMaster" Target="/ppt/notesMasters/notesMaster1.xml" Id="Rc8dbf8e2426445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9b0f9563ae42e4" /><Relationship Type="http://schemas.openxmlformats.org/officeDocument/2006/relationships/notesMaster" Target="/ppt/notesMasters/notesMaster1.xml" Id="R8682280472d947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a346993e954eb3" /><Relationship Type="http://schemas.openxmlformats.org/officeDocument/2006/relationships/notesMaster" Target="/ppt/notesMasters/notesMaster1.xml" Id="R6a42adfb06a54b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246a4806294a0b" /><Relationship Type="http://schemas.openxmlformats.org/officeDocument/2006/relationships/notesMaster" Target="/ppt/notesMasters/notesMaster1.xml" Id="R7b512c5b14354e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4e32551c9f447e" /><Relationship Type="http://schemas.openxmlformats.org/officeDocument/2006/relationships/notesMaster" Target="/ppt/notesMasters/notesMaster1.xml" Id="Rf0a8903bb22f4e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c94211c046436e" /><Relationship Type="http://schemas.openxmlformats.org/officeDocument/2006/relationships/notesMaster" Target="/ppt/notesMasters/notesMaster1.xml" Id="R77fecb67041142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b2ac3d31904fa7" /><Relationship Type="http://schemas.openxmlformats.org/officeDocument/2006/relationships/notesMaster" Target="/ppt/notesMasters/notesMaster1.xml" Id="Rd56d31526b284f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874d5357b9482f" /><Relationship Type="http://schemas.openxmlformats.org/officeDocument/2006/relationships/notesMaster" Target="/ppt/notesMasters/notesMaster1.xml" Id="Rc48995f2cfe646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55a41b9b324a20" /><Relationship Type="http://schemas.openxmlformats.org/officeDocument/2006/relationships/notesMaster" Target="/ppt/notesMasters/notesMaster1.xml" Id="Raebdd93e1af043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7404d2f208442a" /><Relationship Type="http://schemas.openxmlformats.org/officeDocument/2006/relationships/notesMaster" Target="/ppt/notesMasters/notesMaster1.xml" Id="R2e829630fe6540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位老师好，我们的项目是基于冲突图与约束搜索的个人选课组合与冲突分析系统。它面向学生个人选课，在多个教师和上课安排之间寻找合法组合。本次汇报主要说明时间模型、冲突分析、搜索实现和中期完成情况。</a:t>
            </a:r>
          </a:p>
          <a:p xmlns:a="http://schemas.openxmlformats.org/drawingml/2006/main">
            <a:r>
              <a:t/>
            </a:r>
          </a:p>
          <a:p xmlns:a="http://schemas.openxmlformats.org/drawingml/2006/main">
            <a:r>
              <a:t>本页用时约 20 秒。</a:t>
            </a:r>
          </a:p>
          <a:p xmlns:a="http://schemas.openxmlformats.org/drawingml/2006/main">
            <a:r>
              <a:t>依据：PROJECT_BRIEF.md、CMakeLists.txt。封面为生成的教室主题配图，不对应实际学校或项目运行现场。排版参考：https://github.com/Leonxlnx/taste-skill/blob/main/skills/taste-skill/SKILL.md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门课程可能有多个教学班，一个班又可能一周上多次课。人工比较时，容易漏掉周次和单双周差异。任务书的中期目标包括录入教学班、生成时间位集合、判断冲突，以及在界面展示课程列表和冲突信息。目前这五项已经实现，并且已经接入组合搜索。</a:t>
            </a:r>
          </a:p>
          <a:p xmlns:a="http://schemas.openxmlformats.org/drawingml/2006/main">
            <a:r>
              <a:t/>
            </a:r>
          </a:p>
          <a:p xmlns:a="http://schemas.openxmlformats.org/drawingml/2006/main">
            <a:r>
              <a:t>本页用时约 35 秒。</a:t>
            </a:r>
          </a:p>
          <a:p xmlns:a="http://schemas.openxmlformats.org/drawingml/2006/main">
            <a:r>
              <a:t>依据：docs/计算机科学与工程程序设计实践课程设计任务书.pdf 第5页；当前 src/core 与 src/ui 实现。中期任务书五项要求逐项核对。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项目采用C++17、Qt 6和CMake。核心层负责时间集合、教学班管理、冲突和搜索，文件层处理CSV与JSON，界面层负责交互和展示。算法不依赖Qt Widgets。界面通过控制器调用核心服务，搜索在项目快照上后台运行，避免搜索过程阻塞界面。</a:t>
            </a:r>
          </a:p>
          <a:p xmlns:a="http://schemas.openxmlformats.org/drawingml/2006/main">
            <a:r>
              <a:t/>
            </a:r>
          </a:p>
          <a:p xmlns:a="http://schemas.openxmlformats.org/drawingml/2006/main">
            <a:r>
              <a:t>本页用时约 40 秒。</a:t>
            </a:r>
          </a:p>
          <a:p xmlns:a="http://schemas.openxmlformats.org/drawingml/2006/main">
            <a:r>
              <a:t>依据：CMakeLists.txt；src/ui/ProjectController.cpp；src/ui/SearchController.cpp；src/core、src/io、src/app 与 src/demo。箭头表示调用关系。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我们直接以TeachingClass录入，不再设置独立的Course对象。课程代码、名称和教师共同确定教学班，代码加名称只用于课程分组。一个TeachingClass包含多条Meeting。每条Meeting保存明确周次、星期、起止节次和教室。选择一个班时，会同时选中它的全部上课安排，学分也由这个班保存。</a:t>
            </a:r>
          </a:p>
          <a:p xmlns:a="http://schemas.openxmlformats.org/drawingml/2006/main">
            <a:r>
              <a:t/>
            </a:r>
          </a:p>
          <a:p xmlns:a="http://schemas.openxmlformats.org/drawingml/2006/main">
            <a:r>
              <a:t>本页用时约 45 秒。</a:t>
            </a:r>
          </a:p>
          <a:p xmlns:a="http://schemas.openxmlformats.org/drawingml/2006/main">
            <a:r>
              <a:t>依据：src/core/model/TeachingClass.h/.cpp、Meeting.h/.cpp、Schedule.h、UserConstraints.h。表格数据来自 examples/search_demo.csv 的操作系统张老师教学班。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间冲突必须同时考虑周次、星期和节次。默认二十周，每周七天，每天六个完整时段，所以一共有八百四十个位置。公式把一基坐标转换为零基下标。比如第二十周周日第六节，得到下标八百三十九。底层使用十四个六十四位整数存储。Meeting把周次与节次逐项展开，再把多个Meeting合并成教学班位图。单周和双周会先筛成明确的周次集合。</a:t>
            </a:r>
          </a:p>
          <a:p xmlns:a="http://schemas.openxmlformats.org/drawingml/2006/main">
            <a:r>
              <a:t/>
            </a:r>
          </a:p>
          <a:p xmlns:a="http://schemas.openxmlformats.org/drawingml/2006/main">
            <a:r>
              <a:t>本页用时约 55 秒。</a:t>
            </a:r>
          </a:p>
          <a:p xmlns:a="http://schemas.openxmlformats.org/drawingml/2006/main">
            <a:r>
              <a:t>依据：src/core/structures/TimeBitSet.h/.cpp；src/core/model/Meeting.cpp。默认20周；14个uint64_t存储840个有效位，末尾56个填充位保持为0。时间表为第2周的实际全局下标，行代表一天的六个完整时段。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两个教学班的位图按位与，只要交集非空就存在时间冲突。星期和节次相同但周次不重合，仍然可以同时选。同课程的不同班即使时间不同，也只能选择一个。冲突图采用邻接表，保存相邻教学班的ID、原因和具体时间。当前增删改后重建图，优先保证索引和图的一致性。</a:t>
            </a:r>
          </a:p>
          <a:p xmlns:a="http://schemas.openxmlformats.org/drawingml/2006/main">
            <a:r>
              <a:t/>
            </a:r>
          </a:p>
          <a:p xmlns:a="http://schemas.openxmlformats.org/drawingml/2006/main">
            <a:r>
              <a:t>本页用时约 40 秒。</a:t>
            </a:r>
          </a:p>
          <a:p xmlns:a="http://schemas.openxmlformats.org/drawingml/2006/main">
            <a:r>
              <a:t>依据：src/core/algorithms/ConflictDetector.cpp；src/core/structures/ConflictGraph.cpp；src/core/services/TeachingClassService.cpp；examples/search_demo.csv。位集合冲突矩阵展示周一第1节是否占用，1表示占用，0表示空闲；第5、7周为交集。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搜索先按必选课程建立候选域，再应用锁定和禁止时间。普通回溯按固定顺序逐组尝试。动态MRV每层优先选合法候选最少的组。前向检查在选择一个班后，提前排除剩余组中与它冲突的候选。如果某个组变空，就立即回退。删除记录保存在恢复栈里，回退只恢复当前层删掉的候选，因此不会误恢复父层已经排除的班。</a:t>
            </a:r>
          </a:p>
          <a:p xmlns:a="http://schemas.openxmlformats.org/drawingml/2006/main">
            <a:r>
              <a:t/>
            </a:r>
          </a:p>
          <a:p xmlns:a="http://schemas.openxmlformats.org/drawingml/2006/main">
            <a:r>
              <a:t>本页用时约 50 秒。</a:t>
            </a:r>
          </a:p>
          <a:p xmlns:a="http://schemas.openxmlformats.org/drawingml/2006/main">
            <a:r>
              <a:t>依据：src/core/algorithms/ScheduleGenerator.cpp。恢复栈表格为语义示意，A、B、C表示候选位置，不是性能数据或实际班号。当前前向检查使用位图扫描候选，不使用冲突图邻接表。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是当前程序的实际界面。左边是教学班，中间按真实周次显示课表，右边是候选方案和约束。这个样例有三门课程、五个教学班，能够得到三个合法方案。演示时我会切换到第二周，说明双周体育课会出现，再切回第一周说明它不出现。随后切换候选方案，并展示锁定教学班和禁止时间的设置入口。</a:t>
            </a:r>
          </a:p>
          <a:p xmlns:a="http://schemas.openxmlformats.org/drawingml/2006/main">
            <a:r>
              <a:t/>
            </a:r>
          </a:p>
          <a:p xmlns:a="http://schemas.openxmlformats.org/drawingml/2006/main">
            <a:r>
              <a:t>本页用时约 55 秒。</a:t>
            </a:r>
          </a:p>
          <a:p xmlns:a="http://schemas.openxmlformats.org/drawingml/2006/main">
            <a:r>
              <a:t>依据：当前Release程序实际窗口截图，examples/search_demo.csv；第2周，方案1。原始截图未改写、未重绘。演示顺序：第2周与第1周切换、候选方案切换、查看约束设置。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成结果会交给独立验证器。它从Meeting坐标重新检查课程集合、锁定、禁止时间和时间重叠，不依赖生成器的缓存位图。小规模案例还用完整枚举对照方案集合。最近Debug和Release构建的两项基础测试都通过。表中统计的是教学班赋值尝试次数，MRV在瓶颈案例中能更早发现无解。这些小样例不能代表所有输入上的加速效果。</a:t>
            </a:r>
          </a:p>
          <a:p xmlns:a="http://schemas.openxmlformats.org/drawingml/2006/main">
            <a:r>
              <a:t/>
            </a:r>
          </a:p>
          <a:p xmlns:a="http://schemas.openxmlformats.org/drawingml/2006/main">
            <a:r>
              <a:t>本页用时约 45 秒。</a:t>
            </a:r>
          </a:p>
          <a:p xmlns:a="http://schemas.openxmlformats.org/drawingml/2006/main">
            <a:r>
              <a:t>依据：tests/core_tests.cpp、tests/io_tests.cpp；2026-10-07 Debug与Release基础测试结果；scripts/benchmark.ps1 当前Release输出。统计值来自实际运行：普通回溯1092,1821,1821,260；MRV1092,1,365,64；MRV+FC1092,1,365,64。图中合并相同的MRV和MRV+FC系列，未表示二者在所有数据上的表现相同。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按照任务书，中期验收要求已经全部完成。软件结题功能按工作量粗略估算约完成百分之七十五。下一步先按实际周次计算早课、空堂、上课天数等指标，再加入用户优先级排序和堆维护Top-K。独立固定课表、课程分组索引和冲突图更新细节，以及真实数据和完整性能验证，还需要继续补齐。我的汇报到这里，谢谢各位老师。</a:t>
            </a:r>
          </a:p>
          <a:p xmlns:a="http://schemas.openxmlformats.org/drawingml/2006/main">
            <a:r>
              <a:t/>
            </a:r>
          </a:p>
          <a:p xmlns:a="http://schemas.openxmlformats.org/drawingml/2006/main">
            <a:r>
              <a:t>本页用时约 35 秒。</a:t>
            </a:r>
          </a:p>
          <a:p xmlns:a="http://schemas.openxmlformats.org/drawingml/2006/main">
            <a:r>
              <a:t>依据：任务书第5页、README.md与当前src实现。100%指任务书五项中期目标；约75%是软件功能剩余工作量的粗略估计，不是官方评分，不包含论文与答辩材料完成度。</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7ccb18de474f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0eeb9089da4969" /><Relationship Type="http://schemas.openxmlformats.org/officeDocument/2006/relationships/slideLayout" Target="/ppt/slideLayouts/slideLayout1.xml" Id="R7693fd9bedd24f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93fd9bedd24f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6370a547c8b43c9" /><Relationship Type="http://schemas.openxmlformats.org/officeDocument/2006/relationships/image" Target="/ppt/media/image.png" Id="R3bb568507a1b4231" /><Relationship Type="http://schemas.openxmlformats.org/officeDocument/2006/relationships/notesSlide" Target="/ppt/notesSlides/notesSlide1.xml" Id="Re7b0bc536a794a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1b3ee9190242c2" /><Relationship Type="http://schemas.openxmlformats.org/officeDocument/2006/relationships/notesSlide" Target="/ppt/notesSlides/notesSlide2.xml" Id="Re69a3fbf687b44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b340fd828d84b47" /><Relationship Type="http://schemas.openxmlformats.org/officeDocument/2006/relationships/notesSlide" Target="/ppt/notesSlides/notesSlide3.xml" Id="Rf089c2c554224a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f219929c84b4d2c" /><Relationship Type="http://schemas.openxmlformats.org/officeDocument/2006/relationships/notesSlide" Target="/ppt/notesSlides/notesSlide4.xml" Id="R654e73f5a76d45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66033904dd74cdc" /><Relationship Type="http://schemas.openxmlformats.org/officeDocument/2006/relationships/notesSlide" Target="/ppt/notesSlides/notesSlide5.xml" Id="R304e5ca869fc4b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1457f852004c0b" /><Relationship Type="http://schemas.openxmlformats.org/officeDocument/2006/relationships/notesSlide" Target="/ppt/notesSlides/notesSlide6.xml" Id="R91f8357b786a4d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0a7051a5721459b" /><Relationship Type="http://schemas.openxmlformats.org/officeDocument/2006/relationships/notesSlide" Target="/ppt/notesSlides/notesSlide7.xml" Id="Rfa67674fb5b14e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a43f99deaeb45fc" /><Relationship Type="http://schemas.openxmlformats.org/officeDocument/2006/relationships/image" Target="/ppt/media/image2.png" Id="R00df126153a24cc3" /><Relationship Type="http://schemas.openxmlformats.org/officeDocument/2006/relationships/notesSlide" Target="/ppt/notesSlides/notesSlide8.xml" Id="R071b2003c1b74e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da542f90b544908" /><Relationship Type="http://schemas.openxmlformats.org/officeDocument/2006/relationships/chart" Target="/ppt/slides/charts/chart1.xml" Id="Rdf13f4e89072418b" /><Relationship Type="http://schemas.openxmlformats.org/officeDocument/2006/relationships/notesSlide" Target="/ppt/notesSlides/notesSlide9.xml" Id="R52e3ba8944834ae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c6820caa477416b" /><Relationship Type="http://schemas.openxmlformats.org/officeDocument/2006/relationships/notesSlide" Target="/ppt/notesSlides/notesSlide10.xml" Id="R1de3d2f0392c4c21" /></Relationships>
</file>

<file path=ppt/slides/charts/chart1.xml><?xml version="1.0" encoding="utf-8"?>
<c:chartSpace xmlns:c="http://schemas.openxmlformats.org/drawingml/2006/chart">
  <c:lang val="en-US"/>
  <c:chart>
    <c:plotArea>
      <c:barChart>
        <c:barDir val="bar"/>
        <c:grouping val="clustered"/>
        <c:varyColors val="0"/>
        <c:ser>
          <c:idx val="0"/>
          <c:order val="0"/>
          <c:tx>
            <c:v>普通回溯</c:v>
          </c:tx>
          <c:spPr>
            <a:solidFill xmlns:a="http://schemas.openxmlformats.org/drawingml/2006/main">
              <a:srgbClr val="AAB6AF"/>
            </a:solidFill>
            <a:ln xmlns:a="http://schemas.openxmlformats.org/drawingml/2006/main" w="0">
              <a:noFill/>
            </a:ln>
          </c:spPr>
          <c:cat>
            <c:strLit>
              <c:ptCount val="4"/>
              <c:pt idx="0">
                <c:v>5组争用4个时段</c:v>
              </c:pt>
              <c:pt idx="1">
                <c:v>末尾瓶颈仍有解</c:v>
              </c:pt>
              <c:pt idx="2">
                <c:v>末尾瓶颈导致无解</c:v>
              </c:pt>
              <c:pt idx="3">
                <c:v>组间无冲突</c:v>
              </c:pt>
            </c:strLit>
          </c:cat>
          <c:val>
            <c:numLit>
              <c:formatCode>0</c:formatCode>
              <c:ptCount val="4"/>
              <c:pt idx="0">
                <c:v>260</c:v>
              </c:pt>
              <c:pt idx="1">
                <c:v>1821</c:v>
              </c:pt>
              <c:pt idx="2">
                <c:v>1821</c:v>
              </c:pt>
              <c:pt idx="3">
                <c:v>1092</c:v>
              </c:pt>
            </c:numLit>
          </c:val>
        </c:ser>
        <c:ser>
          <c:idx val="1"/>
          <c:order val="1"/>
          <c:tx>
            <c:v>MRV / MRV＋FC</c:v>
          </c:tx>
          <c:spPr>
            <a:solidFill xmlns:a="http://schemas.openxmlformats.org/drawingml/2006/main">
              <a:srgbClr val="226A57"/>
            </a:solidFill>
            <a:ln xmlns:a="http://schemas.openxmlformats.org/drawingml/2006/main" w="0">
              <a:noFill/>
            </a:ln>
          </c:spPr>
          <c:cat>
            <c:strLit>
              <c:ptCount val="4"/>
              <c:pt idx="0">
                <c:v>5组争用4个时段</c:v>
              </c:pt>
              <c:pt idx="1">
                <c:v>末尾瓶颈仍有解</c:v>
              </c:pt>
              <c:pt idx="2">
                <c:v>末尾瓶颈导致无解</c:v>
              </c:pt>
              <c:pt idx="3">
                <c:v>组间无冲突</c:v>
              </c:pt>
            </c:strLit>
          </c:cat>
          <c:val>
            <c:numLit>
              <c:formatCode>0</c:formatCode>
              <c:ptCount val="4"/>
              <c:pt idx="0">
                <c:v>64</c:v>
              </c:pt>
              <c:pt idx="1">
                <c:v>365</c:v>
              </c:pt>
              <c:pt idx="2">
                <c:v>1</c:v>
              </c:pt>
              <c:pt idx="3">
                <c:v>1092</c:v>
              </c:pt>
            </c:numLit>
          </c:val>
        </c:ser>
        <c:dLbls>
          <c:txPr>
            <a:bodyPr xmlns:a="http://schemas.openxmlformats.org/drawingml/2006/main" anchorCtr="1"/>
            <a:lstStyle xmlns:a="http://schemas.openxmlformats.org/drawingml/2006/main"/>
            <a:p xmlns:a="http://schemas.openxmlformats.org/drawingml/2006/main">
              <a:pPr>
                <a:defRPr sz="1500">
                  <a:solidFill>
                    <a:srgbClr val="1D2C27"/>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70"/>
        <c:overlap val="0"/>
        <c:axId val="48650112"/>
        <c:axId val="48672768"/>
      </c:barChart>
      <c:catAx>
        <c:axId val="48650112"/>
        <c:scaling>
          <c:orientation val="minMax"/>
        </c:scaling>
        <c:delete val="0"/>
        <c:axPos val="l"/>
        <c:majorGridlines>
          <c:spPr>
            <a:ln xmlns:a="http://schemas.openxmlformats.org/drawingml/2006/main" w="4763">
              <a:solidFill>
                <a:srgbClr val="D3DDD7"/>
              </a:solidFill>
            </a:ln>
          </c:spPr>
        </c:majorGridlines>
        <c:numFmt formatCode="0"/>
        <c:majorTickMark val="none"/>
        <c:minorTickMark val="none"/>
        <c:spPr>
          <a:ln xmlns:a="http://schemas.openxmlformats.org/drawingml/2006/main" w="9525">
            <a:solidFill>
              <a:srgbClr val="D3DDD7"/>
            </a:solidFill>
          </a:ln>
        </c:spPr>
        <c:txPr>
          <a:bodyPr xmlns:a="http://schemas.openxmlformats.org/drawingml/2006/main" anchorCtr="1"/>
          <a:lstStyle xmlns:a="http://schemas.openxmlformats.org/drawingml/2006/main"/>
          <a:p xmlns:a="http://schemas.openxmlformats.org/drawingml/2006/main">
            <a:pPr>
              <a:defRPr sz="1500">
                <a:solidFill>
                  <a:srgbClr val="5B6862"/>
                </a:solidFill>
                <a:latin typeface="Microsoft YaHei"/>
                <a:ea typeface="Microsoft YaHei"/>
                <a:cs typeface="Microsoft YaHei"/>
              </a:defRPr>
            </a:pPr>
          </a:p>
        </c:txPr>
        <c:crossAx val="48672768"/>
      </c:catAx>
      <c:valAx>
        <c:axId val="48672768"/>
        <c:scaling>
          <c:orientation val="minMax"/>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D2C27"/>
                </a:solidFill>
                <a:latin typeface="Microsoft YaHei"/>
                <a:ea typeface="Microsoft YaHei"/>
                <a:cs typeface="Microsoft YaHei"/>
              </a:defRPr>
            </a:pPr>
          </a:p>
        </c:txPr>
        <c:crossAx val="48650112"/>
        <c:crossBetween val="between"/>
      </c:valAx>
      <c:spPr>
        <a:solidFill xmlns:a="http://schemas.openxmlformats.org/drawingml/2006/main">
          <a:srgbClr val="F5F7F6"/>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D2C27"/>
              </a:solidFill>
              <a:latin typeface="Microsoft YaHei"/>
              <a:ea typeface="Microsoft YaHei"/>
              <a:cs typeface="Microsoft YaHei"/>
            </a:defRPr>
          </a:pPr>
        </a:p>
      </c:txPr>
    </c:legend>
    <c:plotVisOnly val="1"/>
  </c:chart>
  <c:spPr>
    <a:solidFill xmlns:a="http://schemas.openxmlformats.org/drawingml/2006/main">
      <a:srgbClr val="F5F7F6"/>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bb568507a1b4231"/>
          <a:srcRect xmlns:a="http://schemas.openxmlformats.org/drawingml/2006/main" l="15625" t="0" r="15625" b="0"/>
          <a:stretch xmlns:a="http://schemas.openxmlformats.org/drawingml/2006/main">
            <a:fillRect l="0" t="0" r="0" b="0"/>
          </a:stretch>
        </p:blipFill>
        <p:spPr>
          <a:xfrm xmlns:a="http://schemas.openxmlformats.org/drawingml/2006/main">
            <a:off x="8991600" y="685800"/>
            <a:ext cx="2514600" cy="54864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A809C81-74AF-4FA6-A13A-7B20881281A3}"/>
              </a:ext>
            </a:extLst>
          </p:cNvPr>
          <p:cNvSpPr>
            <a:spLocks xmlns:a="http://schemas.openxmlformats.org/drawingml/2006/main" noGrp="1"/>
          </p:cNvSpPr>
          <p:nvPr/>
        </p:nvSpPr>
        <p:spPr>
          <a:xfrm xmlns:a="http://schemas.openxmlformats.org/drawingml/2006/main">
            <a:off x="685800" y="742950"/>
            <a:ext cx="777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B6862"/>
                </a:solidFill>
                <a:latin typeface="Microsoft YaHei"/>
                <a:ea typeface="Microsoft YaHei"/>
                <a:cs typeface="Microsoft YaHei"/>
              </a:defRPr>
            </a:pPr>
            <a:r>
              <a:rPr sz="1800" b="0">
                <a:solidFill>
                  <a:srgbClr val="5B6862"/>
                </a:solidFill>
                <a:latin typeface="Microsoft YaHei"/>
                <a:ea typeface="Microsoft YaHei"/>
                <a:cs typeface="Microsoft YaHei"/>
              </a:rPr>
              <a:t>计算机科学与工程程序设计实践</a:t>
            </a:r>
          </a:p>
        </p:txBody>
      </p:sp>
      <p:sp>
        <p:nvSpPr>
          <p:cNvPr id="3" name="">
            <a:extLst xmlns:a="http://schemas.openxmlformats.org/drawingml/2006/main">
              <a:ext uri="{FF2B5EF4-FFF2-40B4-BE49-F238E27FC236}">
                <a16:creationId xmlns:a16="http://schemas.microsoft.com/office/drawing/2014/main" id="{8118A56C-8FA3-48F2-811B-075BF811B7DE}"/>
              </a:ext>
            </a:extLst>
          </p:cNvPr>
          <p:cNvSpPr>
            <a:spLocks xmlns:a="http://schemas.openxmlformats.org/drawingml/2006/main" noGrp="1"/>
          </p:cNvSpPr>
          <p:nvPr/>
        </p:nvSpPr>
        <p:spPr>
          <a:xfrm xmlns:a="http://schemas.openxmlformats.org/drawingml/2006/main">
            <a:off x="685800" y="2057400"/>
            <a:ext cx="80010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200" b="1">
                <a:solidFill>
                  <a:srgbClr val="1D2C27"/>
                </a:solidFill>
                <a:latin typeface="Microsoft YaHei"/>
                <a:ea typeface="Microsoft YaHei"/>
                <a:cs typeface="Microsoft YaHei"/>
              </a:defRPr>
            </a:pPr>
            <a:r>
              <a:rPr sz="4200" b="1">
                <a:solidFill>
                  <a:srgbClr val="1D2C27"/>
                </a:solidFill>
                <a:latin typeface="Microsoft YaHei"/>
                <a:ea typeface="Microsoft YaHei"/>
                <a:cs typeface="Microsoft YaHei"/>
              </a:rPr>
              <a:t>基于冲突图与约束搜索的</a:t>
            </a:r>
          </a:p>
          <a:p xmlns:a="http://schemas.openxmlformats.org/drawingml/2006/main">
            <a:pPr algn="l">
              <a:defRPr sz="4200" b="1">
                <a:solidFill>
                  <a:srgbClr val="1D2C27"/>
                </a:solidFill>
                <a:latin typeface="Microsoft YaHei"/>
                <a:ea typeface="Microsoft YaHei"/>
                <a:cs typeface="Microsoft YaHei"/>
              </a:defRPr>
            </a:pPr>
            <a:r>
              <a:rPr sz="4200" b="1">
                <a:solidFill>
                  <a:srgbClr val="1D2C27"/>
                </a:solidFill>
                <a:latin typeface="Microsoft YaHei"/>
                <a:ea typeface="Microsoft YaHei"/>
                <a:cs typeface="Microsoft YaHei"/>
              </a:rPr>
              <a:t>个人选课组合与冲突分析系统</a:t>
            </a:r>
          </a:p>
        </p:txBody>
      </p:sp>
      <p:sp>
        <p:nvSpPr>
          <p:cNvPr id="4" name="">
            <a:extLst xmlns:a="http://schemas.openxmlformats.org/drawingml/2006/main">
              <a:ext uri="{FF2B5EF4-FFF2-40B4-BE49-F238E27FC236}">
                <a16:creationId xmlns:a16="http://schemas.microsoft.com/office/drawing/2014/main" id="{1277F228-4FB7-4D78-ACD5-CD45D85CD30D}"/>
              </a:ext>
            </a:extLst>
          </p:cNvPr>
          <p:cNvSpPr>
            <a:spLocks xmlns:a="http://schemas.openxmlformats.org/drawingml/2006/main" noGrp="1"/>
          </p:cNvSpPr>
          <p:nvPr/>
        </p:nvSpPr>
        <p:spPr>
          <a:xfrm xmlns:a="http://schemas.openxmlformats.org/drawingml/2006/main">
            <a:off x="685800" y="4162425"/>
            <a:ext cx="647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26A57"/>
                </a:solidFill>
                <a:latin typeface="Microsoft YaHei"/>
                <a:ea typeface="Microsoft YaHei"/>
                <a:cs typeface="Microsoft YaHei"/>
              </a:defRPr>
            </a:pPr>
            <a:r>
              <a:rPr sz="2700" b="1">
                <a:solidFill>
                  <a:srgbClr val="226A57"/>
                </a:solidFill>
                <a:latin typeface="Microsoft YaHei"/>
                <a:ea typeface="Microsoft YaHei"/>
                <a:cs typeface="Microsoft YaHei"/>
              </a:rPr>
              <a:t>中期答辩</a:t>
            </a:r>
          </a:p>
        </p:txBody>
      </p:sp>
      <p:sp>
        <p:nvSpPr>
          <p:cNvPr id="5" name="">
            <a:extLst xmlns:a="http://schemas.openxmlformats.org/drawingml/2006/main">
              <a:ext uri="{FF2B5EF4-FFF2-40B4-BE49-F238E27FC236}">
                <a16:creationId xmlns:a16="http://schemas.microsoft.com/office/drawing/2014/main" id="{04349920-2CA8-4619-9F8F-BA61CA690201}"/>
              </a:ext>
            </a:extLst>
          </p:cNvPr>
          <p:cNvSpPr>
            <a:spLocks xmlns:a="http://schemas.openxmlformats.org/drawingml/2006/main" noGrp="1"/>
          </p:cNvSpPr>
          <p:nvPr/>
        </p:nvSpPr>
        <p:spPr>
          <a:xfrm xmlns:a="http://schemas.openxmlformats.org/drawingml/2006/main">
            <a:off x="685800" y="5553075"/>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B6862"/>
                </a:solidFill>
                <a:latin typeface="Microsoft YaHei"/>
                <a:ea typeface="Microsoft YaHei"/>
                <a:cs typeface="Microsoft YaHei"/>
              </a:defRPr>
            </a:pPr>
            <a:r>
              <a:rPr sz="1875" b="0">
                <a:solidFill>
                  <a:srgbClr val="5B6862"/>
                </a:solidFill>
                <a:latin typeface="Microsoft YaHei"/>
                <a:ea typeface="Microsoft YaHei"/>
                <a:cs typeface="Microsoft YaHei"/>
              </a:rPr>
              <a:t>2026年10月7日</a:t>
            </a:r>
          </a:p>
        </p:txBody>
      </p:sp>
    </p:spTree>
    <p:extLst>
      <p:ext uri="{BB962C8B-B14F-4D97-AF65-F5344CB8AC3E}">
        <p14:creationId xmlns:p14="http://schemas.microsoft.com/office/powerpoint/2010/main" val="1717461129"/>
      </p:ext>
    </p:extLst>
  </p:cSld>
</p:sld>
</file>

<file path=ppt/slides/slide2.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BDBD7FD-A41B-4181-82E7-7BF5C148EF5C}"/>
              </a:ext>
            </a:extLst>
          </p:cNvPr>
          <p:cNvSpPr>
            <a:spLocks xmlns:a="http://schemas.openxmlformats.org/drawingml/2006/main" noGrp="1"/>
          </p:cNvSpPr>
          <p:nvPr/>
        </p:nvSpPr>
        <p:spPr>
          <a:xfrm xmlns:a="http://schemas.openxmlformats.org/drawingml/2006/main">
            <a:off x="685800" y="438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D2C27"/>
                </a:solidFill>
                <a:latin typeface="Microsoft YaHei"/>
                <a:ea typeface="Microsoft YaHei"/>
                <a:cs typeface="Microsoft YaHei"/>
              </a:defRPr>
            </a:pPr>
            <a:r>
              <a:rPr sz="3300" b="1">
                <a:solidFill>
                  <a:srgbClr val="1D2C27"/>
                </a:solidFill>
                <a:latin typeface="Microsoft YaHei"/>
                <a:ea typeface="Microsoft YaHei"/>
                <a:cs typeface="Microsoft YaHei"/>
              </a:rPr>
              <a:t>需求与中期目标</a:t>
            </a:r>
          </a:p>
        </p:txBody>
      </p:sp>
      <p:sp>
        <p:nvSpPr>
          <p:cNvPr id="2" name="">
            <a:extLst xmlns:a="http://schemas.openxmlformats.org/drawingml/2006/main">
              <a:ext uri="{FF2B5EF4-FFF2-40B4-BE49-F238E27FC236}">
                <a16:creationId xmlns:a16="http://schemas.microsoft.com/office/drawing/2014/main" id="{A78F473F-4FC0-4E75-9F71-DB602AC0B7C6}"/>
              </a:ext>
            </a:extLst>
          </p:cNvPr>
          <p:cNvSpPr>
            <a:spLocks xmlns:a="http://schemas.openxmlformats.org/drawingml/2006/main" noGrp="1"/>
          </p:cNvSpPr>
          <p:nvPr/>
        </p:nvSpPr>
        <p:spPr>
          <a:xfrm xmlns:a="http://schemas.openxmlformats.org/drawingml/2006/main">
            <a:off x="11163300" y="64770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B6862"/>
                </a:solidFill>
                <a:latin typeface="Microsoft YaHei"/>
                <a:ea typeface="Microsoft YaHei"/>
                <a:cs typeface="Microsoft YaHei"/>
              </a:defRPr>
            </a:pPr>
            <a:r>
              <a:rPr sz="1200" b="0">
                <a:solidFill>
                  <a:srgbClr val="5B6862"/>
                </a:solidFill>
                <a:latin typeface="Microsoft YaHei"/>
                <a:ea typeface="Microsoft YaHei"/>
                <a:cs typeface="Microsoft YaHei"/>
              </a:rPr>
              <a:t>02</a:t>
            </a:r>
          </a:p>
        </p:txBody>
      </p:sp>
      <p:sp>
        <p:nvSpPr>
          <p:cNvPr id="3" name="">
            <a:extLst xmlns:a="http://schemas.openxmlformats.org/drawingml/2006/main">
              <a:ext uri="{FF2B5EF4-FFF2-40B4-BE49-F238E27FC236}">
                <a16:creationId xmlns:a16="http://schemas.microsoft.com/office/drawing/2014/main" id="{6ADE1492-6434-4C14-84E9-DA86053F2A7B}"/>
              </a:ext>
            </a:extLst>
          </p:cNvPr>
          <p:cNvSpPr>
            <a:spLocks xmlns:a="http://schemas.openxmlformats.org/drawingml/2006/main" noGrp="1"/>
          </p:cNvSpPr>
          <p:nvPr/>
        </p:nvSpPr>
        <p:spPr>
          <a:xfrm xmlns:a="http://schemas.openxmlformats.org/drawingml/2006/main">
            <a:off x="685800" y="1838325"/>
            <a:ext cx="4095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600" b="1">
                <a:solidFill>
                  <a:srgbClr val="226A57"/>
                </a:solidFill>
                <a:latin typeface="Microsoft YaHei"/>
                <a:ea typeface="Microsoft YaHei"/>
                <a:cs typeface="Microsoft YaHei"/>
              </a:defRPr>
            </a:pPr>
            <a:r>
              <a:rPr sz="9600" b="1">
                <a:solidFill>
                  <a:srgbClr val="226A57"/>
                </a:solidFill>
                <a:latin typeface="Microsoft YaHei"/>
                <a:ea typeface="Microsoft YaHei"/>
                <a:cs typeface="Microsoft YaHei"/>
              </a:rPr>
              <a:t>5/5</a:t>
            </a:r>
          </a:p>
        </p:txBody>
      </p:sp>
      <p:sp>
        <p:nvSpPr>
          <p:cNvPr id="4" name="">
            <a:extLst xmlns:a="http://schemas.openxmlformats.org/drawingml/2006/main">
              <a:ext uri="{FF2B5EF4-FFF2-40B4-BE49-F238E27FC236}">
                <a16:creationId xmlns:a16="http://schemas.microsoft.com/office/drawing/2014/main" id="{6CAAB795-0D2F-4C67-BEBE-F927AF58C1D3}"/>
              </a:ext>
            </a:extLst>
          </p:cNvPr>
          <p:cNvSpPr>
            <a:spLocks xmlns:a="http://schemas.openxmlformats.org/drawingml/2006/main" noGrp="1"/>
          </p:cNvSpPr>
          <p:nvPr/>
        </p:nvSpPr>
        <p:spPr>
          <a:xfrm xmlns:a="http://schemas.openxmlformats.org/drawingml/2006/main">
            <a:off x="742950" y="3486150"/>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D2C27"/>
                </a:solidFill>
                <a:latin typeface="Microsoft YaHei"/>
                <a:ea typeface="Microsoft YaHei"/>
                <a:cs typeface="Microsoft YaHei"/>
              </a:defRPr>
            </a:pPr>
            <a:r>
              <a:rPr sz="2400" b="1">
                <a:solidFill>
                  <a:srgbClr val="1D2C27"/>
                </a:solidFill>
                <a:latin typeface="Microsoft YaHei"/>
                <a:ea typeface="Microsoft YaHei"/>
                <a:cs typeface="Microsoft YaHei"/>
              </a:rPr>
              <a:t>中期验收目标已实现</a:t>
            </a:r>
          </a:p>
        </p:txBody>
      </p:sp>
      <p:sp>
        <p:nvSpPr>
          <p:cNvPr id="5" name="">
            <a:extLst xmlns:a="http://schemas.openxmlformats.org/drawingml/2006/main">
              <a:ext uri="{FF2B5EF4-FFF2-40B4-BE49-F238E27FC236}">
                <a16:creationId xmlns:a16="http://schemas.microsoft.com/office/drawing/2014/main" id="{AB2706A9-7AB6-46BC-B03C-80E2AF53FEDF}"/>
              </a:ext>
            </a:extLst>
          </p:cNvPr>
          <p:cNvSpPr>
            <a:spLocks xmlns:a="http://schemas.openxmlformats.org/drawingml/2006/main" noGrp="1"/>
          </p:cNvSpPr>
          <p:nvPr/>
        </p:nvSpPr>
        <p:spPr>
          <a:xfrm xmlns:a="http://schemas.openxmlformats.org/drawingml/2006/main">
            <a:off x="742950" y="4486275"/>
            <a:ext cx="45529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B6862"/>
                </a:solidFill>
                <a:latin typeface="Microsoft YaHei"/>
                <a:ea typeface="Microsoft YaHei"/>
                <a:cs typeface="Microsoft YaHei"/>
              </a:defRPr>
            </a:pPr>
            <a:r>
              <a:rPr sz="2025" b="0">
                <a:solidFill>
                  <a:srgbClr val="5B6862"/>
                </a:solidFill>
                <a:latin typeface="Microsoft YaHei"/>
                <a:ea typeface="Microsoft YaHei"/>
                <a:cs typeface="Microsoft YaHei"/>
              </a:rPr>
              <a:t>在多位教师的上课安排中，</a:t>
            </a:r>
          </a:p>
          <a:p xmlns:a="http://schemas.openxmlformats.org/drawingml/2006/main">
            <a:pPr algn="l">
              <a:defRPr sz="2025" b="0">
                <a:solidFill>
                  <a:srgbClr val="5B6862"/>
                </a:solidFill>
                <a:latin typeface="Microsoft YaHei"/>
                <a:ea typeface="Microsoft YaHei"/>
                <a:cs typeface="Microsoft YaHei"/>
              </a:defRPr>
            </a:pPr>
            <a:r>
              <a:rPr sz="2025" b="0">
                <a:solidFill>
                  <a:srgbClr val="5B6862"/>
                </a:solidFill>
                <a:latin typeface="Microsoft YaHei"/>
                <a:ea typeface="Microsoft YaHei"/>
                <a:cs typeface="Microsoft YaHei"/>
              </a:rPr>
              <a:t>选择符合个人约束的教学班</a:t>
            </a:r>
          </a:p>
        </p:txBody>
      </p:sp>
      <p:sp>
        <p:nvSpPr>
          <p:cNvPr id="6" name="">
            <a:extLst xmlns:a="http://schemas.openxmlformats.org/drawingml/2006/main">
              <a:ext uri="{FF2B5EF4-FFF2-40B4-BE49-F238E27FC236}">
                <a16:creationId xmlns:a16="http://schemas.microsoft.com/office/drawing/2014/main" id="{7523B689-3D84-46BD-916B-55B42D0B3A88}"/>
              </a:ext>
            </a:extLst>
          </p:cNvPr>
          <p:cNvSpPr>
            <a:spLocks xmlns:a="http://schemas.openxmlformats.org/drawingml/2006/main" noGrp="1"/>
          </p:cNvSpPr>
          <p:nvPr/>
        </p:nvSpPr>
        <p:spPr>
          <a:xfrm xmlns:a="http://schemas.openxmlformats.org/drawingml/2006/main">
            <a:off x="6153150" y="1714500"/>
            <a:ext cx="449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D2C27"/>
                </a:solidFill>
                <a:latin typeface="Microsoft YaHei"/>
                <a:ea typeface="Microsoft YaHei"/>
                <a:cs typeface="Microsoft YaHei"/>
              </a:defRPr>
            </a:pPr>
            <a:r>
              <a:rPr sz="2250" b="1">
                <a:solidFill>
                  <a:srgbClr val="1D2C27"/>
                </a:solidFill>
                <a:latin typeface="Microsoft YaHei"/>
                <a:ea typeface="Microsoft YaHei"/>
                <a:cs typeface="Microsoft YaHei"/>
              </a:rPr>
              <a:t>教学班录入</a:t>
            </a:r>
          </a:p>
        </p:txBody>
      </p:sp>
      <p:sp>
        <p:nvSpPr>
          <p:cNvPr id="7" name="">
            <a:extLst xmlns:a="http://schemas.openxmlformats.org/drawingml/2006/main">
              <a:ext uri="{FF2B5EF4-FFF2-40B4-BE49-F238E27FC236}">
                <a16:creationId xmlns:a16="http://schemas.microsoft.com/office/drawing/2014/main" id="{DC274BFD-366E-42B8-B665-6646D1948E99}"/>
              </a:ext>
            </a:extLst>
          </p:cNvPr>
          <p:cNvSpPr>
            <a:spLocks xmlns:a="http://schemas.openxmlformats.org/drawingml/2006/main" noGrp="1"/>
          </p:cNvSpPr>
          <p:nvPr/>
        </p:nvSpPr>
        <p:spPr>
          <a:xfrm xmlns:a="http://schemas.openxmlformats.org/drawingml/2006/main">
            <a:off x="10668000" y="1762125"/>
            <a:ext cx="83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226A57"/>
                </a:solidFill>
                <a:latin typeface="Microsoft YaHei"/>
                <a:ea typeface="Microsoft YaHei"/>
                <a:cs typeface="Microsoft YaHei"/>
              </a:defRPr>
            </a:pPr>
            <a:r>
              <a:rPr sz="1500" b="0">
                <a:solidFill>
                  <a:srgbClr val="226A57"/>
                </a:solidFill>
                <a:latin typeface="Microsoft YaHei"/>
                <a:ea typeface="Microsoft YaHei"/>
                <a:cs typeface="Microsoft YaHei"/>
              </a:rPr>
              <a:t>已实现</a:t>
            </a:r>
          </a:p>
        </p:txBody>
      </p:sp>
      <p:sp>
        <p:nvSpPr>
          <p:cNvPr id="8" name="">
            <a:extLst xmlns:a="http://schemas.openxmlformats.org/drawingml/2006/main">
              <a:ext uri="{FF2B5EF4-FFF2-40B4-BE49-F238E27FC236}">
                <a16:creationId xmlns:a16="http://schemas.microsoft.com/office/drawing/2014/main" id="{171E6E5F-3501-4C21-A5F0-94433DE852B2}"/>
              </a:ext>
            </a:extLst>
          </p:cNvPr>
          <p:cNvSpPr>
            <a:spLocks xmlns:a="http://schemas.openxmlformats.org/drawingml/2006/main" noGrp="1"/>
          </p:cNvSpPr>
          <p:nvPr/>
        </p:nvSpPr>
        <p:spPr>
          <a:xfrm xmlns:a="http://schemas.openxmlformats.org/drawingml/2006/main">
            <a:off x="6153150" y="2143125"/>
            <a:ext cx="5353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B6862"/>
                </a:solidFill>
                <a:latin typeface="Microsoft YaHei"/>
                <a:ea typeface="Microsoft YaHei"/>
                <a:cs typeface="Microsoft YaHei"/>
              </a:defRPr>
            </a:pPr>
            <a:r>
              <a:rPr sz="1650" b="0">
                <a:solidFill>
                  <a:srgbClr val="5B6862"/>
                </a:solidFill>
                <a:latin typeface="Microsoft YaHei"/>
                <a:ea typeface="Microsoft YaHei"/>
                <a:cs typeface="Microsoft YaHei"/>
              </a:rPr>
              <a:t>代码、名称、教师、学分及完整上课安排</a:t>
            </a:r>
          </a:p>
        </p:txBody>
      </p:sp>
      <p:sp>
        <p:nvSpPr>
          <p:cNvPr id="9" name="">
            <a:extLst xmlns:a="http://schemas.openxmlformats.org/drawingml/2006/main">
              <a:ext uri="{FF2B5EF4-FFF2-40B4-BE49-F238E27FC236}">
                <a16:creationId xmlns:a16="http://schemas.microsoft.com/office/drawing/2014/main" id="{73B52B11-1393-4455-B589-492DC26C1893}"/>
              </a:ext>
            </a:extLst>
          </p:cNvPr>
          <p:cNvSpPr>
            <a:spLocks xmlns:a="http://schemas.openxmlformats.org/drawingml/2006/main" noGrp="1"/>
          </p:cNvSpPr>
          <p:nvPr/>
        </p:nvSpPr>
        <p:spPr>
          <a:xfrm xmlns:a="http://schemas.openxmlformats.org/drawingml/2006/main">
            <a:off x="6153150" y="2590800"/>
            <a:ext cx="449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D2C27"/>
                </a:solidFill>
                <a:latin typeface="Microsoft YaHei"/>
                <a:ea typeface="Microsoft YaHei"/>
                <a:cs typeface="Microsoft YaHei"/>
              </a:defRPr>
            </a:pPr>
            <a:r>
              <a:rPr sz="2250" b="1">
                <a:solidFill>
                  <a:srgbClr val="1D2C27"/>
                </a:solidFill>
                <a:latin typeface="Microsoft YaHei"/>
                <a:ea typeface="Microsoft YaHei"/>
                <a:cs typeface="Microsoft YaHei"/>
              </a:rPr>
              <a:t>时间位集合</a:t>
            </a:r>
          </a:p>
        </p:txBody>
      </p:sp>
      <p:sp>
        <p:nvSpPr>
          <p:cNvPr id="10" name="">
            <a:extLst xmlns:a="http://schemas.openxmlformats.org/drawingml/2006/main">
              <a:ext uri="{FF2B5EF4-FFF2-40B4-BE49-F238E27FC236}">
                <a16:creationId xmlns:a16="http://schemas.microsoft.com/office/drawing/2014/main" id="{D318A6BF-D6DA-4E75-B74E-8A4CCCE1A6FE}"/>
              </a:ext>
            </a:extLst>
          </p:cNvPr>
          <p:cNvSpPr>
            <a:spLocks xmlns:a="http://schemas.openxmlformats.org/drawingml/2006/main" noGrp="1"/>
          </p:cNvSpPr>
          <p:nvPr/>
        </p:nvSpPr>
        <p:spPr>
          <a:xfrm xmlns:a="http://schemas.openxmlformats.org/drawingml/2006/main">
            <a:off x="10668000" y="2638425"/>
            <a:ext cx="83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226A57"/>
                </a:solidFill>
                <a:latin typeface="Microsoft YaHei"/>
                <a:ea typeface="Microsoft YaHei"/>
                <a:cs typeface="Microsoft YaHei"/>
              </a:defRPr>
            </a:pPr>
            <a:r>
              <a:rPr sz="1500" b="0">
                <a:solidFill>
                  <a:srgbClr val="226A57"/>
                </a:solidFill>
                <a:latin typeface="Microsoft YaHei"/>
                <a:ea typeface="Microsoft YaHei"/>
                <a:cs typeface="Microsoft YaHei"/>
              </a:rPr>
              <a:t>已实现</a:t>
            </a:r>
          </a:p>
        </p:txBody>
      </p:sp>
      <p:sp>
        <p:nvSpPr>
          <p:cNvPr id="11" name="">
            <a:extLst xmlns:a="http://schemas.openxmlformats.org/drawingml/2006/main">
              <a:ext uri="{FF2B5EF4-FFF2-40B4-BE49-F238E27FC236}">
                <a16:creationId xmlns:a16="http://schemas.microsoft.com/office/drawing/2014/main" id="{7750EA0B-FEA6-4A64-9AFD-CB71EA6D6F77}"/>
              </a:ext>
            </a:extLst>
          </p:cNvPr>
          <p:cNvSpPr>
            <a:spLocks xmlns:a="http://schemas.openxmlformats.org/drawingml/2006/main" noGrp="1"/>
          </p:cNvSpPr>
          <p:nvPr/>
        </p:nvSpPr>
        <p:spPr>
          <a:xfrm xmlns:a="http://schemas.openxmlformats.org/drawingml/2006/main">
            <a:off x="6153150" y="3019425"/>
            <a:ext cx="5353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B6862"/>
                </a:solidFill>
                <a:latin typeface="Microsoft YaHei"/>
                <a:ea typeface="Microsoft YaHei"/>
                <a:cs typeface="Microsoft YaHei"/>
              </a:defRPr>
            </a:pPr>
            <a:r>
              <a:rPr sz="1650" b="0">
                <a:solidFill>
                  <a:srgbClr val="5B6862"/>
                </a:solidFill>
                <a:latin typeface="Microsoft YaHei"/>
                <a:ea typeface="Microsoft YaHei"/>
                <a:cs typeface="Microsoft YaHei"/>
              </a:rPr>
              <a:t>同时表示周次、星期和节次</a:t>
            </a:r>
          </a:p>
        </p:txBody>
      </p:sp>
      <p:sp>
        <p:nvSpPr>
          <p:cNvPr id="12" name="">
            <a:extLst xmlns:a="http://schemas.openxmlformats.org/drawingml/2006/main">
              <a:ext uri="{FF2B5EF4-FFF2-40B4-BE49-F238E27FC236}">
                <a16:creationId xmlns:a16="http://schemas.microsoft.com/office/drawing/2014/main" id="{2BDBE0F7-FF34-43C7-B56A-77E1D7FA38F7}"/>
              </a:ext>
            </a:extLst>
          </p:cNvPr>
          <p:cNvSpPr>
            <a:spLocks xmlns:a="http://schemas.openxmlformats.org/drawingml/2006/main" noGrp="1"/>
          </p:cNvSpPr>
          <p:nvPr/>
        </p:nvSpPr>
        <p:spPr>
          <a:xfrm xmlns:a="http://schemas.openxmlformats.org/drawingml/2006/main">
            <a:off x="6153150" y="3467100"/>
            <a:ext cx="449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D2C27"/>
                </a:solidFill>
                <a:latin typeface="Microsoft YaHei"/>
                <a:ea typeface="Microsoft YaHei"/>
                <a:cs typeface="Microsoft YaHei"/>
              </a:defRPr>
            </a:pPr>
            <a:r>
              <a:rPr sz="2250" b="1">
                <a:solidFill>
                  <a:srgbClr val="1D2C27"/>
                </a:solidFill>
                <a:latin typeface="Microsoft YaHei"/>
                <a:ea typeface="Microsoft YaHei"/>
                <a:cs typeface="Microsoft YaHei"/>
              </a:rPr>
              <a:t>教学班冲突判定</a:t>
            </a:r>
          </a:p>
        </p:txBody>
      </p:sp>
      <p:sp>
        <p:nvSpPr>
          <p:cNvPr id="13" name="">
            <a:extLst xmlns:a="http://schemas.openxmlformats.org/drawingml/2006/main">
              <a:ext uri="{FF2B5EF4-FFF2-40B4-BE49-F238E27FC236}">
                <a16:creationId xmlns:a16="http://schemas.microsoft.com/office/drawing/2014/main" id="{BC451894-390A-4F26-A760-440B8189D82E}"/>
              </a:ext>
            </a:extLst>
          </p:cNvPr>
          <p:cNvSpPr>
            <a:spLocks xmlns:a="http://schemas.openxmlformats.org/drawingml/2006/main" noGrp="1"/>
          </p:cNvSpPr>
          <p:nvPr/>
        </p:nvSpPr>
        <p:spPr>
          <a:xfrm xmlns:a="http://schemas.openxmlformats.org/drawingml/2006/main">
            <a:off x="10668000" y="3514725"/>
            <a:ext cx="83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226A57"/>
                </a:solidFill>
                <a:latin typeface="Microsoft YaHei"/>
                <a:ea typeface="Microsoft YaHei"/>
                <a:cs typeface="Microsoft YaHei"/>
              </a:defRPr>
            </a:pPr>
            <a:r>
              <a:rPr sz="1500" b="0">
                <a:solidFill>
                  <a:srgbClr val="226A57"/>
                </a:solidFill>
                <a:latin typeface="Microsoft YaHei"/>
                <a:ea typeface="Microsoft YaHei"/>
                <a:cs typeface="Microsoft YaHei"/>
              </a:rPr>
              <a:t>已实现</a:t>
            </a:r>
          </a:p>
        </p:txBody>
      </p:sp>
      <p:sp>
        <p:nvSpPr>
          <p:cNvPr id="14" name="">
            <a:extLst xmlns:a="http://schemas.openxmlformats.org/drawingml/2006/main">
              <a:ext uri="{FF2B5EF4-FFF2-40B4-BE49-F238E27FC236}">
                <a16:creationId xmlns:a16="http://schemas.microsoft.com/office/drawing/2014/main" id="{C140BC35-96F1-4B92-B6CB-E5E4CF33AD92}"/>
              </a:ext>
            </a:extLst>
          </p:cNvPr>
          <p:cNvSpPr>
            <a:spLocks xmlns:a="http://schemas.openxmlformats.org/drawingml/2006/main" noGrp="1"/>
          </p:cNvSpPr>
          <p:nvPr/>
        </p:nvSpPr>
        <p:spPr>
          <a:xfrm xmlns:a="http://schemas.openxmlformats.org/drawingml/2006/main">
            <a:off x="6153150" y="3895725"/>
            <a:ext cx="5353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B6862"/>
                </a:solidFill>
                <a:latin typeface="Microsoft YaHei"/>
                <a:ea typeface="Microsoft YaHei"/>
                <a:cs typeface="Microsoft YaHei"/>
              </a:defRPr>
            </a:pPr>
            <a:r>
              <a:rPr sz="1650" b="0">
                <a:solidFill>
                  <a:srgbClr val="5B6862"/>
                </a:solidFill>
                <a:latin typeface="Microsoft YaHei"/>
                <a:ea typeface="Microsoft YaHei"/>
                <a:cs typeface="Microsoft YaHei"/>
              </a:rPr>
              <a:t>计算时间交集与同课程互斥</a:t>
            </a:r>
          </a:p>
        </p:txBody>
      </p:sp>
      <p:sp>
        <p:nvSpPr>
          <p:cNvPr id="15" name="">
            <a:extLst xmlns:a="http://schemas.openxmlformats.org/drawingml/2006/main">
              <a:ext uri="{FF2B5EF4-FFF2-40B4-BE49-F238E27FC236}">
                <a16:creationId xmlns:a16="http://schemas.microsoft.com/office/drawing/2014/main" id="{3EA67458-7580-40A3-A6F2-B16B01F5A587}"/>
              </a:ext>
            </a:extLst>
          </p:cNvPr>
          <p:cNvSpPr>
            <a:spLocks xmlns:a="http://schemas.openxmlformats.org/drawingml/2006/main" noGrp="1"/>
          </p:cNvSpPr>
          <p:nvPr/>
        </p:nvSpPr>
        <p:spPr>
          <a:xfrm xmlns:a="http://schemas.openxmlformats.org/drawingml/2006/main">
            <a:off x="6153150" y="4343400"/>
            <a:ext cx="449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D2C27"/>
                </a:solidFill>
                <a:latin typeface="Microsoft YaHei"/>
                <a:ea typeface="Microsoft YaHei"/>
                <a:cs typeface="Microsoft YaHei"/>
              </a:defRPr>
            </a:pPr>
            <a:r>
              <a:rPr sz="2250" b="1">
                <a:solidFill>
                  <a:srgbClr val="1D2C27"/>
                </a:solidFill>
                <a:latin typeface="Microsoft YaHei"/>
                <a:ea typeface="Microsoft YaHei"/>
                <a:cs typeface="Microsoft YaHei"/>
              </a:rPr>
              <a:t>教学班列表展示</a:t>
            </a:r>
          </a:p>
        </p:txBody>
      </p:sp>
      <p:sp>
        <p:nvSpPr>
          <p:cNvPr id="16" name="">
            <a:extLst xmlns:a="http://schemas.openxmlformats.org/drawingml/2006/main">
              <a:ext uri="{FF2B5EF4-FFF2-40B4-BE49-F238E27FC236}">
                <a16:creationId xmlns:a16="http://schemas.microsoft.com/office/drawing/2014/main" id="{593CCE34-3A62-44E4-92C0-26AFB61E55B6}"/>
              </a:ext>
            </a:extLst>
          </p:cNvPr>
          <p:cNvSpPr>
            <a:spLocks xmlns:a="http://schemas.openxmlformats.org/drawingml/2006/main" noGrp="1"/>
          </p:cNvSpPr>
          <p:nvPr/>
        </p:nvSpPr>
        <p:spPr>
          <a:xfrm xmlns:a="http://schemas.openxmlformats.org/drawingml/2006/main">
            <a:off x="10668000" y="4391025"/>
            <a:ext cx="83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226A57"/>
                </a:solidFill>
                <a:latin typeface="Microsoft YaHei"/>
                <a:ea typeface="Microsoft YaHei"/>
                <a:cs typeface="Microsoft YaHei"/>
              </a:defRPr>
            </a:pPr>
            <a:r>
              <a:rPr sz="1500" b="0">
                <a:solidFill>
                  <a:srgbClr val="226A57"/>
                </a:solidFill>
                <a:latin typeface="Microsoft YaHei"/>
                <a:ea typeface="Microsoft YaHei"/>
                <a:cs typeface="Microsoft YaHei"/>
              </a:rPr>
              <a:t>已实现</a:t>
            </a:r>
          </a:p>
        </p:txBody>
      </p:sp>
      <p:sp>
        <p:nvSpPr>
          <p:cNvPr id="17" name="">
            <a:extLst xmlns:a="http://schemas.openxmlformats.org/drawingml/2006/main">
              <a:ext uri="{FF2B5EF4-FFF2-40B4-BE49-F238E27FC236}">
                <a16:creationId xmlns:a16="http://schemas.microsoft.com/office/drawing/2014/main" id="{7593BE17-2C5A-46FE-A4E0-001F8B119090}"/>
              </a:ext>
            </a:extLst>
          </p:cNvPr>
          <p:cNvSpPr>
            <a:spLocks xmlns:a="http://schemas.openxmlformats.org/drawingml/2006/main" noGrp="1"/>
          </p:cNvSpPr>
          <p:nvPr/>
        </p:nvSpPr>
        <p:spPr>
          <a:xfrm xmlns:a="http://schemas.openxmlformats.org/drawingml/2006/main">
            <a:off x="6153150" y="4772025"/>
            <a:ext cx="5353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B6862"/>
                </a:solidFill>
                <a:latin typeface="Microsoft YaHei"/>
                <a:ea typeface="Microsoft YaHei"/>
                <a:cs typeface="Microsoft YaHei"/>
              </a:defRPr>
            </a:pPr>
            <a:r>
              <a:rPr sz="1650" b="0">
                <a:solidFill>
                  <a:srgbClr val="5B6862"/>
                </a:solidFill>
                <a:latin typeface="Microsoft YaHei"/>
                <a:ea typeface="Microsoft YaHei"/>
                <a:cs typeface="Microsoft YaHei"/>
              </a:rPr>
              <a:t>查看、筛选及编辑教学班</a:t>
            </a:r>
          </a:p>
        </p:txBody>
      </p:sp>
      <p:sp>
        <p:nvSpPr>
          <p:cNvPr id="18" name="">
            <a:extLst xmlns:a="http://schemas.openxmlformats.org/drawingml/2006/main">
              <a:ext uri="{FF2B5EF4-FFF2-40B4-BE49-F238E27FC236}">
                <a16:creationId xmlns:a16="http://schemas.microsoft.com/office/drawing/2014/main" id="{A0DFD81C-E380-4481-80C3-F3C40068BB01}"/>
              </a:ext>
            </a:extLst>
          </p:cNvPr>
          <p:cNvSpPr>
            <a:spLocks xmlns:a="http://schemas.openxmlformats.org/drawingml/2006/main" noGrp="1"/>
          </p:cNvSpPr>
          <p:nvPr/>
        </p:nvSpPr>
        <p:spPr>
          <a:xfrm xmlns:a="http://schemas.openxmlformats.org/drawingml/2006/main">
            <a:off x="6153150" y="5219700"/>
            <a:ext cx="449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D2C27"/>
                </a:solidFill>
                <a:latin typeface="Microsoft YaHei"/>
                <a:ea typeface="Microsoft YaHei"/>
                <a:cs typeface="Microsoft YaHei"/>
              </a:defRPr>
            </a:pPr>
            <a:r>
              <a:rPr sz="2250" b="1">
                <a:solidFill>
                  <a:srgbClr val="1D2C27"/>
                </a:solidFill>
                <a:latin typeface="Microsoft YaHei"/>
                <a:ea typeface="Microsoft YaHei"/>
                <a:cs typeface="Microsoft YaHei"/>
              </a:rPr>
              <a:t>初步冲突信息展示</a:t>
            </a:r>
          </a:p>
        </p:txBody>
      </p:sp>
      <p:sp>
        <p:nvSpPr>
          <p:cNvPr id="19" name="">
            <a:extLst xmlns:a="http://schemas.openxmlformats.org/drawingml/2006/main">
              <a:ext uri="{FF2B5EF4-FFF2-40B4-BE49-F238E27FC236}">
                <a16:creationId xmlns:a16="http://schemas.microsoft.com/office/drawing/2014/main" id="{1B96A01D-FBFA-4DE4-B084-A8C3541C0272}"/>
              </a:ext>
            </a:extLst>
          </p:cNvPr>
          <p:cNvSpPr>
            <a:spLocks xmlns:a="http://schemas.openxmlformats.org/drawingml/2006/main" noGrp="1"/>
          </p:cNvSpPr>
          <p:nvPr/>
        </p:nvSpPr>
        <p:spPr>
          <a:xfrm xmlns:a="http://schemas.openxmlformats.org/drawingml/2006/main">
            <a:off x="10668000" y="5267325"/>
            <a:ext cx="83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226A57"/>
                </a:solidFill>
                <a:latin typeface="Microsoft YaHei"/>
                <a:ea typeface="Microsoft YaHei"/>
                <a:cs typeface="Microsoft YaHei"/>
              </a:defRPr>
            </a:pPr>
            <a:r>
              <a:rPr sz="1500" b="0">
                <a:solidFill>
                  <a:srgbClr val="226A57"/>
                </a:solidFill>
                <a:latin typeface="Microsoft YaHei"/>
                <a:ea typeface="Microsoft YaHei"/>
                <a:cs typeface="Microsoft YaHei"/>
              </a:rPr>
              <a:t>已实现</a:t>
            </a:r>
          </a:p>
        </p:txBody>
      </p:sp>
      <p:sp>
        <p:nvSpPr>
          <p:cNvPr id="20" name="">
            <a:extLst xmlns:a="http://schemas.openxmlformats.org/drawingml/2006/main">
              <a:ext uri="{FF2B5EF4-FFF2-40B4-BE49-F238E27FC236}">
                <a16:creationId xmlns:a16="http://schemas.microsoft.com/office/drawing/2014/main" id="{8942459F-5E38-41E2-9C7F-955D5E79AB52}"/>
              </a:ext>
            </a:extLst>
          </p:cNvPr>
          <p:cNvSpPr>
            <a:spLocks xmlns:a="http://schemas.openxmlformats.org/drawingml/2006/main" noGrp="1"/>
          </p:cNvSpPr>
          <p:nvPr/>
        </p:nvSpPr>
        <p:spPr>
          <a:xfrm xmlns:a="http://schemas.openxmlformats.org/drawingml/2006/main">
            <a:off x="6153150" y="5648325"/>
            <a:ext cx="5353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B6862"/>
                </a:solidFill>
                <a:latin typeface="Microsoft YaHei"/>
                <a:ea typeface="Microsoft YaHei"/>
                <a:cs typeface="Microsoft YaHei"/>
              </a:defRPr>
            </a:pPr>
            <a:r>
              <a:rPr sz="1650" b="0">
                <a:solidFill>
                  <a:srgbClr val="5B6862"/>
                </a:solidFill>
                <a:latin typeface="Microsoft YaHei"/>
                <a:ea typeface="Microsoft YaHei"/>
                <a:cs typeface="Microsoft YaHei"/>
              </a:rPr>
              <a:t>显示冲突对象和具体重叠时间</a:t>
            </a:r>
          </a:p>
        </p:txBody>
      </p:sp>
    </p:spTree>
    <p:extLst>
      <p:ext uri="{BB962C8B-B14F-4D97-AF65-F5344CB8AC3E}">
        <p14:creationId xmlns:p14="http://schemas.microsoft.com/office/powerpoint/2010/main" val="2071573758"/>
      </p:ext>
    </p:extLst>
  </p:cSld>
</p:sld>
</file>

<file path=ppt/slides/slide3.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2FE78A4-57C5-425B-8CDE-1D68579B0F12}"/>
              </a:ext>
            </a:extLst>
          </p:cNvPr>
          <p:cNvSpPr>
            <a:spLocks xmlns:a="http://schemas.openxmlformats.org/drawingml/2006/main" noGrp="1"/>
          </p:cNvSpPr>
          <p:nvPr/>
        </p:nvSpPr>
        <p:spPr>
          <a:xfrm xmlns:a="http://schemas.openxmlformats.org/drawingml/2006/main">
            <a:off x="685800" y="438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D2C27"/>
                </a:solidFill>
                <a:latin typeface="Microsoft YaHei"/>
                <a:ea typeface="Microsoft YaHei"/>
                <a:cs typeface="Microsoft YaHei"/>
              </a:defRPr>
            </a:pPr>
            <a:r>
              <a:rPr sz="3300" b="1">
                <a:solidFill>
                  <a:srgbClr val="1D2C27"/>
                </a:solidFill>
                <a:latin typeface="Microsoft YaHei"/>
                <a:ea typeface="Microsoft YaHei"/>
                <a:cs typeface="Microsoft YaHei"/>
              </a:rPr>
              <a:t>模块架构</a:t>
            </a:r>
          </a:p>
        </p:txBody>
      </p:sp>
      <p:sp>
        <p:nvSpPr>
          <p:cNvPr id="2" name="">
            <a:extLst xmlns:a="http://schemas.openxmlformats.org/drawingml/2006/main">
              <a:ext uri="{FF2B5EF4-FFF2-40B4-BE49-F238E27FC236}">
                <a16:creationId xmlns:a16="http://schemas.microsoft.com/office/drawing/2014/main" id="{6BB969F9-B81A-4017-913B-4EEE3AD68D99}"/>
              </a:ext>
            </a:extLst>
          </p:cNvPr>
          <p:cNvSpPr>
            <a:spLocks xmlns:a="http://schemas.openxmlformats.org/drawingml/2006/main" noGrp="1"/>
          </p:cNvSpPr>
          <p:nvPr/>
        </p:nvSpPr>
        <p:spPr>
          <a:xfrm xmlns:a="http://schemas.openxmlformats.org/drawingml/2006/main">
            <a:off x="11163300" y="64770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B6862"/>
                </a:solidFill>
                <a:latin typeface="Microsoft YaHei"/>
                <a:ea typeface="Microsoft YaHei"/>
                <a:cs typeface="Microsoft YaHei"/>
              </a:defRPr>
            </a:pPr>
            <a:r>
              <a:rPr sz="1200" b="0">
                <a:solidFill>
                  <a:srgbClr val="5B6862"/>
                </a:solidFill>
                <a:latin typeface="Microsoft YaHei"/>
                <a:ea typeface="Microsoft YaHei"/>
                <a:cs typeface="Microsoft YaHei"/>
              </a:rPr>
              <a:t>03</a:t>
            </a:r>
          </a:p>
        </p:txBody>
      </p:sp>
      <p:sp>
        <p:nvSpPr>
          <p:cNvPr id="3" name="">
            <a:extLst xmlns:a="http://schemas.openxmlformats.org/drawingml/2006/main">
              <a:ext uri="{FF2B5EF4-FFF2-40B4-BE49-F238E27FC236}">
                <a16:creationId xmlns:a16="http://schemas.microsoft.com/office/drawing/2014/main" id="{0EAA3C66-7482-4159-94D5-1EDF09A04C2D}"/>
              </a:ext>
            </a:extLst>
          </p:cNvPr>
          <p:cNvSpPr>
            <a:spLocks xmlns:a="http://schemas.openxmlformats.org/drawingml/2006/main" noGrp="1"/>
          </p:cNvSpPr>
          <p:nvPr/>
        </p:nvSpPr>
        <p:spPr>
          <a:xfrm xmlns:a="http://schemas.openxmlformats.org/drawingml/2006/main">
            <a:off x="685800" y="132397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B6862"/>
                </a:solidFill>
                <a:latin typeface="Microsoft YaHei"/>
                <a:ea typeface="Microsoft YaHei"/>
                <a:cs typeface="Microsoft YaHei"/>
              </a:defRPr>
            </a:pPr>
            <a:r>
              <a:rPr sz="2025" b="0">
                <a:solidFill>
                  <a:srgbClr val="5B6862"/>
                </a:solidFill>
                <a:latin typeface="Microsoft YaHei"/>
                <a:ea typeface="Microsoft YaHei"/>
                <a:cs typeface="Microsoft YaHei"/>
              </a:rPr>
              <a:t>C++17 / Qt 6 Widgets / CMake</a:t>
            </a:r>
          </a:p>
        </p:txBody>
      </p:sp>
      <p:sp>
        <p:nvSpPr>
          <p:cNvPr id="4" name="">
            <a:extLst xmlns:a="http://schemas.openxmlformats.org/drawingml/2006/main">
              <a:ext uri="{FF2B5EF4-FFF2-40B4-BE49-F238E27FC236}">
                <a16:creationId xmlns:a16="http://schemas.microsoft.com/office/drawing/2014/main" id="{F10277D3-7E53-4B9D-8135-CC1A1B48B18C}"/>
              </a:ext>
            </a:extLst>
          </p:cNvPr>
          <p:cNvSpPr>
            <a:spLocks xmlns:a="http://schemas.openxmlformats.org/drawingml/2006/main" noGrp="1"/>
          </p:cNvSpPr>
          <p:nvPr/>
        </p:nvSpPr>
        <p:spPr>
          <a:xfrm xmlns:a="http://schemas.openxmlformats.org/drawingml/2006/main">
            <a:off x="685800" y="2266950"/>
            <a:ext cx="2990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D2C27"/>
                </a:solidFill>
                <a:latin typeface="Microsoft YaHei"/>
                <a:ea typeface="Microsoft YaHei"/>
                <a:cs typeface="Microsoft YaHei"/>
              </a:defRPr>
            </a:pPr>
            <a:r>
              <a:rPr sz="2700" b="1">
                <a:solidFill>
                  <a:srgbClr val="1D2C27"/>
                </a:solidFill>
                <a:latin typeface="Microsoft YaHei"/>
                <a:ea typeface="Microsoft YaHei"/>
                <a:cs typeface="Microsoft YaHei"/>
              </a:rPr>
              <a:t>Qt 界面</a:t>
            </a:r>
          </a:p>
        </p:txBody>
      </p:sp>
      <p:sp>
        <p:nvSpPr>
          <p:cNvPr id="5" name="">
            <a:extLst xmlns:a="http://schemas.openxmlformats.org/drawingml/2006/main">
              <a:ext uri="{FF2B5EF4-FFF2-40B4-BE49-F238E27FC236}">
                <a16:creationId xmlns:a16="http://schemas.microsoft.com/office/drawing/2014/main" id="{0A67EAD9-F6E6-4655-9261-B55384F036BA}"/>
              </a:ext>
            </a:extLst>
          </p:cNvPr>
          <p:cNvSpPr>
            <a:spLocks xmlns:a="http://schemas.openxmlformats.org/drawingml/2006/main" noGrp="1"/>
          </p:cNvSpPr>
          <p:nvPr/>
        </p:nvSpPr>
        <p:spPr>
          <a:xfrm xmlns:a="http://schemas.openxmlformats.org/drawingml/2006/main">
            <a:off x="685800" y="3000375"/>
            <a:ext cx="31813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教学班编辑与约束设置</a:t>
            </a:r>
          </a:p>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按周课表及候选方案</a:t>
            </a:r>
          </a:p>
        </p:txBody>
      </p:sp>
      <p:sp>
        <p:nvSpPr>
          <p:cNvPr id="6" name="">
            <a:extLst xmlns:a="http://schemas.openxmlformats.org/drawingml/2006/main">
              <a:ext uri="{FF2B5EF4-FFF2-40B4-BE49-F238E27FC236}">
                <a16:creationId xmlns:a16="http://schemas.microsoft.com/office/drawing/2014/main" id="{4F646E96-0D7C-4DD6-A9A5-11AB6B5EF9C5}"/>
              </a:ext>
            </a:extLst>
          </p:cNvPr>
          <p:cNvSpPr>
            <a:spLocks xmlns:a="http://schemas.openxmlformats.org/drawingml/2006/main" noGrp="1"/>
          </p:cNvSpPr>
          <p:nvPr/>
        </p:nvSpPr>
        <p:spPr>
          <a:xfrm xmlns:a="http://schemas.openxmlformats.org/drawingml/2006/main">
            <a:off x="3943350" y="24098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0">
                <a:solidFill>
                  <a:srgbClr val="226A57"/>
                </a:solidFill>
                <a:latin typeface="Microsoft YaHei"/>
                <a:ea typeface="Microsoft YaHei"/>
                <a:cs typeface="Microsoft YaHei"/>
              </a:defRPr>
            </a:pPr>
            <a:r>
              <a:rPr sz="3000" b="0">
                <a:solidFill>
                  <a:srgbClr val="226A57"/>
                </a:solidFill>
                <a:latin typeface="Microsoft YaHei"/>
                <a:ea typeface="Microsoft YaHei"/>
                <a:cs typeface="Microsoft YaHei"/>
              </a:rPr>
              <a:t>→</a:t>
            </a:r>
          </a:p>
        </p:txBody>
      </p:sp>
      <p:sp>
        <p:nvSpPr>
          <p:cNvPr id="7" name="">
            <a:extLst xmlns:a="http://schemas.openxmlformats.org/drawingml/2006/main">
              <a:ext uri="{FF2B5EF4-FFF2-40B4-BE49-F238E27FC236}">
                <a16:creationId xmlns:a16="http://schemas.microsoft.com/office/drawing/2014/main" id="{2D09DD3A-9034-4908-A5E4-723246C28471}"/>
              </a:ext>
            </a:extLst>
          </p:cNvPr>
          <p:cNvSpPr>
            <a:spLocks xmlns:a="http://schemas.openxmlformats.org/drawingml/2006/main" noGrp="1"/>
          </p:cNvSpPr>
          <p:nvPr/>
        </p:nvSpPr>
        <p:spPr>
          <a:xfrm xmlns:a="http://schemas.openxmlformats.org/drawingml/2006/main">
            <a:off x="4933950" y="226695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26A57"/>
                </a:solidFill>
                <a:latin typeface="Microsoft YaHei"/>
                <a:ea typeface="Microsoft YaHei"/>
                <a:cs typeface="Microsoft YaHei"/>
              </a:defRPr>
            </a:pPr>
            <a:r>
              <a:rPr sz="2700" b="1">
                <a:solidFill>
                  <a:srgbClr val="226A57"/>
                </a:solidFill>
                <a:latin typeface="Microsoft YaHei"/>
                <a:ea typeface="Microsoft YaHei"/>
                <a:cs typeface="Microsoft YaHei"/>
              </a:rPr>
              <a:t>控制器</a:t>
            </a:r>
          </a:p>
        </p:txBody>
      </p:sp>
      <p:sp>
        <p:nvSpPr>
          <p:cNvPr id="8" name="">
            <a:extLst xmlns:a="http://schemas.openxmlformats.org/drawingml/2006/main">
              <a:ext uri="{FF2B5EF4-FFF2-40B4-BE49-F238E27FC236}">
                <a16:creationId xmlns:a16="http://schemas.microsoft.com/office/drawing/2014/main" id="{F7C57699-7070-4B00-9381-4D1D69C07CFE}"/>
              </a:ext>
            </a:extLst>
          </p:cNvPr>
          <p:cNvSpPr>
            <a:spLocks xmlns:a="http://schemas.openxmlformats.org/drawingml/2006/main" noGrp="1"/>
          </p:cNvSpPr>
          <p:nvPr/>
        </p:nvSpPr>
        <p:spPr>
          <a:xfrm xmlns:a="http://schemas.openxmlformats.org/drawingml/2006/main">
            <a:off x="4933950" y="3000375"/>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管理项目状态与调用</a:t>
            </a:r>
          </a:p>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快照、取消与结果更新</a:t>
            </a:r>
          </a:p>
        </p:txBody>
      </p:sp>
      <p:sp>
        <p:nvSpPr>
          <p:cNvPr id="9" name="">
            <a:extLst xmlns:a="http://schemas.openxmlformats.org/drawingml/2006/main">
              <a:ext uri="{FF2B5EF4-FFF2-40B4-BE49-F238E27FC236}">
                <a16:creationId xmlns:a16="http://schemas.microsoft.com/office/drawing/2014/main" id="{A226AD1E-E5AB-4581-AF61-43FEF3DC64CB}"/>
              </a:ext>
            </a:extLst>
          </p:cNvPr>
          <p:cNvSpPr>
            <a:spLocks xmlns:a="http://schemas.openxmlformats.org/drawingml/2006/main" noGrp="1"/>
          </p:cNvSpPr>
          <p:nvPr/>
        </p:nvSpPr>
        <p:spPr>
          <a:xfrm xmlns:a="http://schemas.openxmlformats.org/drawingml/2006/main">
            <a:off x="8096250" y="24098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0">
                <a:solidFill>
                  <a:srgbClr val="226A57"/>
                </a:solidFill>
                <a:latin typeface="Microsoft YaHei"/>
                <a:ea typeface="Microsoft YaHei"/>
                <a:cs typeface="Microsoft YaHei"/>
              </a:defRPr>
            </a:pPr>
            <a:r>
              <a:rPr sz="3000" b="0">
                <a:solidFill>
                  <a:srgbClr val="226A57"/>
                </a:solidFill>
                <a:latin typeface="Microsoft YaHei"/>
                <a:ea typeface="Microsoft YaHei"/>
                <a:cs typeface="Microsoft YaHei"/>
              </a:rPr>
              <a:t>→</a:t>
            </a:r>
          </a:p>
        </p:txBody>
      </p:sp>
      <p:sp>
        <p:nvSpPr>
          <p:cNvPr id="10" name="">
            <a:extLst xmlns:a="http://schemas.openxmlformats.org/drawingml/2006/main">
              <a:ext uri="{FF2B5EF4-FFF2-40B4-BE49-F238E27FC236}">
                <a16:creationId xmlns:a16="http://schemas.microsoft.com/office/drawing/2014/main" id="{7623E161-AECE-4533-8D14-5A5B58A52811}"/>
              </a:ext>
            </a:extLst>
          </p:cNvPr>
          <p:cNvSpPr>
            <a:spLocks xmlns:a="http://schemas.openxmlformats.org/drawingml/2006/main" noGrp="1"/>
          </p:cNvSpPr>
          <p:nvPr/>
        </p:nvSpPr>
        <p:spPr>
          <a:xfrm xmlns:a="http://schemas.openxmlformats.org/drawingml/2006/main">
            <a:off x="9010650" y="2266950"/>
            <a:ext cx="2533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D2C27"/>
                </a:solidFill>
                <a:latin typeface="Microsoft YaHei"/>
                <a:ea typeface="Microsoft YaHei"/>
                <a:cs typeface="Microsoft YaHei"/>
              </a:defRPr>
            </a:pPr>
            <a:r>
              <a:rPr sz="2700" b="1">
                <a:solidFill>
                  <a:srgbClr val="1D2C27"/>
                </a:solidFill>
                <a:latin typeface="Microsoft YaHei"/>
                <a:ea typeface="Microsoft YaHei"/>
                <a:cs typeface="Microsoft YaHei"/>
              </a:rPr>
              <a:t>算法核心</a:t>
            </a:r>
          </a:p>
        </p:txBody>
      </p:sp>
      <p:sp>
        <p:nvSpPr>
          <p:cNvPr id="11" name="">
            <a:extLst xmlns:a="http://schemas.openxmlformats.org/drawingml/2006/main">
              <a:ext uri="{FF2B5EF4-FFF2-40B4-BE49-F238E27FC236}">
                <a16:creationId xmlns:a16="http://schemas.microsoft.com/office/drawing/2014/main" id="{08E97BBC-0CF0-4DB6-869B-EC629E8958F6}"/>
              </a:ext>
            </a:extLst>
          </p:cNvPr>
          <p:cNvSpPr>
            <a:spLocks xmlns:a="http://schemas.openxmlformats.org/drawingml/2006/main" noGrp="1"/>
          </p:cNvSpPr>
          <p:nvPr/>
        </p:nvSpPr>
        <p:spPr>
          <a:xfrm xmlns:a="http://schemas.openxmlformats.org/drawingml/2006/main">
            <a:off x="9010650" y="3000375"/>
            <a:ext cx="257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时间集合与冲突图</a:t>
            </a:r>
          </a:p>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约束搜索与结果验证</a:t>
            </a:r>
          </a:p>
        </p:txBody>
      </p:sp>
      <p:sp>
        <p:nvSpPr>
          <p:cNvPr id="12" name="">
            <a:extLst xmlns:a="http://schemas.openxmlformats.org/drawingml/2006/main">
              <a:ext uri="{FF2B5EF4-FFF2-40B4-BE49-F238E27FC236}">
                <a16:creationId xmlns:a16="http://schemas.microsoft.com/office/drawing/2014/main" id="{4E704D64-A5BC-4F60-8B40-ADBDE554BAB1}"/>
              </a:ext>
            </a:extLst>
          </p:cNvPr>
          <p:cNvSpPr>
            <a:spLocks xmlns:a="http://schemas.openxmlformats.org/drawingml/2006/main" noGrp="1"/>
          </p:cNvSpPr>
          <p:nvPr/>
        </p:nvSpPr>
        <p:spPr>
          <a:xfrm xmlns:a="http://schemas.openxmlformats.org/drawingml/2006/main">
            <a:off x="685800" y="466725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D2C27"/>
                </a:solidFill>
                <a:latin typeface="Microsoft YaHei"/>
                <a:ea typeface="Microsoft YaHei"/>
                <a:cs typeface="Microsoft YaHei"/>
              </a:defRPr>
            </a:pPr>
            <a:r>
              <a:rPr sz="2175" b="1">
                <a:solidFill>
                  <a:srgbClr val="1D2C27"/>
                </a:solidFill>
                <a:latin typeface="Microsoft YaHei"/>
                <a:ea typeface="Microsoft YaHei"/>
                <a:cs typeface="Microsoft YaHei"/>
              </a:rPr>
              <a:t>文件读写</a:t>
            </a:r>
          </a:p>
        </p:txBody>
      </p:sp>
      <p:sp>
        <p:nvSpPr>
          <p:cNvPr id="13" name="">
            <a:extLst xmlns:a="http://schemas.openxmlformats.org/drawingml/2006/main">
              <a:ext uri="{FF2B5EF4-FFF2-40B4-BE49-F238E27FC236}">
                <a16:creationId xmlns:a16="http://schemas.microsoft.com/office/drawing/2014/main" id="{BF032C84-55BB-4A3E-BA05-32F59EB1C852}"/>
              </a:ext>
            </a:extLst>
          </p:cNvPr>
          <p:cNvSpPr>
            <a:spLocks xmlns:a="http://schemas.openxmlformats.org/drawingml/2006/main" noGrp="1"/>
          </p:cNvSpPr>
          <p:nvPr/>
        </p:nvSpPr>
        <p:spPr>
          <a:xfrm xmlns:a="http://schemas.openxmlformats.org/drawingml/2006/main">
            <a:off x="685800" y="52006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B6862"/>
                </a:solidFill>
                <a:latin typeface="Microsoft YaHei"/>
                <a:ea typeface="Microsoft YaHei"/>
                <a:cs typeface="Microsoft YaHei"/>
              </a:defRPr>
            </a:pPr>
            <a:r>
              <a:rPr sz="1875" b="0">
                <a:solidFill>
                  <a:srgbClr val="5B6862"/>
                </a:solidFill>
                <a:latin typeface="Microsoft YaHei"/>
                <a:ea typeface="Microsoft YaHei"/>
                <a:cs typeface="Microsoft YaHei"/>
              </a:rPr>
              <a:t>CSV 导入，JSON 项目保存与恢复</a:t>
            </a:r>
          </a:p>
        </p:txBody>
      </p:sp>
      <p:sp>
        <p:nvSpPr>
          <p:cNvPr id="14" name="">
            <a:extLst xmlns:a="http://schemas.openxmlformats.org/drawingml/2006/main">
              <a:ext uri="{FF2B5EF4-FFF2-40B4-BE49-F238E27FC236}">
                <a16:creationId xmlns:a16="http://schemas.microsoft.com/office/drawing/2014/main" id="{24433E44-D9C8-407B-ABE7-343267DB47C9}"/>
              </a:ext>
            </a:extLst>
          </p:cNvPr>
          <p:cNvSpPr>
            <a:spLocks xmlns:a="http://schemas.openxmlformats.org/drawingml/2006/main" noGrp="1"/>
          </p:cNvSpPr>
          <p:nvPr/>
        </p:nvSpPr>
        <p:spPr>
          <a:xfrm xmlns:a="http://schemas.openxmlformats.org/drawingml/2006/main">
            <a:off x="6610350" y="4667250"/>
            <a:ext cx="4895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D2C27"/>
                </a:solidFill>
                <a:latin typeface="Microsoft YaHei"/>
                <a:ea typeface="Microsoft YaHei"/>
                <a:cs typeface="Microsoft YaHei"/>
              </a:defRPr>
            </a:pPr>
            <a:r>
              <a:rPr sz="2175" b="1">
                <a:solidFill>
                  <a:srgbClr val="1D2C27"/>
                </a:solidFill>
                <a:latin typeface="Microsoft YaHei"/>
                <a:ea typeface="Microsoft YaHei"/>
                <a:cs typeface="Microsoft YaHei"/>
              </a:rPr>
              <a:t>程序入口与数据工具</a:t>
            </a:r>
          </a:p>
        </p:txBody>
      </p:sp>
      <p:sp>
        <p:nvSpPr>
          <p:cNvPr id="15" name="">
            <a:extLst xmlns:a="http://schemas.openxmlformats.org/drawingml/2006/main">
              <a:ext uri="{FF2B5EF4-FFF2-40B4-BE49-F238E27FC236}">
                <a16:creationId xmlns:a16="http://schemas.microsoft.com/office/drawing/2014/main" id="{731CA7EA-31B7-4DE5-AA55-119608C85D33}"/>
              </a:ext>
            </a:extLst>
          </p:cNvPr>
          <p:cNvSpPr>
            <a:spLocks xmlns:a="http://schemas.openxmlformats.org/drawingml/2006/main" noGrp="1"/>
          </p:cNvSpPr>
          <p:nvPr/>
        </p:nvSpPr>
        <p:spPr>
          <a:xfrm xmlns:a="http://schemas.openxmlformats.org/drawingml/2006/main">
            <a:off x="6610350" y="5200650"/>
            <a:ext cx="4895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B6862"/>
                </a:solidFill>
                <a:latin typeface="Microsoft YaHei"/>
                <a:ea typeface="Microsoft YaHei"/>
                <a:cs typeface="Microsoft YaHei"/>
              </a:defRPr>
            </a:pPr>
            <a:r>
              <a:rPr sz="1875" b="0">
                <a:solidFill>
                  <a:srgbClr val="5B6862"/>
                </a:solidFill>
                <a:latin typeface="Microsoft YaHei"/>
                <a:ea typeface="Microsoft YaHei"/>
                <a:cs typeface="Microsoft YaHei"/>
              </a:rPr>
              <a:t>GUI 启动，算法性能对照</a:t>
            </a:r>
          </a:p>
        </p:txBody>
      </p:sp>
      <p:sp>
        <p:nvSpPr>
          <p:cNvPr id="16" name="">
            <a:extLst xmlns:a="http://schemas.openxmlformats.org/drawingml/2006/main">
              <a:ext uri="{FF2B5EF4-FFF2-40B4-BE49-F238E27FC236}">
                <a16:creationId xmlns:a16="http://schemas.microsoft.com/office/drawing/2014/main" id="{D15FE112-13D2-47BF-B381-E0C5715481D2}"/>
              </a:ext>
            </a:extLst>
          </p:cNvPr>
          <p:cNvSpPr>
            <a:spLocks xmlns:a="http://schemas.openxmlformats.org/drawingml/2006/main" noGrp="1"/>
          </p:cNvSpPr>
          <p:nvPr/>
        </p:nvSpPr>
        <p:spPr>
          <a:xfrm xmlns:a="http://schemas.openxmlformats.org/drawingml/2006/main">
            <a:off x="685800" y="59912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26A57"/>
                </a:solidFill>
                <a:latin typeface="Microsoft YaHei"/>
                <a:ea typeface="Microsoft YaHei"/>
                <a:cs typeface="Microsoft YaHei"/>
              </a:defRPr>
            </a:pPr>
            <a:r>
              <a:rPr sz="1875" b="0">
                <a:solidFill>
                  <a:srgbClr val="226A57"/>
                </a:solidFill>
                <a:latin typeface="Microsoft YaHei"/>
                <a:ea typeface="Microsoft YaHei"/>
                <a:cs typeface="Microsoft YaHei"/>
              </a:rPr>
              <a:t>核心层不依赖 Qt Widgets；后台搜索读取项目快照</a:t>
            </a:r>
          </a:p>
        </p:txBody>
      </p:sp>
    </p:spTree>
    <p:extLst>
      <p:ext uri="{BB962C8B-B14F-4D97-AF65-F5344CB8AC3E}">
        <p14:creationId xmlns:p14="http://schemas.microsoft.com/office/powerpoint/2010/main" val="784899943"/>
      </p:ext>
    </p:extLst>
  </p:cSld>
</p:sld>
</file>

<file path=ppt/slides/slide4.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7121E30-22FE-4ED0-96AD-1430F804EE65}"/>
              </a:ext>
            </a:extLst>
          </p:cNvPr>
          <p:cNvSpPr>
            <a:spLocks xmlns:a="http://schemas.openxmlformats.org/drawingml/2006/main" noGrp="1"/>
          </p:cNvSpPr>
          <p:nvPr/>
        </p:nvSpPr>
        <p:spPr>
          <a:xfrm xmlns:a="http://schemas.openxmlformats.org/drawingml/2006/main">
            <a:off x="685800" y="438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D2C27"/>
                </a:solidFill>
                <a:latin typeface="Microsoft YaHei"/>
                <a:ea typeface="Microsoft YaHei"/>
                <a:cs typeface="Microsoft YaHei"/>
              </a:defRPr>
            </a:pPr>
            <a:r>
              <a:rPr sz="3300" b="1">
                <a:solidFill>
                  <a:srgbClr val="1D2C27"/>
                </a:solidFill>
                <a:latin typeface="Microsoft YaHei"/>
                <a:ea typeface="Microsoft YaHei"/>
                <a:cs typeface="Microsoft YaHei"/>
              </a:rPr>
              <a:t>教学班与上课安排</a:t>
            </a:r>
          </a:p>
        </p:txBody>
      </p:sp>
      <p:sp>
        <p:nvSpPr>
          <p:cNvPr id="2" name="">
            <a:extLst xmlns:a="http://schemas.openxmlformats.org/drawingml/2006/main">
              <a:ext uri="{FF2B5EF4-FFF2-40B4-BE49-F238E27FC236}">
                <a16:creationId xmlns:a16="http://schemas.microsoft.com/office/drawing/2014/main" id="{5FA2DFB8-89F9-48EB-AD16-47C4E9A3BCAB}"/>
              </a:ext>
            </a:extLst>
          </p:cNvPr>
          <p:cNvSpPr>
            <a:spLocks xmlns:a="http://schemas.openxmlformats.org/drawingml/2006/main" noGrp="1"/>
          </p:cNvSpPr>
          <p:nvPr/>
        </p:nvSpPr>
        <p:spPr>
          <a:xfrm xmlns:a="http://schemas.openxmlformats.org/drawingml/2006/main">
            <a:off x="11163300" y="64770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B6862"/>
                </a:solidFill>
                <a:latin typeface="Microsoft YaHei"/>
                <a:ea typeface="Microsoft YaHei"/>
                <a:cs typeface="Microsoft YaHei"/>
              </a:defRPr>
            </a:pPr>
            <a:r>
              <a:rPr sz="1200" b="0">
                <a:solidFill>
                  <a:srgbClr val="5B6862"/>
                </a:solidFill>
                <a:latin typeface="Microsoft YaHei"/>
                <a:ea typeface="Microsoft YaHei"/>
                <a:cs typeface="Microsoft YaHei"/>
              </a:rPr>
              <a:t>04</a:t>
            </a:r>
          </a:p>
        </p:txBody>
      </p:sp>
      <p:sp>
        <p:nvSpPr>
          <p:cNvPr id="3" name="">
            <a:extLst xmlns:a="http://schemas.openxmlformats.org/drawingml/2006/main">
              <a:ext uri="{FF2B5EF4-FFF2-40B4-BE49-F238E27FC236}">
                <a16:creationId xmlns:a16="http://schemas.microsoft.com/office/drawing/2014/main" id="{89004DD2-4A02-4ED7-B432-D15D6A78C857}"/>
              </a:ext>
            </a:extLst>
          </p:cNvPr>
          <p:cNvSpPr>
            <a:spLocks xmlns:a="http://schemas.openxmlformats.org/drawingml/2006/main" noGrp="1"/>
          </p:cNvSpPr>
          <p:nvPr/>
        </p:nvSpPr>
        <p:spPr>
          <a:xfrm xmlns:a="http://schemas.openxmlformats.org/drawingml/2006/main">
            <a:off x="685800" y="172402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226A57"/>
                </a:solidFill>
                <a:latin typeface="Microsoft YaHei"/>
                <a:ea typeface="Microsoft YaHei"/>
                <a:cs typeface="Microsoft YaHei"/>
              </a:defRPr>
            </a:pPr>
            <a:r>
              <a:rPr sz="3225" b="1">
                <a:solidFill>
                  <a:srgbClr val="226A57"/>
                </a:solidFill>
                <a:latin typeface="Microsoft YaHei"/>
                <a:ea typeface="Microsoft YaHei"/>
                <a:cs typeface="Microsoft YaHei"/>
              </a:rPr>
              <a:t>TeachingClass</a:t>
            </a:r>
          </a:p>
        </p:txBody>
      </p:sp>
      <p:sp>
        <p:nvSpPr>
          <p:cNvPr id="4" name="">
            <a:extLst xmlns:a="http://schemas.openxmlformats.org/drawingml/2006/main">
              <a:ext uri="{FF2B5EF4-FFF2-40B4-BE49-F238E27FC236}">
                <a16:creationId xmlns:a16="http://schemas.microsoft.com/office/drawing/2014/main" id="{5E8BE1B6-A26C-4103-9624-B0EBD79655C3}"/>
              </a:ext>
            </a:extLst>
          </p:cNvPr>
          <p:cNvSpPr>
            <a:spLocks xmlns:a="http://schemas.openxmlformats.org/drawingml/2006/main" noGrp="1"/>
          </p:cNvSpPr>
          <p:nvPr/>
        </p:nvSpPr>
        <p:spPr>
          <a:xfrm xmlns:a="http://schemas.openxmlformats.org/drawingml/2006/main">
            <a:off x="685800" y="2590800"/>
            <a:ext cx="43624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D2C27"/>
                </a:solidFill>
                <a:latin typeface="Microsoft YaHei"/>
                <a:ea typeface="Microsoft YaHei"/>
                <a:cs typeface="Microsoft YaHei"/>
              </a:defRPr>
            </a:pPr>
            <a:r>
              <a:rPr sz="2400" b="0">
                <a:solidFill>
                  <a:srgbClr val="1D2C27"/>
                </a:solidFill>
                <a:latin typeface="Microsoft YaHei"/>
                <a:ea typeface="Microsoft YaHei"/>
                <a:cs typeface="Microsoft YaHei"/>
              </a:rPr>
              <a:t>CS101  操作系统</a:t>
            </a:r>
          </a:p>
          <a:p xmlns:a="http://schemas.openxmlformats.org/drawingml/2006/main">
            <a:pPr algn="l">
              <a:defRPr sz="2400" b="0">
                <a:solidFill>
                  <a:srgbClr val="1D2C27"/>
                </a:solidFill>
                <a:latin typeface="Microsoft YaHei"/>
                <a:ea typeface="Microsoft YaHei"/>
                <a:cs typeface="Microsoft YaHei"/>
              </a:defRPr>
            </a:pPr>
            <a:r>
              <a:rPr sz="2400" b="0">
                <a:solidFill>
                  <a:srgbClr val="1D2C27"/>
                </a:solidFill>
                <a:latin typeface="Microsoft YaHei"/>
                <a:ea typeface="Microsoft YaHei"/>
                <a:cs typeface="Microsoft YaHei"/>
              </a:rPr>
              <a:t>张老师  /  3.5 学分</a:t>
            </a:r>
          </a:p>
        </p:txBody>
      </p:sp>
      <p:sp>
        <p:nvSpPr>
          <p:cNvPr id="5" name="">
            <a:extLst xmlns:a="http://schemas.openxmlformats.org/drawingml/2006/main">
              <a:ext uri="{FF2B5EF4-FFF2-40B4-BE49-F238E27FC236}">
                <a16:creationId xmlns:a16="http://schemas.microsoft.com/office/drawing/2014/main" id="{D61AB642-86A2-4235-A50E-42338D394E5D}"/>
              </a:ext>
            </a:extLst>
          </p:cNvPr>
          <p:cNvSpPr>
            <a:spLocks xmlns:a="http://schemas.openxmlformats.org/drawingml/2006/main" noGrp="1"/>
          </p:cNvSpPr>
          <p:nvPr/>
        </p:nvSpPr>
        <p:spPr>
          <a:xfrm xmlns:a="http://schemas.openxmlformats.org/drawingml/2006/main">
            <a:off x="685800" y="3867150"/>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多条 Meeting 合并为</a:t>
            </a:r>
          </a:p>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一个教学班时间位图</a:t>
            </a:r>
          </a:p>
        </p:txBody>
      </p:sp>
      <p:sp>
        <p:nvSpPr>
          <p:cNvPr id="6" name="">
            <a:extLst xmlns:a="http://schemas.openxmlformats.org/drawingml/2006/main">
              <a:ext uri="{FF2B5EF4-FFF2-40B4-BE49-F238E27FC236}">
                <a16:creationId xmlns:a16="http://schemas.microsoft.com/office/drawing/2014/main" id="{CF85F829-28BA-4A95-8D0E-99A5A95C5700}"/>
              </a:ext>
            </a:extLst>
          </p:cNvPr>
          <p:cNvSpPr>
            <a:spLocks xmlns:a="http://schemas.openxmlformats.org/drawingml/2006/main" noGrp="1"/>
          </p:cNvSpPr>
          <p:nvPr/>
        </p:nvSpPr>
        <p:spPr>
          <a:xfrm xmlns:a="http://schemas.openxmlformats.org/drawingml/2006/main">
            <a:off x="5676900" y="1781175"/>
            <a:ext cx="5829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1">
                <a:solidFill>
                  <a:srgbClr val="1D2C27"/>
                </a:solidFill>
                <a:latin typeface="Microsoft YaHei"/>
                <a:ea typeface="Microsoft YaHei"/>
                <a:cs typeface="Microsoft YaHei"/>
              </a:defRPr>
            </a:pPr>
            <a:r>
              <a:rPr sz="2625" b="1">
                <a:solidFill>
                  <a:srgbClr val="1D2C27"/>
                </a:solidFill>
                <a:latin typeface="Microsoft YaHei"/>
                <a:ea typeface="Microsoft YaHei"/>
                <a:cs typeface="Microsoft YaHei"/>
              </a:rPr>
              <a:t>Meeting × 2</a:t>
            </a:r>
          </a:p>
        </p:txBody>
      </p:sp>
      <p:sp>
        <p:nvSpPr>
          <p:cNvPr id="7" name="">
            <a:extLst xmlns:a="http://schemas.openxmlformats.org/drawingml/2006/main">
              <a:ext uri="{FF2B5EF4-FFF2-40B4-BE49-F238E27FC236}">
                <a16:creationId xmlns:a16="http://schemas.microsoft.com/office/drawing/2014/main" id="{F657CAA9-EF6C-42CE-BA4D-2B2D706765FB}"/>
              </a:ext>
            </a:extLst>
          </p:cNvPr>
          <p:cNvSpPr>
            <a:spLocks xmlns:a="http://schemas.openxmlformats.org/drawingml/2006/main" noGrp="1"/>
          </p:cNvSpPr>
          <p:nvPr/>
        </p:nvSpPr>
        <p:spPr>
          <a:xfrm xmlns:a="http://schemas.openxmlformats.org/drawingml/2006/main">
            <a:off x="5676900" y="2314575"/>
            <a:ext cx="5829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B6862"/>
                </a:solidFill>
                <a:latin typeface="Microsoft YaHei"/>
                <a:ea typeface="Microsoft YaHei"/>
                <a:cs typeface="Microsoft YaHei"/>
              </a:defRPr>
            </a:pPr>
            <a:r>
              <a:rPr sz="1800" b="0">
                <a:solidFill>
                  <a:srgbClr val="5B6862"/>
                </a:solidFill>
                <a:latin typeface="Microsoft YaHei"/>
                <a:ea typeface="Microsoft YaHei"/>
                <a:cs typeface="Microsoft YaHei"/>
              </a:rPr>
              <a:t>同一教学班的两条上课安排</a:t>
            </a:r>
          </a:p>
        </p:txBody>
      </p:sp>
      <p:graphicFrame>
        <p:nvGraphicFramePr>
          <p:cNvPr id="22" name=""/>
          <p:cNvGraphicFramePr/>
          <p:nvPr/>
        </p:nvGraphicFramePr>
        <p:xfrm>
          <a:off xmlns:a="http://schemas.openxmlformats.org/drawingml/2006/main" x="5676900" y="2838450"/>
          <a:ext xmlns:a="http://schemas.openxmlformats.org/drawingml/2006/main" cx="5829300" cy="1857375"/>
        </p:xfrm>
        <a:graphic xmlns:a="http://schemas.openxmlformats.org/drawingml/2006/main">
          <a:graphicData uri="http://schemas.openxmlformats.org/drawingml/2006/table">
            <a:tbl>
              <a:tblPr firstRow="1" firstCol="0" lastCol="0" bandRow="0" bandCol="0"/>
              <a:tblGrid>
                <a:gridCol w="1981200"/>
                <a:gridCol w="1333500"/>
                <a:gridCol w="1143000"/>
                <a:gridCol w="1371600"/>
              </a:tblGrid>
              <a:tr h="619125">
                <a:tc>
                  <a:txBody>
                    <a:bodyPr/>
                    <a:lstStyle/>
                    <a:p>
                      <a:pPr algn="ctr"/>
                      <a:r>
                        <a:rPr sz="1875" b="1">
                          <a:solidFill>
                            <a:srgbClr val="1D2C27"/>
                          </a:solidFill>
                          <a:latin typeface="Microsoft YaHei"/>
                          <a:ea typeface="Microsoft YaHei"/>
                          <a:cs typeface="Microsoft YaHei"/>
                        </a:rPr>
                        <a:t>周次</a:t>
                      </a:r>
                    </a:p>
                  </a:txBody>
                  <a:tcPr marL="85725" marR="85725" marT="47625" marB="47625" anchor="ctr">
                    <a:solidFill>
                      <a:srgbClr val="E0EBE5"/>
                    </a:solidFill>
                  </a:tcPr>
                </a:tc>
                <a:tc>
                  <a:txBody>
                    <a:bodyPr/>
                    <a:lstStyle/>
                    <a:p>
                      <a:pPr algn="ctr"/>
                      <a:r>
                        <a:rPr sz="1875" b="1">
                          <a:solidFill>
                            <a:srgbClr val="1D2C27"/>
                          </a:solidFill>
                          <a:latin typeface="Microsoft YaHei"/>
                          <a:ea typeface="Microsoft YaHei"/>
                          <a:cs typeface="Microsoft YaHei"/>
                        </a:rPr>
                        <a:t>星期</a:t>
                      </a:r>
                    </a:p>
                  </a:txBody>
                  <a:tcPr marL="85725" marR="85725" marT="47625" marB="47625" anchor="ctr">
                    <a:solidFill>
                      <a:srgbClr val="E0EBE5"/>
                    </a:solidFill>
                  </a:tcPr>
                </a:tc>
                <a:tc>
                  <a:txBody>
                    <a:bodyPr/>
                    <a:lstStyle/>
                    <a:p>
                      <a:pPr algn="ctr"/>
                      <a:r>
                        <a:rPr sz="1875" b="1">
                          <a:solidFill>
                            <a:srgbClr val="1D2C27"/>
                          </a:solidFill>
                          <a:latin typeface="Microsoft YaHei"/>
                          <a:ea typeface="Microsoft YaHei"/>
                          <a:cs typeface="Microsoft YaHei"/>
                        </a:rPr>
                        <a:t>节次</a:t>
                      </a:r>
                    </a:p>
                  </a:txBody>
                  <a:tcPr marL="85725" marR="85725" marT="47625" marB="47625" anchor="ctr">
                    <a:solidFill>
                      <a:srgbClr val="E0EBE5"/>
                    </a:solidFill>
                  </a:tcPr>
                </a:tc>
                <a:tc>
                  <a:txBody>
                    <a:bodyPr/>
                    <a:lstStyle/>
                    <a:p>
                      <a:pPr algn="ctr"/>
                      <a:r>
                        <a:rPr sz="1875" b="1">
                          <a:solidFill>
                            <a:srgbClr val="1D2C27"/>
                          </a:solidFill>
                          <a:latin typeface="Microsoft YaHei"/>
                          <a:ea typeface="Microsoft YaHei"/>
                          <a:cs typeface="Microsoft YaHei"/>
                        </a:rPr>
                        <a:t>教室</a:t>
                      </a:r>
                    </a:p>
                  </a:txBody>
                  <a:tcPr marL="85725" marR="85725" marT="47625" marB="47625" anchor="ctr">
                    <a:solidFill>
                      <a:srgbClr val="E0EBE5"/>
                    </a:solidFill>
                  </a:tcPr>
                </a:tc>
              </a:tr>
              <a:tr h="619125">
                <a:tc>
                  <a:txBody>
                    <a:bodyPr/>
                    <a:lstStyle/>
                    <a:p>
                      <a:pPr algn="ctr"/>
                      <a:r>
                        <a:rPr sz="1875" b="0">
                          <a:solidFill>
                            <a:srgbClr val="1D2C27"/>
                          </a:solidFill>
                          <a:latin typeface="Microsoft YaHei"/>
                          <a:ea typeface="Microsoft YaHei"/>
                          <a:cs typeface="Microsoft YaHei"/>
                        </a:rPr>
                        <a:t>1-5,7-9</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周一</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1</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H415</a:t>
                      </a:r>
                    </a:p>
                  </a:txBody>
                  <a:tcPr marL="85725" marR="85725" marT="47625" marB="47625" anchor="ctr">
                    <a:solidFill>
                      <a:srgbClr val="FFFFFF"/>
                    </a:solidFill>
                  </a:tcPr>
                </a:tc>
              </a:tr>
              <a:tr h="619125">
                <a:tc>
                  <a:txBody>
                    <a:bodyPr/>
                    <a:lstStyle/>
                    <a:p>
                      <a:pPr algn="ctr"/>
                      <a:r>
                        <a:rPr sz="1875" b="0">
                          <a:solidFill>
                            <a:srgbClr val="1D2C27"/>
                          </a:solidFill>
                          <a:latin typeface="Microsoft YaHei"/>
                          <a:ea typeface="Microsoft YaHei"/>
                          <a:cs typeface="Microsoft YaHei"/>
                        </a:rPr>
                        <a:t>1-5,7-9</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周四</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3</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H416</a:t>
                      </a:r>
                    </a:p>
                  </a:txBody>
                  <a:tcPr marL="85725" marR="85725" marT="47625" marB="47625"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56791533-B634-4DA8-A3C9-4E0960F0F3E7}"/>
              </a:ext>
            </a:extLst>
          </p:cNvPr>
          <p:cNvSpPr>
            <a:spLocks xmlns:a="http://schemas.openxmlformats.org/drawingml/2006/main" noGrp="1"/>
          </p:cNvSpPr>
          <p:nvPr/>
        </p:nvSpPr>
        <p:spPr>
          <a:xfrm xmlns:a="http://schemas.openxmlformats.org/drawingml/2006/main">
            <a:off x="685800" y="50006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D2C27"/>
                </a:solidFill>
                <a:latin typeface="Microsoft YaHei"/>
                <a:ea typeface="Microsoft YaHei"/>
                <a:cs typeface="Microsoft YaHei"/>
              </a:defRPr>
            </a:pPr>
            <a:r>
              <a:rPr sz="2025" b="1">
                <a:solidFill>
                  <a:srgbClr val="1D2C27"/>
                </a:solidFill>
                <a:latin typeface="Microsoft YaHei"/>
                <a:ea typeface="Microsoft YaHei"/>
                <a:cs typeface="Microsoft YaHei"/>
              </a:rPr>
              <a:t>身份：代码＋名称＋教师</a:t>
            </a:r>
          </a:p>
        </p:txBody>
      </p:sp>
      <p:sp>
        <p:nvSpPr>
          <p:cNvPr id="10" name="">
            <a:extLst xmlns:a="http://schemas.openxmlformats.org/drawingml/2006/main">
              <a:ext uri="{FF2B5EF4-FFF2-40B4-BE49-F238E27FC236}">
                <a16:creationId xmlns:a16="http://schemas.microsoft.com/office/drawing/2014/main" id="{804DADE9-0F10-48E6-9D3D-706B6CC416AD}"/>
              </a:ext>
            </a:extLst>
          </p:cNvPr>
          <p:cNvSpPr>
            <a:spLocks xmlns:a="http://schemas.openxmlformats.org/drawingml/2006/main" noGrp="1"/>
          </p:cNvSpPr>
          <p:nvPr/>
        </p:nvSpPr>
        <p:spPr>
          <a:xfrm xmlns:a="http://schemas.openxmlformats.org/drawingml/2006/main">
            <a:off x="5676900" y="5000625"/>
            <a:ext cx="582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D2C27"/>
                </a:solidFill>
                <a:latin typeface="Microsoft YaHei"/>
                <a:ea typeface="Microsoft YaHei"/>
                <a:cs typeface="Microsoft YaHei"/>
              </a:defRPr>
            </a:pPr>
            <a:r>
              <a:rPr sz="1875" b="0">
                <a:solidFill>
                  <a:srgbClr val="1D2C27"/>
                </a:solidFill>
                <a:latin typeface="Microsoft YaHei"/>
                <a:ea typeface="Microsoft YaHei"/>
                <a:cs typeface="Microsoft YaHei"/>
              </a:rPr>
              <a:t>分组：代码＋名称，每个必选分组恰选一个班</a:t>
            </a:r>
          </a:p>
        </p:txBody>
      </p:sp>
      <p:sp>
        <p:nvSpPr>
          <p:cNvPr id="11" name="">
            <a:extLst xmlns:a="http://schemas.openxmlformats.org/drawingml/2006/main">
              <a:ext uri="{FF2B5EF4-FFF2-40B4-BE49-F238E27FC236}">
                <a16:creationId xmlns:a16="http://schemas.microsoft.com/office/drawing/2014/main" id="{7AAAC087-7FD3-4A56-91CD-5F1F2B1DF2DA}"/>
              </a:ext>
            </a:extLst>
          </p:cNvPr>
          <p:cNvSpPr>
            <a:spLocks xmlns:a="http://schemas.openxmlformats.org/drawingml/2006/main" noGrp="1"/>
          </p:cNvSpPr>
          <p:nvPr/>
        </p:nvSpPr>
        <p:spPr>
          <a:xfrm xmlns:a="http://schemas.openxmlformats.org/drawingml/2006/main">
            <a:off x="685800" y="5800725"/>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D2C27"/>
                </a:solidFill>
                <a:latin typeface="Microsoft YaHei"/>
                <a:ea typeface="Microsoft YaHei"/>
                <a:cs typeface="Microsoft YaHei"/>
              </a:defRPr>
            </a:pPr>
            <a:r>
              <a:rPr sz="1875" b="1">
                <a:solidFill>
                  <a:srgbClr val="1D2C27"/>
                </a:solidFill>
                <a:latin typeface="Microsoft YaHei"/>
                <a:ea typeface="Microsoft YaHei"/>
                <a:cs typeface="Microsoft YaHei"/>
              </a:rPr>
              <a:t>Schedule</a:t>
            </a:r>
          </a:p>
        </p:txBody>
      </p:sp>
      <p:sp>
        <p:nvSpPr>
          <p:cNvPr id="12" name="">
            <a:extLst xmlns:a="http://schemas.openxmlformats.org/drawingml/2006/main">
              <a:ext uri="{FF2B5EF4-FFF2-40B4-BE49-F238E27FC236}">
                <a16:creationId xmlns:a16="http://schemas.microsoft.com/office/drawing/2014/main" id="{D7465EB7-C5D6-4F82-855C-DD4BFC9B1622}"/>
              </a:ext>
            </a:extLst>
          </p:cNvPr>
          <p:cNvSpPr>
            <a:spLocks xmlns:a="http://schemas.openxmlformats.org/drawingml/2006/main" noGrp="1"/>
          </p:cNvSpPr>
          <p:nvPr/>
        </p:nvSpPr>
        <p:spPr>
          <a:xfrm xmlns:a="http://schemas.openxmlformats.org/drawingml/2006/main">
            <a:off x="685800" y="6191250"/>
            <a:ext cx="4619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B6862"/>
                </a:solidFill>
                <a:latin typeface="Microsoft YaHei"/>
                <a:ea typeface="Microsoft YaHei"/>
                <a:cs typeface="Microsoft YaHei"/>
              </a:defRPr>
            </a:pPr>
            <a:r>
              <a:rPr sz="1575" b="0">
                <a:solidFill>
                  <a:srgbClr val="5B6862"/>
                </a:solidFill>
                <a:latin typeface="Microsoft YaHei"/>
                <a:ea typeface="Microsoft YaHei"/>
                <a:cs typeface="Microsoft YaHei"/>
              </a:rPr>
              <a:t>选中教学班 ID 与总占用位图</a:t>
            </a:r>
          </a:p>
        </p:txBody>
      </p:sp>
      <p:sp>
        <p:nvSpPr>
          <p:cNvPr id="13" name="">
            <a:extLst xmlns:a="http://schemas.openxmlformats.org/drawingml/2006/main">
              <a:ext uri="{FF2B5EF4-FFF2-40B4-BE49-F238E27FC236}">
                <a16:creationId xmlns:a16="http://schemas.microsoft.com/office/drawing/2014/main" id="{6DF0F1E1-19AE-4DCF-AC72-A2CF5BB544F0}"/>
              </a:ext>
            </a:extLst>
          </p:cNvPr>
          <p:cNvSpPr>
            <a:spLocks xmlns:a="http://schemas.openxmlformats.org/drawingml/2006/main" noGrp="1"/>
          </p:cNvSpPr>
          <p:nvPr/>
        </p:nvSpPr>
        <p:spPr>
          <a:xfrm xmlns:a="http://schemas.openxmlformats.org/drawingml/2006/main">
            <a:off x="5676900" y="5800725"/>
            <a:ext cx="5829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D2C27"/>
                </a:solidFill>
                <a:latin typeface="Microsoft YaHei"/>
                <a:ea typeface="Microsoft YaHei"/>
                <a:cs typeface="Microsoft YaHei"/>
              </a:defRPr>
            </a:pPr>
            <a:r>
              <a:rPr sz="1875" b="1">
                <a:solidFill>
                  <a:srgbClr val="1D2C27"/>
                </a:solidFill>
                <a:latin typeface="Microsoft YaHei"/>
                <a:ea typeface="Microsoft YaHei"/>
                <a:cs typeface="Microsoft YaHei"/>
              </a:rPr>
              <a:t>UserConstraints</a:t>
            </a:r>
          </a:p>
        </p:txBody>
      </p:sp>
      <p:sp>
        <p:nvSpPr>
          <p:cNvPr id="14" name="">
            <a:extLst xmlns:a="http://schemas.openxmlformats.org/drawingml/2006/main">
              <a:ext uri="{FF2B5EF4-FFF2-40B4-BE49-F238E27FC236}">
                <a16:creationId xmlns:a16="http://schemas.microsoft.com/office/drawing/2014/main" id="{2580E5AF-72F3-407F-8F72-8341185ABFF4}"/>
              </a:ext>
            </a:extLst>
          </p:cNvPr>
          <p:cNvSpPr>
            <a:spLocks xmlns:a="http://schemas.openxmlformats.org/drawingml/2006/main" noGrp="1"/>
          </p:cNvSpPr>
          <p:nvPr/>
        </p:nvSpPr>
        <p:spPr>
          <a:xfrm xmlns:a="http://schemas.openxmlformats.org/drawingml/2006/main">
            <a:off x="5676900" y="6191250"/>
            <a:ext cx="5829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B6862"/>
                </a:solidFill>
                <a:latin typeface="Microsoft YaHei"/>
                <a:ea typeface="Microsoft YaHei"/>
                <a:cs typeface="Microsoft YaHei"/>
              </a:defRPr>
            </a:pPr>
            <a:r>
              <a:rPr sz="1575" b="0">
                <a:solidFill>
                  <a:srgbClr val="5B6862"/>
                </a:solidFill>
                <a:latin typeface="Microsoft YaHei"/>
                <a:ea typeface="Microsoft YaHei"/>
                <a:cs typeface="Microsoft YaHei"/>
              </a:rPr>
              <a:t>必选分组、锁定教学班、禁止时间</a:t>
            </a:r>
          </a:p>
        </p:txBody>
      </p:sp>
    </p:spTree>
    <p:extLst>
      <p:ext uri="{BB962C8B-B14F-4D97-AF65-F5344CB8AC3E}">
        <p14:creationId xmlns:p14="http://schemas.microsoft.com/office/powerpoint/2010/main" val="1669080684"/>
      </p:ext>
    </p:extLst>
  </p:cSld>
</p:sld>
</file>

<file path=ppt/slides/slide5.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984D8A7-7045-4DAD-951E-B162931C6EEC}"/>
              </a:ext>
            </a:extLst>
          </p:cNvPr>
          <p:cNvSpPr>
            <a:spLocks xmlns:a="http://schemas.openxmlformats.org/drawingml/2006/main" noGrp="1"/>
          </p:cNvSpPr>
          <p:nvPr/>
        </p:nvSpPr>
        <p:spPr>
          <a:xfrm xmlns:a="http://schemas.openxmlformats.org/drawingml/2006/main">
            <a:off x="685800" y="438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D2C27"/>
                </a:solidFill>
                <a:latin typeface="Microsoft YaHei"/>
                <a:ea typeface="Microsoft YaHei"/>
                <a:cs typeface="Microsoft YaHei"/>
              </a:defRPr>
            </a:pPr>
            <a:r>
              <a:rPr sz="3300" b="1">
                <a:solidFill>
                  <a:srgbClr val="1D2C27"/>
                </a:solidFill>
                <a:latin typeface="Microsoft YaHei"/>
                <a:ea typeface="Microsoft YaHei"/>
                <a:cs typeface="Microsoft YaHei"/>
              </a:rPr>
              <a:t>时间位集合</a:t>
            </a:r>
          </a:p>
        </p:txBody>
      </p:sp>
      <p:sp>
        <p:nvSpPr>
          <p:cNvPr id="2" name="">
            <a:extLst xmlns:a="http://schemas.openxmlformats.org/drawingml/2006/main">
              <a:ext uri="{FF2B5EF4-FFF2-40B4-BE49-F238E27FC236}">
                <a16:creationId xmlns:a16="http://schemas.microsoft.com/office/drawing/2014/main" id="{2EA11293-9DEA-4E0A-A7CD-77E36F93C4D5}"/>
              </a:ext>
            </a:extLst>
          </p:cNvPr>
          <p:cNvSpPr>
            <a:spLocks xmlns:a="http://schemas.openxmlformats.org/drawingml/2006/main" noGrp="1"/>
          </p:cNvSpPr>
          <p:nvPr/>
        </p:nvSpPr>
        <p:spPr>
          <a:xfrm xmlns:a="http://schemas.openxmlformats.org/drawingml/2006/main">
            <a:off x="11163300" y="64770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B6862"/>
                </a:solidFill>
                <a:latin typeface="Microsoft YaHei"/>
                <a:ea typeface="Microsoft YaHei"/>
                <a:cs typeface="Microsoft YaHei"/>
              </a:defRPr>
            </a:pPr>
            <a:r>
              <a:rPr sz="1200" b="0">
                <a:solidFill>
                  <a:srgbClr val="5B6862"/>
                </a:solidFill>
                <a:latin typeface="Microsoft YaHei"/>
                <a:ea typeface="Microsoft YaHei"/>
                <a:cs typeface="Microsoft YaHei"/>
              </a:rPr>
              <a:t>05</a:t>
            </a:r>
          </a:p>
        </p:txBody>
      </p:sp>
      <p:sp>
        <p:nvSpPr>
          <p:cNvPr id="3" name="">
            <a:extLst xmlns:a="http://schemas.openxmlformats.org/drawingml/2006/main">
              <a:ext uri="{FF2B5EF4-FFF2-40B4-BE49-F238E27FC236}">
                <a16:creationId xmlns:a16="http://schemas.microsoft.com/office/drawing/2014/main" id="{1772D16E-91F5-493E-B6F0-928F0DA2AEF0}"/>
              </a:ext>
            </a:extLst>
          </p:cNvPr>
          <p:cNvSpPr>
            <a:spLocks xmlns:a="http://schemas.openxmlformats.org/drawingml/2006/main" noGrp="1"/>
          </p:cNvSpPr>
          <p:nvPr/>
        </p:nvSpPr>
        <p:spPr>
          <a:xfrm xmlns:a="http://schemas.openxmlformats.org/drawingml/2006/main">
            <a:off x="685800" y="13239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1">
                <a:solidFill>
                  <a:srgbClr val="226A57"/>
                </a:solidFill>
                <a:latin typeface="Microsoft YaHei"/>
                <a:ea typeface="Microsoft YaHei"/>
                <a:cs typeface="Microsoft YaHei"/>
              </a:defRPr>
            </a:pPr>
            <a:r>
              <a:rPr sz="2475" b="1">
                <a:solidFill>
                  <a:srgbClr val="226A57"/>
                </a:solidFill>
                <a:latin typeface="Microsoft YaHei"/>
                <a:ea typeface="Microsoft YaHei"/>
                <a:cs typeface="Microsoft YaHei"/>
              </a:rPr>
              <a:t>index = (week−1) × 42 + (weekday−1) × 6 + (period−1)</a:t>
            </a:r>
          </a:p>
        </p:txBody>
      </p:sp>
      <p:sp>
        <p:nvSpPr>
          <p:cNvPr id="4" name="">
            <a:extLst xmlns:a="http://schemas.openxmlformats.org/drawingml/2006/main">
              <a:ext uri="{FF2B5EF4-FFF2-40B4-BE49-F238E27FC236}">
                <a16:creationId xmlns:a16="http://schemas.microsoft.com/office/drawing/2014/main" id="{AF1B37CB-F303-4FE1-B4A1-BEE0F8A770E9}"/>
              </a:ext>
            </a:extLst>
          </p:cNvPr>
          <p:cNvSpPr>
            <a:spLocks xmlns:a="http://schemas.openxmlformats.org/drawingml/2006/main" noGrp="1"/>
          </p:cNvSpPr>
          <p:nvPr/>
        </p:nvSpPr>
        <p:spPr>
          <a:xfrm xmlns:a="http://schemas.openxmlformats.org/drawingml/2006/main">
            <a:off x="685800" y="2124075"/>
            <a:ext cx="7677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B6862"/>
                </a:solidFill>
                <a:latin typeface="Microsoft YaHei"/>
                <a:ea typeface="Microsoft YaHei"/>
                <a:cs typeface="Microsoft YaHei"/>
              </a:defRPr>
            </a:pPr>
            <a:r>
              <a:rPr sz="1800" b="0">
                <a:solidFill>
                  <a:srgbClr val="5B6862"/>
                </a:solidFill>
                <a:latin typeface="Microsoft YaHei"/>
                <a:ea typeface="Microsoft YaHei"/>
                <a:cs typeface="Microsoft YaHei"/>
              </a:rPr>
              <a:t>第2周的时间下标：42-83</a:t>
            </a:r>
          </a:p>
        </p:txBody>
      </p:sp>
      <p:graphicFrame>
        <p:nvGraphicFramePr>
          <p:cNvPr id="16" name=""/>
          <p:cNvGraphicFramePr/>
          <p:nvPr/>
        </p:nvGraphicFramePr>
        <p:xfrm>
          <a:off xmlns:a="http://schemas.openxmlformats.org/drawingml/2006/main" x="685800" y="2676525"/>
          <a:ext xmlns:a="http://schemas.openxmlformats.org/drawingml/2006/main" cx="7677150" cy="3333750"/>
        </p:xfrm>
        <a:graphic xmlns:a="http://schemas.openxmlformats.org/drawingml/2006/main">
          <a:graphicData uri="http://schemas.openxmlformats.org/drawingml/2006/table">
            <a:tbl>
              <a:tblPr firstRow="1" firstCol="0" lastCol="0" bandRow="0" bandCol="0"/>
              <a:tblGrid>
                <a:gridCol w="1809750"/>
                <a:gridCol w="838200"/>
                <a:gridCol w="838200"/>
                <a:gridCol w="838200"/>
                <a:gridCol w="838200"/>
                <a:gridCol w="838200"/>
                <a:gridCol w="838200"/>
                <a:gridCol w="838200"/>
              </a:tblGrid>
              <a:tr h="476250">
                <a:tc>
                  <a:txBody>
                    <a:bodyPr/>
                    <a:lstStyle/>
                    <a:p>
                      <a:pPr algn="ctr"/>
                      <a:r>
                        <a:rPr sz="1575" b="1">
                          <a:solidFill>
                            <a:srgbClr val="1D2C27"/>
                          </a:solidFill>
                          <a:latin typeface="Microsoft YaHei"/>
                          <a:ea typeface="Microsoft YaHei"/>
                          <a:cs typeface="Microsoft YaHei"/>
                        </a:rPr>
                        <a:t>节次 / 上课时段</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周一</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周二</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周三</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周四</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周五</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周六</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周日</a:t>
                      </a:r>
                    </a:p>
                  </a:txBody>
                  <a:tcPr marL="85725" marR="85725" marT="47625" marB="47625" anchor="ctr">
                    <a:solidFill>
                      <a:srgbClr val="E0EBE5"/>
                    </a:solidFill>
                  </a:tcPr>
                </a:tc>
              </a:tr>
              <a:tr h="476250">
                <a:tc>
                  <a:txBody>
                    <a:bodyPr/>
                    <a:lstStyle/>
                    <a:p>
                      <a:pPr algn="ctr"/>
                      <a:r>
                        <a:rPr sz="1500" b="0">
                          <a:solidFill>
                            <a:srgbClr val="1D2C27"/>
                          </a:solidFill>
                          <a:latin typeface="Microsoft YaHei"/>
                          <a:ea typeface="Microsoft YaHei"/>
                          <a:cs typeface="Microsoft YaHei"/>
                        </a:rPr>
                        <a:t>1  08:00-09:45</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42</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48</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54</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60</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66</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72</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78</a:t>
                      </a:r>
                    </a:p>
                  </a:txBody>
                  <a:tcPr marL="85725" marR="85725" marT="47625" marB="47625" anchor="ctr">
                    <a:solidFill>
                      <a:srgbClr val="FFFFFF"/>
                    </a:solidFill>
                  </a:tcPr>
                </a:tc>
              </a:tr>
              <a:tr h="476250">
                <a:tc>
                  <a:txBody>
                    <a:bodyPr/>
                    <a:lstStyle/>
                    <a:p>
                      <a:pPr algn="ctr"/>
                      <a:r>
                        <a:rPr sz="1500" b="0">
                          <a:solidFill>
                            <a:srgbClr val="1D2C27"/>
                          </a:solidFill>
                          <a:latin typeface="Microsoft YaHei"/>
                          <a:ea typeface="Microsoft YaHei"/>
                          <a:cs typeface="Microsoft YaHei"/>
                        </a:rPr>
                        <a:t>2  10:05-11:50</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43</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49</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55</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61</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67</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73</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79</a:t>
                      </a:r>
                    </a:p>
                  </a:txBody>
                  <a:tcPr marL="85725" marR="85725" marT="47625" marB="47625" anchor="ctr">
                    <a:solidFill>
                      <a:srgbClr val="FFFFFF"/>
                    </a:solidFill>
                  </a:tcPr>
                </a:tc>
              </a:tr>
              <a:tr h="476250">
                <a:tc>
                  <a:txBody>
                    <a:bodyPr/>
                    <a:lstStyle/>
                    <a:p>
                      <a:pPr algn="ctr"/>
                      <a:r>
                        <a:rPr sz="1500" b="0">
                          <a:solidFill>
                            <a:srgbClr val="1D2C27"/>
                          </a:solidFill>
                          <a:latin typeface="Microsoft YaHei"/>
                          <a:ea typeface="Microsoft YaHei"/>
                          <a:cs typeface="Microsoft YaHei"/>
                        </a:rPr>
                        <a:t>3  14:00-15:45</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44</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50</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56</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62</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68</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74</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80</a:t>
                      </a:r>
                    </a:p>
                  </a:txBody>
                  <a:tcPr marL="85725" marR="85725" marT="47625" marB="47625" anchor="ctr">
                    <a:solidFill>
                      <a:srgbClr val="FFFFFF"/>
                    </a:solidFill>
                  </a:tcPr>
                </a:tc>
              </a:tr>
              <a:tr h="476250">
                <a:tc>
                  <a:txBody>
                    <a:bodyPr/>
                    <a:lstStyle/>
                    <a:p>
                      <a:pPr algn="ctr"/>
                      <a:r>
                        <a:rPr sz="1500" b="0">
                          <a:solidFill>
                            <a:srgbClr val="1D2C27"/>
                          </a:solidFill>
                          <a:latin typeface="Microsoft YaHei"/>
                          <a:ea typeface="Microsoft YaHei"/>
                          <a:cs typeface="Microsoft YaHei"/>
                        </a:rPr>
                        <a:t>4  16:05-17:50</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45</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51</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57</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63</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69</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75</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81</a:t>
                      </a:r>
                    </a:p>
                  </a:txBody>
                  <a:tcPr marL="85725" marR="85725" marT="47625" marB="47625" anchor="ctr">
                    <a:solidFill>
                      <a:srgbClr val="FFFFFF"/>
                    </a:solidFill>
                  </a:tcPr>
                </a:tc>
              </a:tr>
              <a:tr h="476250">
                <a:tc>
                  <a:txBody>
                    <a:bodyPr/>
                    <a:lstStyle/>
                    <a:p>
                      <a:pPr algn="ctr"/>
                      <a:r>
                        <a:rPr sz="1500" b="0">
                          <a:solidFill>
                            <a:srgbClr val="1D2C27"/>
                          </a:solidFill>
                          <a:latin typeface="Microsoft YaHei"/>
                          <a:ea typeface="Microsoft YaHei"/>
                          <a:cs typeface="Microsoft YaHei"/>
                        </a:rPr>
                        <a:t>5  18:40-20:25</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46</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52</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58</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64</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70</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76</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82</a:t>
                      </a:r>
                    </a:p>
                  </a:txBody>
                  <a:tcPr marL="85725" marR="85725" marT="47625" marB="47625" anchor="ctr">
                    <a:solidFill>
                      <a:srgbClr val="FFFFFF"/>
                    </a:solidFill>
                  </a:tcPr>
                </a:tc>
              </a:tr>
              <a:tr h="476250">
                <a:tc>
                  <a:txBody>
                    <a:bodyPr/>
                    <a:lstStyle/>
                    <a:p>
                      <a:pPr algn="ctr"/>
                      <a:r>
                        <a:rPr sz="1500" b="0">
                          <a:solidFill>
                            <a:srgbClr val="1D2C27"/>
                          </a:solidFill>
                          <a:latin typeface="Microsoft YaHei"/>
                          <a:ea typeface="Microsoft YaHei"/>
                          <a:cs typeface="Microsoft YaHei"/>
                        </a:rPr>
                        <a:t>6  20:45-22:30</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47</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53</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59</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65</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71</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77</a:t>
                      </a:r>
                    </a:p>
                  </a:txBody>
                  <a:tcPr marL="85725" marR="85725" marT="47625" marB="47625" anchor="ctr">
                    <a:solidFill>
                      <a:srgbClr val="FFFFFF"/>
                    </a:solidFill>
                  </a:tcPr>
                </a:tc>
                <a:tc>
                  <a:txBody>
                    <a:bodyPr/>
                    <a:lstStyle/>
                    <a:p>
                      <a:pPr algn="ctr"/>
                      <a:r>
                        <a:rPr sz="1800" b="1">
                          <a:solidFill>
                            <a:srgbClr val="FFFFFF"/>
                          </a:solidFill>
                          <a:latin typeface="Microsoft YaHei"/>
                          <a:ea typeface="Microsoft YaHei"/>
                          <a:cs typeface="Microsoft YaHei"/>
                        </a:rPr>
                        <a:t>83</a:t>
                      </a:r>
                    </a:p>
                  </a:txBody>
                  <a:tcPr marL="85725" marR="85725" marT="47625" marB="47625" anchor="ctr">
                    <a:solidFill>
                      <a:srgbClr val="226A57"/>
                    </a:solidFill>
                  </a:tcPr>
                </a:tc>
              </a:tr>
            </a:tbl>
          </a:graphicData>
        </a:graphic>
      </p:graphicFrame>
      <p:sp>
        <p:nvSpPr>
          <p:cNvPr id="6" name="">
            <a:extLst xmlns:a="http://schemas.openxmlformats.org/drawingml/2006/main">
              <a:ext uri="{FF2B5EF4-FFF2-40B4-BE49-F238E27FC236}">
                <a16:creationId xmlns:a16="http://schemas.microsoft.com/office/drawing/2014/main" id="{17F9E376-2CE7-4F37-AC08-62998FF262A6}"/>
              </a:ext>
            </a:extLst>
          </p:cNvPr>
          <p:cNvSpPr>
            <a:spLocks xmlns:a="http://schemas.openxmlformats.org/drawingml/2006/main" noGrp="1"/>
          </p:cNvSpPr>
          <p:nvPr/>
        </p:nvSpPr>
        <p:spPr>
          <a:xfrm xmlns:a="http://schemas.openxmlformats.org/drawingml/2006/main">
            <a:off x="9077325" y="2324100"/>
            <a:ext cx="2428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8250" b="1">
                <a:solidFill>
                  <a:srgbClr val="226A57"/>
                </a:solidFill>
                <a:latin typeface="Microsoft YaHei"/>
                <a:ea typeface="Microsoft YaHei"/>
                <a:cs typeface="Microsoft YaHei"/>
              </a:defRPr>
            </a:pPr>
            <a:r>
              <a:rPr sz="8250" b="1">
                <a:solidFill>
                  <a:srgbClr val="226A57"/>
                </a:solidFill>
                <a:latin typeface="Microsoft YaHei"/>
                <a:ea typeface="Microsoft YaHei"/>
                <a:cs typeface="Microsoft YaHei"/>
              </a:rPr>
              <a:t>840</a:t>
            </a:r>
          </a:p>
        </p:txBody>
      </p:sp>
      <p:sp>
        <p:nvSpPr>
          <p:cNvPr id="7" name="">
            <a:extLst xmlns:a="http://schemas.openxmlformats.org/drawingml/2006/main">
              <a:ext uri="{FF2B5EF4-FFF2-40B4-BE49-F238E27FC236}">
                <a16:creationId xmlns:a16="http://schemas.microsoft.com/office/drawing/2014/main" id="{C8478E01-9921-4D9C-8E57-98B981DE7477}"/>
              </a:ext>
            </a:extLst>
          </p:cNvPr>
          <p:cNvSpPr>
            <a:spLocks xmlns:a="http://schemas.openxmlformats.org/drawingml/2006/main" noGrp="1"/>
          </p:cNvSpPr>
          <p:nvPr/>
        </p:nvSpPr>
        <p:spPr>
          <a:xfrm xmlns:a="http://schemas.openxmlformats.org/drawingml/2006/main">
            <a:off x="9077325" y="383857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D2C27"/>
                </a:solidFill>
                <a:latin typeface="Microsoft YaHei"/>
                <a:ea typeface="Microsoft YaHei"/>
                <a:cs typeface="Microsoft YaHei"/>
              </a:defRPr>
            </a:pPr>
            <a:r>
              <a:rPr sz="1875" b="0">
                <a:solidFill>
                  <a:srgbClr val="1D2C27"/>
                </a:solidFill>
                <a:latin typeface="Microsoft YaHei"/>
                <a:ea typeface="Microsoft YaHei"/>
                <a:cs typeface="Microsoft YaHei"/>
              </a:rPr>
              <a:t>20周 × 7天 × 6节</a:t>
            </a:r>
          </a:p>
          <a:p xmlns:a="http://schemas.openxmlformats.org/drawingml/2006/main">
            <a:pPr algn="l">
              <a:defRPr sz="1875" b="0">
                <a:solidFill>
                  <a:srgbClr val="1D2C27"/>
                </a:solidFill>
                <a:latin typeface="Microsoft YaHei"/>
                <a:ea typeface="Microsoft YaHei"/>
                <a:cs typeface="Microsoft YaHei"/>
              </a:defRPr>
            </a:pPr>
            <a:r>
              <a:rPr sz="1875" b="0">
                <a:solidFill>
                  <a:srgbClr val="1D2C27"/>
                </a:solidFill>
                <a:latin typeface="Microsoft YaHei"/>
                <a:ea typeface="Microsoft YaHei"/>
                <a:cs typeface="Microsoft YaHei"/>
              </a:rPr>
              <a:t>14个 uint64_t</a:t>
            </a:r>
          </a:p>
        </p:txBody>
      </p:sp>
      <p:sp>
        <p:nvSpPr>
          <p:cNvPr id="8" name="">
            <a:extLst xmlns:a="http://schemas.openxmlformats.org/drawingml/2006/main">
              <a:ext uri="{FF2B5EF4-FFF2-40B4-BE49-F238E27FC236}">
                <a16:creationId xmlns:a16="http://schemas.microsoft.com/office/drawing/2014/main" id="{A745AAD6-7E74-44C1-AD99-2FFF3FEDB80A}"/>
              </a:ext>
            </a:extLst>
          </p:cNvPr>
          <p:cNvSpPr>
            <a:spLocks xmlns:a="http://schemas.openxmlformats.org/drawingml/2006/main" noGrp="1"/>
          </p:cNvSpPr>
          <p:nvPr/>
        </p:nvSpPr>
        <p:spPr>
          <a:xfrm xmlns:a="http://schemas.openxmlformats.org/drawingml/2006/main">
            <a:off x="9077325" y="5095875"/>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B6862"/>
                </a:solidFill>
                <a:latin typeface="Microsoft YaHei"/>
                <a:ea typeface="Microsoft YaHei"/>
                <a:cs typeface="Microsoft YaHei"/>
              </a:defRPr>
            </a:pPr>
            <a:r>
              <a:rPr sz="1650" b="0">
                <a:solidFill>
                  <a:srgbClr val="5B6862"/>
                </a:solidFill>
                <a:latin typeface="Microsoft YaHei"/>
                <a:ea typeface="Microsoft YaHei"/>
                <a:cs typeface="Microsoft YaHei"/>
              </a:rPr>
              <a:t>第20周 / 周日 / 第6节</a:t>
            </a:r>
          </a:p>
        </p:txBody>
      </p:sp>
      <p:sp>
        <p:nvSpPr>
          <p:cNvPr id="9" name="">
            <a:extLst xmlns:a="http://schemas.openxmlformats.org/drawingml/2006/main">
              <a:ext uri="{FF2B5EF4-FFF2-40B4-BE49-F238E27FC236}">
                <a16:creationId xmlns:a16="http://schemas.microsoft.com/office/drawing/2014/main" id="{BC5899BF-934E-4294-9B45-84A72E884160}"/>
              </a:ext>
            </a:extLst>
          </p:cNvPr>
          <p:cNvSpPr>
            <a:spLocks xmlns:a="http://schemas.openxmlformats.org/drawingml/2006/main" noGrp="1"/>
          </p:cNvSpPr>
          <p:nvPr/>
        </p:nvSpPr>
        <p:spPr>
          <a:xfrm xmlns:a="http://schemas.openxmlformats.org/drawingml/2006/main">
            <a:off x="9077325" y="56864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1">
                <a:solidFill>
                  <a:srgbClr val="1D2C27"/>
                </a:solidFill>
                <a:latin typeface="Microsoft YaHei"/>
                <a:ea typeface="Microsoft YaHei"/>
                <a:cs typeface="Microsoft YaHei"/>
              </a:defRPr>
            </a:pPr>
            <a:r>
              <a:rPr sz="3525" b="1">
                <a:solidFill>
                  <a:srgbClr val="1D2C27"/>
                </a:solidFill>
                <a:latin typeface="Microsoft YaHei"/>
                <a:ea typeface="Microsoft YaHei"/>
                <a:cs typeface="Microsoft YaHei"/>
              </a:rPr>
              <a:t>839</a:t>
            </a:r>
          </a:p>
        </p:txBody>
      </p:sp>
      <p:sp>
        <p:nvSpPr>
          <p:cNvPr id="10" name="">
            <a:extLst xmlns:a="http://schemas.openxmlformats.org/drawingml/2006/main">
              <a:ext uri="{FF2B5EF4-FFF2-40B4-BE49-F238E27FC236}">
                <a16:creationId xmlns:a16="http://schemas.microsoft.com/office/drawing/2014/main" id="{411ABEE1-B84B-4857-8A89-601D48A0E379}"/>
              </a:ext>
            </a:extLst>
          </p:cNvPr>
          <p:cNvSpPr>
            <a:spLocks xmlns:a="http://schemas.openxmlformats.org/drawingml/2006/main" noGrp="1"/>
          </p:cNvSpPr>
          <p:nvPr/>
        </p:nvSpPr>
        <p:spPr>
          <a:xfrm xmlns:a="http://schemas.openxmlformats.org/drawingml/2006/main">
            <a:off x="10448925" y="5819775"/>
            <a:ext cx="1057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B6862"/>
                </a:solidFill>
                <a:latin typeface="Microsoft YaHei"/>
                <a:ea typeface="Microsoft YaHei"/>
                <a:cs typeface="Microsoft YaHei"/>
              </a:defRPr>
            </a:pPr>
            <a:r>
              <a:rPr sz="1500" b="0">
                <a:solidFill>
                  <a:srgbClr val="5B6862"/>
                </a:solidFill>
                <a:latin typeface="Microsoft YaHei"/>
                <a:ea typeface="Microsoft YaHei"/>
                <a:cs typeface="Microsoft YaHei"/>
              </a:rPr>
              <a:t>最大下标</a:t>
            </a:r>
          </a:p>
        </p:txBody>
      </p:sp>
      <p:sp>
        <p:nvSpPr>
          <p:cNvPr id="11" name="">
            <a:extLst xmlns:a="http://schemas.openxmlformats.org/drawingml/2006/main">
              <a:ext uri="{FF2B5EF4-FFF2-40B4-BE49-F238E27FC236}">
                <a16:creationId xmlns:a16="http://schemas.microsoft.com/office/drawing/2014/main" id="{BFAEF29A-B447-4904-852F-1C5378CE17E0}"/>
              </a:ext>
            </a:extLst>
          </p:cNvPr>
          <p:cNvSpPr>
            <a:spLocks xmlns:a="http://schemas.openxmlformats.org/drawingml/2006/main" noGrp="1"/>
          </p:cNvSpPr>
          <p:nvPr/>
        </p:nvSpPr>
        <p:spPr>
          <a:xfrm xmlns:a="http://schemas.openxmlformats.org/drawingml/2006/main">
            <a:off x="685800" y="6200775"/>
            <a:ext cx="1028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D2C27"/>
                </a:solidFill>
                <a:latin typeface="Microsoft YaHei"/>
                <a:ea typeface="Microsoft YaHei"/>
                <a:cs typeface="Microsoft YaHei"/>
              </a:defRPr>
            </a:pPr>
            <a:r>
              <a:rPr sz="1725" b="0">
                <a:solidFill>
                  <a:srgbClr val="1D2C27"/>
                </a:solidFill>
                <a:latin typeface="Microsoft YaHei"/>
                <a:ea typeface="Microsoft YaHei"/>
                <a:cs typeface="Microsoft YaHei"/>
              </a:rPr>
              <a:t>Meeting 先展开明确周次与节次，再合并全部上课安排</a:t>
            </a:r>
          </a:p>
        </p:txBody>
      </p:sp>
    </p:spTree>
    <p:extLst>
      <p:ext uri="{BB962C8B-B14F-4D97-AF65-F5344CB8AC3E}">
        <p14:creationId xmlns:p14="http://schemas.microsoft.com/office/powerpoint/2010/main" val="158976905"/>
      </p:ext>
    </p:extLst>
  </p:cSld>
</p:sld>
</file>

<file path=ppt/slides/slide6.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1B4E51A-6DDC-4E5A-A549-67958D589DB5}"/>
              </a:ext>
            </a:extLst>
          </p:cNvPr>
          <p:cNvSpPr>
            <a:spLocks xmlns:a="http://schemas.openxmlformats.org/drawingml/2006/main" noGrp="1"/>
          </p:cNvSpPr>
          <p:nvPr/>
        </p:nvSpPr>
        <p:spPr>
          <a:xfrm xmlns:a="http://schemas.openxmlformats.org/drawingml/2006/main">
            <a:off x="685800" y="438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D2C27"/>
                </a:solidFill>
                <a:latin typeface="Microsoft YaHei"/>
                <a:ea typeface="Microsoft YaHei"/>
                <a:cs typeface="Microsoft YaHei"/>
              </a:defRPr>
            </a:pPr>
            <a:r>
              <a:rPr sz="3300" b="1">
                <a:solidFill>
                  <a:srgbClr val="1D2C27"/>
                </a:solidFill>
                <a:latin typeface="Microsoft YaHei"/>
                <a:ea typeface="Microsoft YaHei"/>
                <a:cs typeface="Microsoft YaHei"/>
              </a:rPr>
              <a:t>冲突判定与冲突图</a:t>
            </a:r>
          </a:p>
        </p:txBody>
      </p:sp>
      <p:sp>
        <p:nvSpPr>
          <p:cNvPr id="2" name="">
            <a:extLst xmlns:a="http://schemas.openxmlformats.org/drawingml/2006/main">
              <a:ext uri="{FF2B5EF4-FFF2-40B4-BE49-F238E27FC236}">
                <a16:creationId xmlns:a16="http://schemas.microsoft.com/office/drawing/2014/main" id="{A6123E9F-7F84-4E7A-BA6B-9FE04DD45356}"/>
              </a:ext>
            </a:extLst>
          </p:cNvPr>
          <p:cNvSpPr>
            <a:spLocks xmlns:a="http://schemas.openxmlformats.org/drawingml/2006/main" noGrp="1"/>
          </p:cNvSpPr>
          <p:nvPr/>
        </p:nvSpPr>
        <p:spPr>
          <a:xfrm xmlns:a="http://schemas.openxmlformats.org/drawingml/2006/main">
            <a:off x="11163300" y="64770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B6862"/>
                </a:solidFill>
                <a:latin typeface="Microsoft YaHei"/>
                <a:ea typeface="Microsoft YaHei"/>
                <a:cs typeface="Microsoft YaHei"/>
              </a:defRPr>
            </a:pPr>
            <a:r>
              <a:rPr sz="1200" b="0">
                <a:solidFill>
                  <a:srgbClr val="5B6862"/>
                </a:solidFill>
                <a:latin typeface="Microsoft YaHei"/>
                <a:ea typeface="Microsoft YaHei"/>
                <a:cs typeface="Microsoft YaHei"/>
              </a:rPr>
              <a:t>06</a:t>
            </a:r>
          </a:p>
        </p:txBody>
      </p:sp>
      <p:sp>
        <p:nvSpPr>
          <p:cNvPr id="3" name="">
            <a:extLst xmlns:a="http://schemas.openxmlformats.org/drawingml/2006/main">
              <a:ext uri="{FF2B5EF4-FFF2-40B4-BE49-F238E27FC236}">
                <a16:creationId xmlns:a16="http://schemas.microsoft.com/office/drawing/2014/main" id="{B256E16E-3FDB-419B-B83B-E570EB0AC66A}"/>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26A57"/>
                </a:solidFill>
                <a:latin typeface="Microsoft YaHei"/>
                <a:ea typeface="Microsoft YaHei"/>
                <a:cs typeface="Microsoft YaHei"/>
              </a:defRPr>
            </a:pPr>
            <a:r>
              <a:rPr sz="2700" b="1">
                <a:solidFill>
                  <a:srgbClr val="226A57"/>
                </a:solidFill>
                <a:latin typeface="Microsoft YaHei"/>
                <a:ea typeface="Microsoft YaHei"/>
                <a:cs typeface="Microsoft YaHei"/>
              </a:rPr>
              <a:t>时间冲突：A.timeBitmap &amp; B.timeBitmap ≠ 0</a:t>
            </a:r>
          </a:p>
        </p:txBody>
      </p:sp>
      <p:sp>
        <p:nvSpPr>
          <p:cNvPr id="4" name="">
            <a:extLst xmlns:a="http://schemas.openxmlformats.org/drawingml/2006/main">
              <a:ext uri="{FF2B5EF4-FFF2-40B4-BE49-F238E27FC236}">
                <a16:creationId xmlns:a16="http://schemas.microsoft.com/office/drawing/2014/main" id="{4936C913-7621-4B0E-B772-69527453D9F9}"/>
              </a:ext>
            </a:extLst>
          </p:cNvPr>
          <p:cNvSpPr>
            <a:spLocks xmlns:a="http://schemas.openxmlformats.org/drawingml/2006/main" noGrp="1"/>
          </p:cNvSpPr>
          <p:nvPr/>
        </p:nvSpPr>
        <p:spPr>
          <a:xfrm xmlns:a="http://schemas.openxmlformats.org/drawingml/2006/main">
            <a:off x="685800" y="21336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D2C27"/>
                </a:solidFill>
                <a:latin typeface="Microsoft YaHei"/>
                <a:ea typeface="Microsoft YaHei"/>
                <a:cs typeface="Microsoft YaHei"/>
              </a:defRPr>
            </a:pPr>
            <a:r>
              <a:rPr sz="2025" b="0">
                <a:solidFill>
                  <a:srgbClr val="1D2C27"/>
                </a:solidFill>
                <a:latin typeface="Microsoft YaHei"/>
                <a:ea typeface="Microsoft YaHei"/>
                <a:cs typeface="Microsoft YaHei"/>
              </a:rPr>
              <a:t>同为周一第1节，重叠发生在第5、7周</a:t>
            </a:r>
          </a:p>
        </p:txBody>
      </p:sp>
      <p:graphicFrame>
        <p:nvGraphicFramePr>
          <p:cNvPr id="15" name=""/>
          <p:cNvGraphicFramePr/>
          <p:nvPr/>
        </p:nvGraphicFramePr>
        <p:xfrm>
          <a:off xmlns:a="http://schemas.openxmlformats.org/drawingml/2006/main" x="685800" y="2867025"/>
          <a:ext xmlns:a="http://schemas.openxmlformats.org/drawingml/2006/main" cx="10820400" cy="1743075"/>
        </p:xfrm>
        <a:graphic xmlns:a="http://schemas.openxmlformats.org/drawingml/2006/main">
          <a:graphicData uri="http://schemas.openxmlformats.org/drawingml/2006/table">
            <a:tbl>
              <a:tblPr firstRow="1" firstCol="0" lastCol="0" bandRow="0" bandCol="0"/>
              <a:tblGrid>
                <a:gridCol w="2247900"/>
                <a:gridCol w="952500"/>
                <a:gridCol w="952500"/>
                <a:gridCol w="952500"/>
                <a:gridCol w="952500"/>
                <a:gridCol w="952500"/>
                <a:gridCol w="952500"/>
                <a:gridCol w="952500"/>
                <a:gridCol w="952500"/>
                <a:gridCol w="952500"/>
              </a:tblGrid>
              <a:tr h="581025">
                <a:tc>
                  <a:txBody>
                    <a:bodyPr/>
                    <a:lstStyle/>
                    <a:p>
                      <a:pPr algn="ctr"/>
                      <a:r>
                        <a:rPr sz="1875" b="1">
                          <a:solidFill>
                            <a:srgbClr val="1D2C27"/>
                          </a:solidFill>
                          <a:latin typeface="Microsoft YaHei"/>
                          <a:ea typeface="Microsoft YaHei"/>
                          <a:cs typeface="Microsoft YaHei"/>
                        </a:rPr>
                        <a:t>周次</a:t>
                      </a:r>
                    </a:p>
                  </a:txBody>
                  <a:tcPr marL="85725" marR="85725" marT="47625" marB="47625" anchor="ctr">
                    <a:solidFill>
                      <a:srgbClr val="E0EBE5"/>
                    </a:solidFill>
                  </a:tcPr>
                </a:tc>
                <a:tc>
                  <a:txBody>
                    <a:bodyPr/>
                    <a:lstStyle/>
                    <a:p>
                      <a:pPr algn="ctr"/>
                      <a:r>
                        <a:rPr sz="1875" b="1">
                          <a:solidFill>
                            <a:srgbClr val="1D2C27"/>
                          </a:solidFill>
                          <a:latin typeface="Microsoft YaHei"/>
                          <a:ea typeface="Microsoft YaHei"/>
                          <a:cs typeface="Microsoft YaHei"/>
                        </a:rPr>
                        <a:t>1</a:t>
                      </a:r>
                    </a:p>
                  </a:txBody>
                  <a:tcPr marL="85725" marR="85725" marT="47625" marB="47625" anchor="ctr">
                    <a:solidFill>
                      <a:srgbClr val="E0EBE5"/>
                    </a:solidFill>
                  </a:tcPr>
                </a:tc>
                <a:tc>
                  <a:txBody>
                    <a:bodyPr/>
                    <a:lstStyle/>
                    <a:p>
                      <a:pPr algn="ctr"/>
                      <a:r>
                        <a:rPr sz="1875" b="1">
                          <a:solidFill>
                            <a:srgbClr val="1D2C27"/>
                          </a:solidFill>
                          <a:latin typeface="Microsoft YaHei"/>
                          <a:ea typeface="Microsoft YaHei"/>
                          <a:cs typeface="Microsoft YaHei"/>
                        </a:rPr>
                        <a:t>2</a:t>
                      </a:r>
                    </a:p>
                  </a:txBody>
                  <a:tcPr marL="85725" marR="85725" marT="47625" marB="47625" anchor="ctr">
                    <a:solidFill>
                      <a:srgbClr val="E0EBE5"/>
                    </a:solidFill>
                  </a:tcPr>
                </a:tc>
                <a:tc>
                  <a:txBody>
                    <a:bodyPr/>
                    <a:lstStyle/>
                    <a:p>
                      <a:pPr algn="ctr"/>
                      <a:r>
                        <a:rPr sz="1875" b="1">
                          <a:solidFill>
                            <a:srgbClr val="1D2C27"/>
                          </a:solidFill>
                          <a:latin typeface="Microsoft YaHei"/>
                          <a:ea typeface="Microsoft YaHei"/>
                          <a:cs typeface="Microsoft YaHei"/>
                        </a:rPr>
                        <a:t>3</a:t>
                      </a:r>
                    </a:p>
                  </a:txBody>
                  <a:tcPr marL="85725" marR="85725" marT="47625" marB="47625" anchor="ctr">
                    <a:solidFill>
                      <a:srgbClr val="E0EBE5"/>
                    </a:solidFill>
                  </a:tcPr>
                </a:tc>
                <a:tc>
                  <a:txBody>
                    <a:bodyPr/>
                    <a:lstStyle/>
                    <a:p>
                      <a:pPr algn="ctr"/>
                      <a:r>
                        <a:rPr sz="1875" b="1">
                          <a:solidFill>
                            <a:srgbClr val="1D2C27"/>
                          </a:solidFill>
                          <a:latin typeface="Microsoft YaHei"/>
                          <a:ea typeface="Microsoft YaHei"/>
                          <a:cs typeface="Microsoft YaHei"/>
                        </a:rPr>
                        <a:t>4</a:t>
                      </a:r>
                    </a:p>
                  </a:txBody>
                  <a:tcPr marL="85725" marR="85725" marT="47625" marB="47625" anchor="ctr">
                    <a:solidFill>
                      <a:srgbClr val="E0EBE5"/>
                    </a:solidFill>
                  </a:tcPr>
                </a:tc>
                <a:tc>
                  <a:txBody>
                    <a:bodyPr/>
                    <a:lstStyle/>
                    <a:p>
                      <a:pPr algn="ctr"/>
                      <a:r>
                        <a:rPr sz="1875" b="1">
                          <a:solidFill>
                            <a:srgbClr val="1D2C27"/>
                          </a:solidFill>
                          <a:latin typeface="Microsoft YaHei"/>
                          <a:ea typeface="Microsoft YaHei"/>
                          <a:cs typeface="Microsoft YaHei"/>
                        </a:rPr>
                        <a:t>5</a:t>
                      </a:r>
                    </a:p>
                  </a:txBody>
                  <a:tcPr marL="85725" marR="85725" marT="47625" marB="47625" anchor="ctr">
                    <a:solidFill>
                      <a:srgbClr val="E0EBE5"/>
                    </a:solidFill>
                  </a:tcPr>
                </a:tc>
                <a:tc>
                  <a:txBody>
                    <a:bodyPr/>
                    <a:lstStyle/>
                    <a:p>
                      <a:pPr algn="ctr"/>
                      <a:r>
                        <a:rPr sz="1875" b="1">
                          <a:solidFill>
                            <a:srgbClr val="1D2C27"/>
                          </a:solidFill>
                          <a:latin typeface="Microsoft YaHei"/>
                          <a:ea typeface="Microsoft YaHei"/>
                          <a:cs typeface="Microsoft YaHei"/>
                        </a:rPr>
                        <a:t>6</a:t>
                      </a:r>
                    </a:p>
                  </a:txBody>
                  <a:tcPr marL="85725" marR="85725" marT="47625" marB="47625" anchor="ctr">
                    <a:solidFill>
                      <a:srgbClr val="E0EBE5"/>
                    </a:solidFill>
                  </a:tcPr>
                </a:tc>
                <a:tc>
                  <a:txBody>
                    <a:bodyPr/>
                    <a:lstStyle/>
                    <a:p>
                      <a:pPr algn="ctr"/>
                      <a:r>
                        <a:rPr sz="1875" b="1">
                          <a:solidFill>
                            <a:srgbClr val="1D2C27"/>
                          </a:solidFill>
                          <a:latin typeface="Microsoft YaHei"/>
                          <a:ea typeface="Microsoft YaHei"/>
                          <a:cs typeface="Microsoft YaHei"/>
                        </a:rPr>
                        <a:t>7</a:t>
                      </a:r>
                    </a:p>
                  </a:txBody>
                  <a:tcPr marL="85725" marR="85725" marT="47625" marB="47625" anchor="ctr">
                    <a:solidFill>
                      <a:srgbClr val="E0EBE5"/>
                    </a:solidFill>
                  </a:tcPr>
                </a:tc>
                <a:tc>
                  <a:txBody>
                    <a:bodyPr/>
                    <a:lstStyle/>
                    <a:p>
                      <a:pPr algn="ctr"/>
                      <a:r>
                        <a:rPr sz="1875" b="1">
                          <a:solidFill>
                            <a:srgbClr val="1D2C27"/>
                          </a:solidFill>
                          <a:latin typeface="Microsoft YaHei"/>
                          <a:ea typeface="Microsoft YaHei"/>
                          <a:cs typeface="Microsoft YaHei"/>
                        </a:rPr>
                        <a:t>8</a:t>
                      </a:r>
                    </a:p>
                  </a:txBody>
                  <a:tcPr marL="85725" marR="85725" marT="47625" marB="47625" anchor="ctr">
                    <a:solidFill>
                      <a:srgbClr val="E0EBE5"/>
                    </a:solidFill>
                  </a:tcPr>
                </a:tc>
                <a:tc>
                  <a:txBody>
                    <a:bodyPr/>
                    <a:lstStyle/>
                    <a:p>
                      <a:pPr algn="ctr"/>
                      <a:r>
                        <a:rPr sz="1875" b="1">
                          <a:solidFill>
                            <a:srgbClr val="1D2C27"/>
                          </a:solidFill>
                          <a:latin typeface="Microsoft YaHei"/>
                          <a:ea typeface="Microsoft YaHei"/>
                          <a:cs typeface="Microsoft YaHei"/>
                        </a:rPr>
                        <a:t>9</a:t>
                      </a:r>
                    </a:p>
                  </a:txBody>
                  <a:tcPr marL="85725" marR="85725" marT="47625" marB="47625" anchor="ctr">
                    <a:solidFill>
                      <a:srgbClr val="E0EBE5"/>
                    </a:solidFill>
                  </a:tcPr>
                </a:tc>
              </a:tr>
              <a:tr h="581025">
                <a:tc>
                  <a:txBody>
                    <a:bodyPr/>
                    <a:lstStyle/>
                    <a:p>
                      <a:pPr algn="ctr"/>
                      <a:r>
                        <a:rPr sz="1725" b="0">
                          <a:solidFill>
                            <a:srgbClr val="1D2C27"/>
                          </a:solidFill>
                          <a:latin typeface="Microsoft YaHei"/>
                          <a:ea typeface="Microsoft YaHei"/>
                          <a:cs typeface="Microsoft YaHei"/>
                        </a:rPr>
                        <a:t>操作系统 / 张老师</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1</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1</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1</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1</a:t>
                      </a:r>
                    </a:p>
                  </a:txBody>
                  <a:tcPr marL="85725" marR="85725" marT="47625" marB="47625" anchor="ctr">
                    <a:solidFill>
                      <a:srgbClr val="FFFFFF"/>
                    </a:solidFill>
                  </a:tcPr>
                </a:tc>
                <a:tc>
                  <a:txBody>
                    <a:bodyPr/>
                    <a:lstStyle/>
                    <a:p>
                      <a:pPr algn="ctr"/>
                      <a:r>
                        <a:rPr sz="1875" b="1">
                          <a:solidFill>
                            <a:srgbClr val="FFFFFF"/>
                          </a:solidFill>
                          <a:latin typeface="Microsoft YaHei"/>
                          <a:ea typeface="Microsoft YaHei"/>
                          <a:cs typeface="Microsoft YaHei"/>
                        </a:rPr>
                        <a:t>1</a:t>
                      </a:r>
                    </a:p>
                  </a:txBody>
                  <a:tcPr marL="85725" marR="85725" marT="47625" marB="47625" anchor="ctr">
                    <a:solidFill>
                      <a:srgbClr val="226A57"/>
                    </a:solidFill>
                  </a:tcPr>
                </a:tc>
                <a:tc>
                  <a:txBody>
                    <a:bodyPr/>
                    <a:lstStyle/>
                    <a:p>
                      <a:pPr algn="ctr"/>
                      <a:r>
                        <a:rPr sz="1875" b="0">
                          <a:solidFill>
                            <a:srgbClr val="1D2C27"/>
                          </a:solidFill>
                          <a:latin typeface="Microsoft YaHei"/>
                          <a:ea typeface="Microsoft YaHei"/>
                          <a:cs typeface="Microsoft YaHei"/>
                        </a:rPr>
                        <a:t>0</a:t>
                      </a:r>
                    </a:p>
                  </a:txBody>
                  <a:tcPr marL="85725" marR="85725" marT="47625" marB="47625" anchor="ctr">
                    <a:solidFill>
                      <a:srgbClr val="FFFFFF"/>
                    </a:solidFill>
                  </a:tcPr>
                </a:tc>
                <a:tc>
                  <a:txBody>
                    <a:bodyPr/>
                    <a:lstStyle/>
                    <a:p>
                      <a:pPr algn="ctr"/>
                      <a:r>
                        <a:rPr sz="1875" b="1">
                          <a:solidFill>
                            <a:srgbClr val="FFFFFF"/>
                          </a:solidFill>
                          <a:latin typeface="Microsoft YaHei"/>
                          <a:ea typeface="Microsoft YaHei"/>
                          <a:cs typeface="Microsoft YaHei"/>
                        </a:rPr>
                        <a:t>1</a:t>
                      </a:r>
                    </a:p>
                  </a:txBody>
                  <a:tcPr marL="85725" marR="85725" marT="47625" marB="47625" anchor="ctr">
                    <a:solidFill>
                      <a:srgbClr val="226A57"/>
                    </a:solidFill>
                  </a:tcPr>
                </a:tc>
                <a:tc>
                  <a:txBody>
                    <a:bodyPr/>
                    <a:lstStyle/>
                    <a:p>
                      <a:pPr algn="ctr"/>
                      <a:r>
                        <a:rPr sz="1875" b="0">
                          <a:solidFill>
                            <a:srgbClr val="1D2C27"/>
                          </a:solidFill>
                          <a:latin typeface="Microsoft YaHei"/>
                          <a:ea typeface="Microsoft YaHei"/>
                          <a:cs typeface="Microsoft YaHei"/>
                        </a:rPr>
                        <a:t>1</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1</a:t>
                      </a:r>
                    </a:p>
                  </a:txBody>
                  <a:tcPr marL="85725" marR="85725" marT="47625" marB="47625" anchor="ctr">
                    <a:solidFill>
                      <a:srgbClr val="FFFFFF"/>
                    </a:solidFill>
                  </a:tcPr>
                </a:tc>
              </a:tr>
              <a:tr h="581025">
                <a:tc>
                  <a:txBody>
                    <a:bodyPr/>
                    <a:lstStyle/>
                    <a:p>
                      <a:pPr algn="ctr"/>
                      <a:r>
                        <a:rPr sz="1725" b="0">
                          <a:solidFill>
                            <a:srgbClr val="1D2C27"/>
                          </a:solidFill>
                          <a:latin typeface="Microsoft YaHei"/>
                          <a:ea typeface="Microsoft YaHei"/>
                          <a:cs typeface="Microsoft YaHei"/>
                        </a:rPr>
                        <a:t>数据库 / 王老师</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0</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0</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0</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0</a:t>
                      </a:r>
                    </a:p>
                  </a:txBody>
                  <a:tcPr marL="85725" marR="85725" marT="47625" marB="47625" anchor="ctr">
                    <a:solidFill>
                      <a:srgbClr val="FFFFFF"/>
                    </a:solidFill>
                  </a:tcPr>
                </a:tc>
                <a:tc>
                  <a:txBody>
                    <a:bodyPr/>
                    <a:lstStyle/>
                    <a:p>
                      <a:pPr algn="ctr"/>
                      <a:r>
                        <a:rPr sz="1875" b="1">
                          <a:solidFill>
                            <a:srgbClr val="FFFFFF"/>
                          </a:solidFill>
                          <a:latin typeface="Microsoft YaHei"/>
                          <a:ea typeface="Microsoft YaHei"/>
                          <a:cs typeface="Microsoft YaHei"/>
                        </a:rPr>
                        <a:t>1</a:t>
                      </a:r>
                    </a:p>
                  </a:txBody>
                  <a:tcPr marL="85725" marR="85725" marT="47625" marB="47625" anchor="ctr">
                    <a:solidFill>
                      <a:srgbClr val="226A57"/>
                    </a:solidFill>
                  </a:tcPr>
                </a:tc>
                <a:tc>
                  <a:txBody>
                    <a:bodyPr/>
                    <a:lstStyle/>
                    <a:p>
                      <a:pPr algn="ctr"/>
                      <a:r>
                        <a:rPr sz="1875" b="0">
                          <a:solidFill>
                            <a:srgbClr val="1D2C27"/>
                          </a:solidFill>
                          <a:latin typeface="Microsoft YaHei"/>
                          <a:ea typeface="Microsoft YaHei"/>
                          <a:cs typeface="Microsoft YaHei"/>
                        </a:rPr>
                        <a:t>1</a:t>
                      </a:r>
                    </a:p>
                  </a:txBody>
                  <a:tcPr marL="85725" marR="85725" marT="47625" marB="47625" anchor="ctr">
                    <a:solidFill>
                      <a:srgbClr val="FFFFFF"/>
                    </a:solidFill>
                  </a:tcPr>
                </a:tc>
                <a:tc>
                  <a:txBody>
                    <a:bodyPr/>
                    <a:lstStyle/>
                    <a:p>
                      <a:pPr algn="ctr"/>
                      <a:r>
                        <a:rPr sz="1875" b="1">
                          <a:solidFill>
                            <a:srgbClr val="FFFFFF"/>
                          </a:solidFill>
                          <a:latin typeface="Microsoft YaHei"/>
                          <a:ea typeface="Microsoft YaHei"/>
                          <a:cs typeface="Microsoft YaHei"/>
                        </a:rPr>
                        <a:t>1</a:t>
                      </a:r>
                    </a:p>
                  </a:txBody>
                  <a:tcPr marL="85725" marR="85725" marT="47625" marB="47625" anchor="ctr">
                    <a:solidFill>
                      <a:srgbClr val="226A57"/>
                    </a:solidFill>
                  </a:tcPr>
                </a:tc>
                <a:tc>
                  <a:txBody>
                    <a:bodyPr/>
                    <a:lstStyle/>
                    <a:p>
                      <a:pPr algn="ctr"/>
                      <a:r>
                        <a:rPr sz="1875" b="0">
                          <a:solidFill>
                            <a:srgbClr val="1D2C27"/>
                          </a:solidFill>
                          <a:latin typeface="Microsoft YaHei"/>
                          <a:ea typeface="Microsoft YaHei"/>
                          <a:cs typeface="Microsoft YaHei"/>
                        </a:rPr>
                        <a:t>0</a:t>
                      </a:r>
                    </a:p>
                  </a:txBody>
                  <a:tcPr marL="85725" marR="85725" marT="47625" marB="47625" anchor="ctr">
                    <a:solidFill>
                      <a:srgbClr val="FFFFFF"/>
                    </a:solidFill>
                  </a:tcPr>
                </a:tc>
                <a:tc>
                  <a:txBody>
                    <a:bodyPr/>
                    <a:lstStyle/>
                    <a:p>
                      <a:pPr algn="ctr"/>
                      <a:r>
                        <a:rPr sz="1875" b="0">
                          <a:solidFill>
                            <a:srgbClr val="1D2C27"/>
                          </a:solidFill>
                          <a:latin typeface="Microsoft YaHei"/>
                          <a:ea typeface="Microsoft YaHei"/>
                          <a:cs typeface="Microsoft YaHei"/>
                        </a:rPr>
                        <a:t>0</a:t>
                      </a:r>
                    </a:p>
                  </a:txBody>
                  <a:tcPr marL="85725" marR="85725" marT="47625" marB="4762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99FDBFB-493C-476A-8126-B8BC6615A215}"/>
              </a:ext>
            </a:extLst>
          </p:cNvPr>
          <p:cNvSpPr>
            <a:spLocks xmlns:a="http://schemas.openxmlformats.org/drawingml/2006/main" noGrp="1"/>
          </p:cNvSpPr>
          <p:nvPr/>
        </p:nvSpPr>
        <p:spPr>
          <a:xfrm xmlns:a="http://schemas.openxmlformats.org/drawingml/2006/main">
            <a:off x="685800" y="50768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D2C27"/>
                </a:solidFill>
                <a:latin typeface="Microsoft YaHei"/>
                <a:ea typeface="Microsoft YaHei"/>
                <a:cs typeface="Microsoft YaHei"/>
              </a:defRPr>
            </a:pPr>
            <a:r>
              <a:rPr sz="2175" b="1">
                <a:solidFill>
                  <a:srgbClr val="1D2C27"/>
                </a:solidFill>
                <a:latin typeface="Microsoft YaHei"/>
                <a:ea typeface="Microsoft YaHei"/>
                <a:cs typeface="Microsoft YaHei"/>
              </a:rPr>
              <a:t>周次不重合</a:t>
            </a:r>
          </a:p>
        </p:txBody>
      </p:sp>
      <p:sp>
        <p:nvSpPr>
          <p:cNvPr id="7" name="">
            <a:extLst xmlns:a="http://schemas.openxmlformats.org/drawingml/2006/main">
              <a:ext uri="{FF2B5EF4-FFF2-40B4-BE49-F238E27FC236}">
                <a16:creationId xmlns:a16="http://schemas.microsoft.com/office/drawing/2014/main" id="{35490034-C6B3-40C4-B66D-F5DF74D7F64C}"/>
              </a:ext>
            </a:extLst>
          </p:cNvPr>
          <p:cNvSpPr>
            <a:spLocks xmlns:a="http://schemas.openxmlformats.org/drawingml/2006/main" noGrp="1"/>
          </p:cNvSpPr>
          <p:nvPr/>
        </p:nvSpPr>
        <p:spPr>
          <a:xfrm xmlns:a="http://schemas.openxmlformats.org/drawingml/2006/main">
            <a:off x="685800" y="5610225"/>
            <a:ext cx="4572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B6862"/>
                </a:solidFill>
                <a:latin typeface="Microsoft YaHei"/>
                <a:ea typeface="Microsoft YaHei"/>
                <a:cs typeface="Microsoft YaHei"/>
              </a:defRPr>
            </a:pPr>
            <a:r>
              <a:rPr sz="1875" b="0">
                <a:solidFill>
                  <a:srgbClr val="5B6862"/>
                </a:solidFill>
                <a:latin typeface="Microsoft YaHei"/>
                <a:ea typeface="Microsoft YaHei"/>
                <a:cs typeface="Microsoft YaHei"/>
              </a:rPr>
              <a:t>同一天同一节也可以同时选</a:t>
            </a:r>
          </a:p>
        </p:txBody>
      </p:sp>
      <p:sp>
        <p:nvSpPr>
          <p:cNvPr id="8" name="">
            <a:extLst xmlns:a="http://schemas.openxmlformats.org/drawingml/2006/main">
              <a:ext uri="{FF2B5EF4-FFF2-40B4-BE49-F238E27FC236}">
                <a16:creationId xmlns:a16="http://schemas.microsoft.com/office/drawing/2014/main" id="{738FAD25-51A8-4316-BB6F-1728D44CE726}"/>
              </a:ext>
            </a:extLst>
          </p:cNvPr>
          <p:cNvSpPr>
            <a:spLocks xmlns:a="http://schemas.openxmlformats.org/drawingml/2006/main" noGrp="1"/>
          </p:cNvSpPr>
          <p:nvPr/>
        </p:nvSpPr>
        <p:spPr>
          <a:xfrm xmlns:a="http://schemas.openxmlformats.org/drawingml/2006/main">
            <a:off x="6610350" y="5076825"/>
            <a:ext cx="4895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D2C27"/>
                </a:solidFill>
                <a:latin typeface="Microsoft YaHei"/>
                <a:ea typeface="Microsoft YaHei"/>
                <a:cs typeface="Microsoft YaHei"/>
              </a:defRPr>
            </a:pPr>
            <a:r>
              <a:rPr sz="2175" b="1">
                <a:solidFill>
                  <a:srgbClr val="1D2C27"/>
                </a:solidFill>
                <a:latin typeface="Microsoft YaHei"/>
                <a:ea typeface="Microsoft YaHei"/>
                <a:cs typeface="Microsoft YaHei"/>
              </a:rPr>
              <a:t>同课程互斥</a:t>
            </a:r>
          </a:p>
        </p:txBody>
      </p:sp>
      <p:sp>
        <p:nvSpPr>
          <p:cNvPr id="9" name="">
            <a:extLst xmlns:a="http://schemas.openxmlformats.org/drawingml/2006/main">
              <a:ext uri="{FF2B5EF4-FFF2-40B4-BE49-F238E27FC236}">
                <a16:creationId xmlns:a16="http://schemas.microsoft.com/office/drawing/2014/main" id="{08E701A1-C784-494D-A963-0F1EC800D9F0}"/>
              </a:ext>
            </a:extLst>
          </p:cNvPr>
          <p:cNvSpPr>
            <a:spLocks xmlns:a="http://schemas.openxmlformats.org/drawingml/2006/main" noGrp="1"/>
          </p:cNvSpPr>
          <p:nvPr/>
        </p:nvSpPr>
        <p:spPr>
          <a:xfrm xmlns:a="http://schemas.openxmlformats.org/drawingml/2006/main">
            <a:off x="6610350" y="5610225"/>
            <a:ext cx="48958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B6862"/>
                </a:solidFill>
                <a:latin typeface="Microsoft YaHei"/>
                <a:ea typeface="Microsoft YaHei"/>
                <a:cs typeface="Microsoft YaHei"/>
              </a:defRPr>
            </a:pPr>
            <a:r>
              <a:rPr sz="1875" b="0">
                <a:solidFill>
                  <a:srgbClr val="5B6862"/>
                </a:solidFill>
                <a:latin typeface="Microsoft YaHei"/>
                <a:ea typeface="Microsoft YaHei"/>
                <a:cs typeface="Microsoft YaHei"/>
              </a:rPr>
              <a:t>不同教学班之间只能选一个</a:t>
            </a:r>
          </a:p>
        </p:txBody>
      </p:sp>
      <p:sp>
        <p:nvSpPr>
          <p:cNvPr id="10" name="">
            <a:extLst xmlns:a="http://schemas.openxmlformats.org/drawingml/2006/main">
              <a:ext uri="{FF2B5EF4-FFF2-40B4-BE49-F238E27FC236}">
                <a16:creationId xmlns:a16="http://schemas.microsoft.com/office/drawing/2014/main" id="{8E1C39CE-7297-4B12-A45E-D49F8A477E28}"/>
              </a:ext>
            </a:extLst>
          </p:cNvPr>
          <p:cNvSpPr>
            <a:spLocks xmlns:a="http://schemas.openxmlformats.org/drawingml/2006/main" noGrp="1"/>
          </p:cNvSpPr>
          <p:nvPr/>
        </p:nvSpPr>
        <p:spPr>
          <a:xfrm xmlns:a="http://schemas.openxmlformats.org/drawingml/2006/main">
            <a:off x="685800" y="62007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226A57"/>
                </a:solidFill>
                <a:latin typeface="Microsoft YaHei"/>
                <a:ea typeface="Microsoft YaHei"/>
                <a:cs typeface="Microsoft YaHei"/>
              </a:defRPr>
            </a:pPr>
            <a:r>
              <a:rPr sz="1725" b="0">
                <a:solidFill>
                  <a:srgbClr val="226A57"/>
                </a:solidFill>
                <a:latin typeface="Microsoft YaHei"/>
                <a:ea typeface="Microsoft YaHei"/>
                <a:cs typeface="Microsoft YaHei"/>
              </a:rPr>
              <a:t>邻接表保存原因和具体重叠时间，增删改后重建冲突图</a:t>
            </a:r>
          </a:p>
        </p:txBody>
      </p:sp>
    </p:spTree>
    <p:extLst>
      <p:ext uri="{BB962C8B-B14F-4D97-AF65-F5344CB8AC3E}">
        <p14:creationId xmlns:p14="http://schemas.microsoft.com/office/powerpoint/2010/main" val="91065310"/>
      </p:ext>
    </p:extLst>
  </p:cSld>
</p:sld>
</file>

<file path=ppt/slides/slide7.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C147186-759D-4F1C-A3C6-DCCE383398A3}"/>
              </a:ext>
            </a:extLst>
          </p:cNvPr>
          <p:cNvSpPr>
            <a:spLocks xmlns:a="http://schemas.openxmlformats.org/drawingml/2006/main" noGrp="1"/>
          </p:cNvSpPr>
          <p:nvPr/>
        </p:nvSpPr>
        <p:spPr>
          <a:xfrm xmlns:a="http://schemas.openxmlformats.org/drawingml/2006/main">
            <a:off x="685800" y="438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D2C27"/>
                </a:solidFill>
                <a:latin typeface="Microsoft YaHei"/>
                <a:ea typeface="Microsoft YaHei"/>
                <a:cs typeface="Microsoft YaHei"/>
              </a:defRPr>
            </a:pPr>
            <a:r>
              <a:rPr sz="3300" b="1">
                <a:solidFill>
                  <a:srgbClr val="1D2C27"/>
                </a:solidFill>
                <a:latin typeface="Microsoft YaHei"/>
                <a:ea typeface="Microsoft YaHei"/>
                <a:cs typeface="Microsoft YaHei"/>
              </a:rPr>
              <a:t>组合搜索与回溯恢复</a:t>
            </a:r>
          </a:p>
        </p:txBody>
      </p:sp>
      <p:sp>
        <p:nvSpPr>
          <p:cNvPr id="2" name="">
            <a:extLst xmlns:a="http://schemas.openxmlformats.org/drawingml/2006/main">
              <a:ext uri="{FF2B5EF4-FFF2-40B4-BE49-F238E27FC236}">
                <a16:creationId xmlns:a16="http://schemas.microsoft.com/office/drawing/2014/main" id="{29B07DAA-78A4-4B44-BEF3-E0874391B2B2}"/>
              </a:ext>
            </a:extLst>
          </p:cNvPr>
          <p:cNvSpPr>
            <a:spLocks xmlns:a="http://schemas.openxmlformats.org/drawingml/2006/main" noGrp="1"/>
          </p:cNvSpPr>
          <p:nvPr/>
        </p:nvSpPr>
        <p:spPr>
          <a:xfrm xmlns:a="http://schemas.openxmlformats.org/drawingml/2006/main">
            <a:off x="11163300" y="64770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B6862"/>
                </a:solidFill>
                <a:latin typeface="Microsoft YaHei"/>
                <a:ea typeface="Microsoft YaHei"/>
                <a:cs typeface="Microsoft YaHei"/>
              </a:defRPr>
            </a:pPr>
            <a:r>
              <a:rPr sz="1200" b="0">
                <a:solidFill>
                  <a:srgbClr val="5B6862"/>
                </a:solidFill>
                <a:latin typeface="Microsoft YaHei"/>
                <a:ea typeface="Microsoft YaHei"/>
                <a:cs typeface="Microsoft YaHei"/>
              </a:rPr>
              <a:t>07</a:t>
            </a:r>
          </a:p>
        </p:txBody>
      </p:sp>
      <p:sp>
        <p:nvSpPr>
          <p:cNvPr id="3" name="">
            <a:extLst xmlns:a="http://schemas.openxmlformats.org/drawingml/2006/main">
              <a:ext uri="{FF2B5EF4-FFF2-40B4-BE49-F238E27FC236}">
                <a16:creationId xmlns:a16="http://schemas.microsoft.com/office/drawing/2014/main" id="{5DCF256F-9752-488A-98B9-BF8DD7E1E868}"/>
              </a:ext>
            </a:extLst>
          </p:cNvPr>
          <p:cNvSpPr>
            <a:spLocks xmlns:a="http://schemas.openxmlformats.org/drawingml/2006/main" noGrp="1"/>
          </p:cNvSpPr>
          <p:nvPr/>
        </p:nvSpPr>
        <p:spPr>
          <a:xfrm xmlns:a="http://schemas.openxmlformats.org/drawingml/2006/main">
            <a:off x="685800" y="1790700"/>
            <a:ext cx="4143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D2C27"/>
                </a:solidFill>
                <a:latin typeface="Microsoft YaHei"/>
                <a:ea typeface="Microsoft YaHei"/>
                <a:cs typeface="Microsoft YaHei"/>
              </a:defRPr>
            </a:pPr>
            <a:r>
              <a:rPr sz="2400" b="1">
                <a:solidFill>
                  <a:srgbClr val="1D2C27"/>
                </a:solidFill>
                <a:latin typeface="Microsoft YaHei"/>
                <a:ea typeface="Microsoft YaHei"/>
                <a:cs typeface="Microsoft YaHei"/>
              </a:rPr>
              <a:t>DFS 回溯</a:t>
            </a:r>
          </a:p>
        </p:txBody>
      </p:sp>
      <p:sp>
        <p:nvSpPr>
          <p:cNvPr id="4" name="">
            <a:extLst xmlns:a="http://schemas.openxmlformats.org/drawingml/2006/main">
              <a:ext uri="{FF2B5EF4-FFF2-40B4-BE49-F238E27FC236}">
                <a16:creationId xmlns:a16="http://schemas.microsoft.com/office/drawing/2014/main" id="{D58B474F-10B0-49F6-BDE3-A5BF03B98861}"/>
              </a:ext>
            </a:extLst>
          </p:cNvPr>
          <p:cNvSpPr>
            <a:spLocks xmlns:a="http://schemas.openxmlformats.org/drawingml/2006/main" noGrp="1"/>
          </p:cNvSpPr>
          <p:nvPr/>
        </p:nvSpPr>
        <p:spPr>
          <a:xfrm xmlns:a="http://schemas.openxmlformats.org/drawingml/2006/main">
            <a:off x="685800" y="2333625"/>
            <a:ext cx="4143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逐组尝试教学班</a:t>
            </a:r>
          </a:p>
        </p:txBody>
      </p:sp>
      <p:sp>
        <p:nvSpPr>
          <p:cNvPr id="5" name="">
            <a:extLst xmlns:a="http://schemas.openxmlformats.org/drawingml/2006/main">
              <a:ext uri="{FF2B5EF4-FFF2-40B4-BE49-F238E27FC236}">
                <a16:creationId xmlns:a16="http://schemas.microsoft.com/office/drawing/2014/main" id="{679D4723-5209-4B8B-961C-B4605E04ABFF}"/>
              </a:ext>
            </a:extLst>
          </p:cNvPr>
          <p:cNvSpPr>
            <a:spLocks xmlns:a="http://schemas.openxmlformats.org/drawingml/2006/main" noGrp="1"/>
          </p:cNvSpPr>
          <p:nvPr/>
        </p:nvSpPr>
        <p:spPr>
          <a:xfrm xmlns:a="http://schemas.openxmlformats.org/drawingml/2006/main">
            <a:off x="685800" y="3086100"/>
            <a:ext cx="4143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D2C27"/>
                </a:solidFill>
                <a:latin typeface="Microsoft YaHei"/>
                <a:ea typeface="Microsoft YaHei"/>
                <a:cs typeface="Microsoft YaHei"/>
              </a:defRPr>
            </a:pPr>
            <a:r>
              <a:rPr sz="2400" b="1">
                <a:solidFill>
                  <a:srgbClr val="1D2C27"/>
                </a:solidFill>
                <a:latin typeface="Microsoft YaHei"/>
                <a:ea typeface="Microsoft YaHei"/>
                <a:cs typeface="Microsoft YaHei"/>
              </a:rPr>
              <a:t>动态 MRV</a:t>
            </a:r>
          </a:p>
        </p:txBody>
      </p:sp>
      <p:sp>
        <p:nvSpPr>
          <p:cNvPr id="6" name="">
            <a:extLst xmlns:a="http://schemas.openxmlformats.org/drawingml/2006/main">
              <a:ext uri="{FF2B5EF4-FFF2-40B4-BE49-F238E27FC236}">
                <a16:creationId xmlns:a16="http://schemas.microsoft.com/office/drawing/2014/main" id="{A3D5C1AB-3C2B-4015-A274-321BFCD8F1F9}"/>
              </a:ext>
            </a:extLst>
          </p:cNvPr>
          <p:cNvSpPr>
            <a:spLocks xmlns:a="http://schemas.openxmlformats.org/drawingml/2006/main" noGrp="1"/>
          </p:cNvSpPr>
          <p:nvPr/>
        </p:nvSpPr>
        <p:spPr>
          <a:xfrm xmlns:a="http://schemas.openxmlformats.org/drawingml/2006/main">
            <a:off x="685800" y="362902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优先处理合法候选最少的分组</a:t>
            </a:r>
          </a:p>
        </p:txBody>
      </p:sp>
      <p:sp>
        <p:nvSpPr>
          <p:cNvPr id="7" name="">
            <a:extLst xmlns:a="http://schemas.openxmlformats.org/drawingml/2006/main">
              <a:ext uri="{FF2B5EF4-FFF2-40B4-BE49-F238E27FC236}">
                <a16:creationId xmlns:a16="http://schemas.microsoft.com/office/drawing/2014/main" id="{31D155DE-3BBE-4929-8DDD-26D3B44254CF}"/>
              </a:ext>
            </a:extLst>
          </p:cNvPr>
          <p:cNvSpPr>
            <a:spLocks xmlns:a="http://schemas.openxmlformats.org/drawingml/2006/main" noGrp="1"/>
          </p:cNvSpPr>
          <p:nvPr/>
        </p:nvSpPr>
        <p:spPr>
          <a:xfrm xmlns:a="http://schemas.openxmlformats.org/drawingml/2006/main">
            <a:off x="685800" y="4591050"/>
            <a:ext cx="4143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226A57"/>
                </a:solidFill>
                <a:latin typeface="Microsoft YaHei"/>
                <a:ea typeface="Microsoft YaHei"/>
                <a:cs typeface="Microsoft YaHei"/>
              </a:defRPr>
            </a:pPr>
            <a:r>
              <a:rPr sz="2400" b="1">
                <a:solidFill>
                  <a:srgbClr val="226A57"/>
                </a:solidFill>
                <a:latin typeface="Microsoft YaHei"/>
                <a:ea typeface="Microsoft YaHei"/>
                <a:cs typeface="Microsoft YaHei"/>
              </a:rPr>
              <a:t>前向检查</a:t>
            </a:r>
          </a:p>
        </p:txBody>
      </p:sp>
      <p:sp>
        <p:nvSpPr>
          <p:cNvPr id="8" name="">
            <a:extLst xmlns:a="http://schemas.openxmlformats.org/drawingml/2006/main">
              <a:ext uri="{FF2B5EF4-FFF2-40B4-BE49-F238E27FC236}">
                <a16:creationId xmlns:a16="http://schemas.microsoft.com/office/drawing/2014/main" id="{5365836B-BEEF-4A27-822B-B2C2BDC65717}"/>
              </a:ext>
            </a:extLst>
          </p:cNvPr>
          <p:cNvSpPr>
            <a:spLocks xmlns:a="http://schemas.openxmlformats.org/drawingml/2006/main" noGrp="1"/>
          </p:cNvSpPr>
          <p:nvPr/>
        </p:nvSpPr>
        <p:spPr>
          <a:xfrm xmlns:a="http://schemas.openxmlformats.org/drawingml/2006/main">
            <a:off x="685800" y="5133975"/>
            <a:ext cx="4143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提前排除未来冲突候选</a:t>
            </a:r>
          </a:p>
          <a:p xmlns:a="http://schemas.openxmlformats.org/drawingml/2006/main">
            <a:pPr algn="l">
              <a:defRPr sz="1950" b="0">
                <a:solidFill>
                  <a:srgbClr val="5B6862"/>
                </a:solidFill>
                <a:latin typeface="Microsoft YaHei"/>
                <a:ea typeface="Microsoft YaHei"/>
                <a:cs typeface="Microsoft YaHei"/>
              </a:defRPr>
            </a:pPr>
            <a:r>
              <a:rPr sz="1950" b="0">
                <a:solidFill>
                  <a:srgbClr val="5B6862"/>
                </a:solidFill>
                <a:latin typeface="Microsoft YaHei"/>
                <a:ea typeface="Microsoft YaHei"/>
                <a:cs typeface="Microsoft YaHei"/>
              </a:rPr>
              <a:t>空域时立即回退</a:t>
            </a:r>
          </a:p>
        </p:txBody>
      </p:sp>
      <p:sp>
        <p:nvSpPr>
          <p:cNvPr id="9" name="">
            <a:extLst xmlns:a="http://schemas.openxmlformats.org/drawingml/2006/main">
              <a:ext uri="{FF2B5EF4-FFF2-40B4-BE49-F238E27FC236}">
                <a16:creationId xmlns:a16="http://schemas.microsoft.com/office/drawing/2014/main" id="{FF1FC407-ADFA-4795-B6F5-7DA610E5F746}"/>
              </a:ext>
            </a:extLst>
          </p:cNvPr>
          <p:cNvSpPr>
            <a:spLocks xmlns:a="http://schemas.openxmlformats.org/drawingml/2006/main" noGrp="1"/>
          </p:cNvSpPr>
          <p:nvPr/>
        </p:nvSpPr>
        <p:spPr>
          <a:xfrm xmlns:a="http://schemas.openxmlformats.org/drawingml/2006/main">
            <a:off x="5429250" y="1800225"/>
            <a:ext cx="60769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D2C27"/>
                </a:solidFill>
                <a:latin typeface="Microsoft YaHei"/>
                <a:ea typeface="Microsoft YaHei"/>
                <a:cs typeface="Microsoft YaHei"/>
              </a:defRPr>
            </a:pPr>
            <a:r>
              <a:rPr sz="2025" b="0">
                <a:solidFill>
                  <a:srgbClr val="1D2C27"/>
                </a:solidFill>
                <a:latin typeface="Microsoft YaHei"/>
                <a:ea typeface="Microsoft YaHei"/>
                <a:cs typeface="Microsoft YaHei"/>
              </a:rPr>
              <a:t>必选课程 → 锁定教学班 → 禁止时间</a:t>
            </a:r>
          </a:p>
        </p:txBody>
      </p:sp>
      <p:sp>
        <p:nvSpPr>
          <p:cNvPr id="10" name="">
            <a:extLst xmlns:a="http://schemas.openxmlformats.org/drawingml/2006/main">
              <a:ext uri="{FF2B5EF4-FFF2-40B4-BE49-F238E27FC236}">
                <a16:creationId xmlns:a16="http://schemas.microsoft.com/office/drawing/2014/main" id="{C6674557-38A6-42BD-9967-06C557280697}"/>
              </a:ext>
            </a:extLst>
          </p:cNvPr>
          <p:cNvSpPr>
            <a:spLocks xmlns:a="http://schemas.openxmlformats.org/drawingml/2006/main" noGrp="1"/>
          </p:cNvSpPr>
          <p:nvPr/>
        </p:nvSpPr>
        <p:spPr>
          <a:xfrm xmlns:a="http://schemas.openxmlformats.org/drawingml/2006/main">
            <a:off x="5429250" y="2867025"/>
            <a:ext cx="6076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226A57"/>
                </a:solidFill>
                <a:latin typeface="Microsoft YaHei"/>
                <a:ea typeface="Microsoft YaHei"/>
                <a:cs typeface="Microsoft YaHei"/>
              </a:defRPr>
            </a:pPr>
            <a:r>
              <a:rPr sz="2175" b="1">
                <a:solidFill>
                  <a:srgbClr val="226A57"/>
                </a:solidFill>
                <a:latin typeface="Microsoft YaHei"/>
                <a:ea typeface="Microsoft YaHei"/>
                <a:cs typeface="Microsoft YaHei"/>
              </a:rPr>
              <a:t>恢复栈：只撤销本层删除</a:t>
            </a:r>
          </a:p>
        </p:txBody>
      </p:sp>
      <p:graphicFrame>
        <p:nvGraphicFramePr>
          <p:cNvPr id="24" name=""/>
          <p:cNvGraphicFramePr/>
          <p:nvPr/>
        </p:nvGraphicFramePr>
        <p:xfrm>
          <a:off xmlns:a="http://schemas.openxmlformats.org/drawingml/2006/main" x="5429250" y="3495675"/>
          <a:ext xmlns:a="http://schemas.openxmlformats.org/drawingml/2006/main" cx="6076950" cy="2066925"/>
        </p:xfrm>
        <a:graphic xmlns:a="http://schemas.openxmlformats.org/drawingml/2006/main">
          <a:graphicData uri="http://schemas.openxmlformats.org/drawingml/2006/table">
            <a:tbl>
              <a:tblPr firstRow="1" firstCol="0" lastCol="0" bandRow="0" bandCol="0"/>
              <a:tblGrid>
                <a:gridCol w="2105025"/>
                <a:gridCol w="1323975"/>
                <a:gridCol w="1323975"/>
                <a:gridCol w="1323975"/>
              </a:tblGrid>
              <a:tr h="516731">
                <a:tc>
                  <a:txBody>
                    <a:bodyPr/>
                    <a:lstStyle/>
                    <a:p>
                      <a:pPr algn="ctr"/>
                      <a:r>
                        <a:rPr sz="1800" b="1">
                          <a:solidFill>
                            <a:srgbClr val="1D2C27"/>
                          </a:solidFill>
                          <a:latin typeface="Microsoft YaHei"/>
                          <a:ea typeface="Microsoft YaHei"/>
                          <a:cs typeface="Microsoft YaHei"/>
                        </a:rPr>
                        <a:t>状态</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候选 A</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候选 B</a:t>
                      </a:r>
                    </a:p>
                  </a:txBody>
                  <a:tcPr marL="85725" marR="85725" marT="47625" marB="47625" anchor="ctr">
                    <a:solidFill>
                      <a:srgbClr val="E0EBE5"/>
                    </a:solidFill>
                  </a:tcPr>
                </a:tc>
                <a:tc>
                  <a:txBody>
                    <a:bodyPr/>
                    <a:lstStyle/>
                    <a:p>
                      <a:pPr algn="ctr"/>
                      <a:r>
                        <a:rPr sz="1800" b="1">
                          <a:solidFill>
                            <a:srgbClr val="1D2C27"/>
                          </a:solidFill>
                          <a:latin typeface="Microsoft YaHei"/>
                          <a:ea typeface="Microsoft YaHei"/>
                          <a:cs typeface="Microsoft YaHei"/>
                        </a:rPr>
                        <a:t>候选 C</a:t>
                      </a:r>
                    </a:p>
                  </a:txBody>
                  <a:tcPr marL="85725" marR="85725" marT="47625" marB="47625" anchor="ctr">
                    <a:solidFill>
                      <a:srgbClr val="E0EBE5"/>
                    </a:solidFill>
                  </a:tcPr>
                </a:tc>
              </a:tr>
              <a:tr h="516731">
                <a:tc>
                  <a:txBody>
                    <a:bodyPr/>
                    <a:lstStyle/>
                    <a:p>
                      <a:pPr algn="ctr"/>
                      <a:r>
                        <a:rPr sz="1800" b="0">
                          <a:solidFill>
                            <a:srgbClr val="1D2C27"/>
                          </a:solidFill>
                          <a:latin typeface="Microsoft YaHei"/>
                          <a:ea typeface="Microsoft YaHei"/>
                          <a:cs typeface="Microsoft YaHei"/>
                        </a:rPr>
                        <a:t>进入本层</a:t>
                      </a:r>
                    </a:p>
                  </a:txBody>
                  <a:tcPr marL="85725" marR="85725" marT="47625" marB="47625" anchor="ctr">
                    <a:solidFill>
                      <a:srgbClr val="FFFFFF"/>
                    </a:solidFill>
                  </a:tcPr>
                </a:tc>
                <a:tc>
                  <a:txBody>
                    <a:bodyPr/>
                    <a:lstStyle/>
                    <a:p>
                      <a:pPr algn="ctr"/>
                      <a:r>
                        <a:rPr sz="1800" b="0">
                          <a:solidFill>
                            <a:srgbClr val="5B6862"/>
                          </a:solidFill>
                          <a:latin typeface="Microsoft YaHei"/>
                          <a:ea typeface="Microsoft YaHei"/>
                          <a:cs typeface="Microsoft YaHei"/>
                        </a:rPr>
                        <a:t>排除</a:t>
                      </a:r>
                    </a:p>
                  </a:txBody>
                  <a:tcPr marL="85725" marR="85725" marT="47625" marB="47625" anchor="ctr">
                    <a:solidFill>
                      <a:srgbClr val="EDF0EE"/>
                    </a:solidFill>
                  </a:tcPr>
                </a:tc>
                <a:tc>
                  <a:txBody>
                    <a:bodyPr/>
                    <a:lstStyle/>
                    <a:p>
                      <a:pPr algn="ctr"/>
                      <a:r>
                        <a:rPr sz="1800" b="0">
                          <a:solidFill>
                            <a:srgbClr val="1D2C27"/>
                          </a:solidFill>
                          <a:latin typeface="Microsoft YaHei"/>
                          <a:ea typeface="Microsoft YaHei"/>
                          <a:cs typeface="Microsoft YaHei"/>
                        </a:rPr>
                        <a:t>可选</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可选</a:t>
                      </a:r>
                    </a:p>
                  </a:txBody>
                  <a:tcPr marL="85725" marR="85725" marT="47625" marB="47625" anchor="ctr">
                    <a:solidFill>
                      <a:srgbClr val="FFFFFF"/>
                    </a:solidFill>
                  </a:tcPr>
                </a:tc>
              </a:tr>
              <a:tr h="516731">
                <a:tc>
                  <a:txBody>
                    <a:bodyPr/>
                    <a:lstStyle/>
                    <a:p>
                      <a:pPr algn="ctr"/>
                      <a:r>
                        <a:rPr sz="1800" b="0">
                          <a:solidFill>
                            <a:srgbClr val="1D2C27"/>
                          </a:solidFill>
                          <a:latin typeface="Microsoft YaHei"/>
                          <a:ea typeface="Microsoft YaHei"/>
                          <a:cs typeface="Microsoft YaHei"/>
                        </a:rPr>
                        <a:t>本层删候选</a:t>
                      </a:r>
                    </a:p>
                  </a:txBody>
                  <a:tcPr marL="85725" marR="85725" marT="47625" marB="47625" anchor="ctr">
                    <a:solidFill>
                      <a:srgbClr val="FFFFFF"/>
                    </a:solidFill>
                  </a:tcPr>
                </a:tc>
                <a:tc>
                  <a:txBody>
                    <a:bodyPr/>
                    <a:lstStyle/>
                    <a:p>
                      <a:pPr algn="ctr"/>
                      <a:r>
                        <a:rPr sz="1800" b="0">
                          <a:solidFill>
                            <a:srgbClr val="5B6862"/>
                          </a:solidFill>
                          <a:latin typeface="Microsoft YaHei"/>
                          <a:ea typeface="Microsoft YaHei"/>
                          <a:cs typeface="Microsoft YaHei"/>
                        </a:rPr>
                        <a:t>排除</a:t>
                      </a:r>
                    </a:p>
                  </a:txBody>
                  <a:tcPr marL="85725" marR="85725" marT="47625" marB="47625" anchor="ctr">
                    <a:solidFill>
                      <a:srgbClr val="EDF0EE"/>
                    </a:solidFill>
                  </a:tcPr>
                </a:tc>
                <a:tc>
                  <a:txBody>
                    <a:bodyPr/>
                    <a:lstStyle/>
                    <a:p>
                      <a:pPr algn="ctr"/>
                      <a:r>
                        <a:rPr sz="1800" b="0">
                          <a:solidFill>
                            <a:srgbClr val="1D2C27"/>
                          </a:solidFill>
                          <a:latin typeface="Microsoft YaHei"/>
                          <a:ea typeface="Microsoft YaHei"/>
                          <a:cs typeface="Microsoft YaHei"/>
                        </a:rPr>
                        <a:t>排除</a:t>
                      </a:r>
                    </a:p>
                  </a:txBody>
                  <a:tcPr marL="85725" marR="85725" marT="47625" marB="47625" anchor="ctr">
                    <a:solidFill>
                      <a:srgbClr val="FFFFFF"/>
                    </a:solidFill>
                  </a:tcPr>
                </a:tc>
                <a:tc>
                  <a:txBody>
                    <a:bodyPr/>
                    <a:lstStyle/>
                    <a:p>
                      <a:pPr algn="ctr"/>
                      <a:r>
                        <a:rPr sz="1800" b="0">
                          <a:solidFill>
                            <a:srgbClr val="1D2C27"/>
                          </a:solidFill>
                          <a:latin typeface="Microsoft YaHei"/>
                          <a:ea typeface="Microsoft YaHei"/>
                          <a:cs typeface="Microsoft YaHei"/>
                        </a:rPr>
                        <a:t>可选</a:t>
                      </a:r>
                    </a:p>
                  </a:txBody>
                  <a:tcPr marL="85725" marR="85725" marT="47625" marB="47625" anchor="ctr">
                    <a:solidFill>
                      <a:srgbClr val="FFFFFF"/>
                    </a:solidFill>
                  </a:tcPr>
                </a:tc>
              </a:tr>
              <a:tr h="516731">
                <a:tc>
                  <a:txBody>
                    <a:bodyPr/>
                    <a:lstStyle/>
                    <a:p>
                      <a:pPr algn="ctr"/>
                      <a:r>
                        <a:rPr sz="1800" b="0">
                          <a:solidFill>
                            <a:srgbClr val="1D2C27"/>
                          </a:solidFill>
                          <a:latin typeface="Microsoft YaHei"/>
                          <a:ea typeface="Microsoft YaHei"/>
                          <a:cs typeface="Microsoft YaHei"/>
                        </a:rPr>
                        <a:t>回退后</a:t>
                      </a:r>
                    </a:p>
                  </a:txBody>
                  <a:tcPr marL="85725" marR="85725" marT="47625" marB="47625" anchor="ctr">
                    <a:solidFill>
                      <a:srgbClr val="FFFFFF"/>
                    </a:solidFill>
                  </a:tcPr>
                </a:tc>
                <a:tc>
                  <a:txBody>
                    <a:bodyPr/>
                    <a:lstStyle/>
                    <a:p>
                      <a:pPr algn="ctr"/>
                      <a:r>
                        <a:rPr sz="1800" b="0">
                          <a:solidFill>
                            <a:srgbClr val="5B6862"/>
                          </a:solidFill>
                          <a:latin typeface="Microsoft YaHei"/>
                          <a:ea typeface="Microsoft YaHei"/>
                          <a:cs typeface="Microsoft YaHei"/>
                        </a:rPr>
                        <a:t>排除</a:t>
                      </a:r>
                    </a:p>
                  </a:txBody>
                  <a:tcPr marL="85725" marR="85725" marT="47625" marB="47625" anchor="ctr">
                    <a:solidFill>
                      <a:srgbClr val="EDF0EE"/>
                    </a:solidFill>
                  </a:tcPr>
                </a:tc>
                <a:tc>
                  <a:txBody>
                    <a:bodyPr/>
                    <a:lstStyle/>
                    <a:p>
                      <a:pPr algn="ctr"/>
                      <a:r>
                        <a:rPr sz="1800" b="1">
                          <a:solidFill>
                            <a:srgbClr val="226A57"/>
                          </a:solidFill>
                          <a:latin typeface="Microsoft YaHei"/>
                          <a:ea typeface="Microsoft YaHei"/>
                          <a:cs typeface="Microsoft YaHei"/>
                        </a:rPr>
                        <a:t>可选</a:t>
                      </a:r>
                    </a:p>
                  </a:txBody>
                  <a:tcPr marL="85725" marR="85725" marT="47625" marB="47625" anchor="ctr">
                    <a:solidFill>
                      <a:srgbClr val="E0EBE5"/>
                    </a:solidFill>
                  </a:tcPr>
                </a:tc>
                <a:tc>
                  <a:txBody>
                    <a:bodyPr/>
                    <a:lstStyle/>
                    <a:p>
                      <a:pPr algn="ctr"/>
                      <a:r>
                        <a:rPr sz="1800" b="0">
                          <a:solidFill>
                            <a:srgbClr val="1D2C27"/>
                          </a:solidFill>
                          <a:latin typeface="Microsoft YaHei"/>
                          <a:ea typeface="Microsoft YaHei"/>
                          <a:cs typeface="Microsoft YaHei"/>
                        </a:rPr>
                        <a:t>可选</a:t>
                      </a:r>
                    </a:p>
                  </a:txBody>
                  <a:tcPr marL="85725" marR="85725" marT="47625" marB="47625" anchor="ctr">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33A02BA5-0A23-49C1-8682-5747AE7DF10B}"/>
              </a:ext>
            </a:extLst>
          </p:cNvPr>
          <p:cNvSpPr>
            <a:spLocks xmlns:a="http://schemas.openxmlformats.org/drawingml/2006/main" noGrp="1"/>
          </p:cNvSpPr>
          <p:nvPr/>
        </p:nvSpPr>
        <p:spPr>
          <a:xfrm xmlns:a="http://schemas.openxmlformats.org/drawingml/2006/main">
            <a:off x="5429250" y="5743575"/>
            <a:ext cx="60769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B6862"/>
                </a:solidFill>
                <a:latin typeface="Microsoft YaHei"/>
                <a:ea typeface="Microsoft YaHei"/>
                <a:cs typeface="Microsoft YaHei"/>
              </a:defRPr>
            </a:pPr>
            <a:r>
              <a:rPr sz="1725" b="0">
                <a:solidFill>
                  <a:srgbClr val="5B6862"/>
                </a:solidFill>
                <a:latin typeface="Microsoft YaHei"/>
                <a:ea typeface="Microsoft YaHei"/>
                <a:cs typeface="Microsoft YaHei"/>
              </a:rPr>
              <a:t>父层排除的 A 保持不变，本层删除的 B 恢复</a:t>
            </a:r>
          </a:p>
        </p:txBody>
      </p:sp>
      <p:sp>
        <p:nvSpPr>
          <p:cNvPr id="13" name="">
            <a:extLst xmlns:a="http://schemas.openxmlformats.org/drawingml/2006/main">
              <a:ext uri="{FF2B5EF4-FFF2-40B4-BE49-F238E27FC236}">
                <a16:creationId xmlns:a16="http://schemas.microsoft.com/office/drawing/2014/main" id="{A61AF5A4-E2EA-4359-AAD0-3620EC5F0E19}"/>
              </a:ext>
            </a:extLst>
          </p:cNvPr>
          <p:cNvSpPr>
            <a:spLocks xmlns:a="http://schemas.openxmlformats.org/drawingml/2006/main" noGrp="1"/>
          </p:cNvSpPr>
          <p:nvPr/>
        </p:nvSpPr>
        <p:spPr>
          <a:xfrm xmlns:a="http://schemas.openxmlformats.org/drawingml/2006/main">
            <a:off x="685800" y="62007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D2C27"/>
                </a:solidFill>
                <a:latin typeface="Microsoft YaHei"/>
                <a:ea typeface="Microsoft YaHei"/>
                <a:cs typeface="Microsoft YaHei"/>
              </a:defRPr>
            </a:pPr>
            <a:r>
              <a:rPr sz="1725" b="0">
                <a:solidFill>
                  <a:srgbClr val="1D2C27"/>
                </a:solidFill>
                <a:latin typeface="Microsoft YaHei"/>
                <a:ea typeface="Microsoft YaHei"/>
                <a:cs typeface="Microsoft YaHei"/>
              </a:rPr>
              <a:t>显式 DFS 栈保存层级，恢复栈记录候选位置</a:t>
            </a:r>
          </a:p>
        </p:txBody>
      </p:sp>
    </p:spTree>
    <p:extLst>
      <p:ext uri="{BB962C8B-B14F-4D97-AF65-F5344CB8AC3E}">
        <p14:creationId xmlns:p14="http://schemas.microsoft.com/office/powerpoint/2010/main" val="608061264"/>
      </p:ext>
    </p:extLst>
  </p:cSld>
</p:sld>
</file>

<file path=ppt/slides/slide8.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715922E-F94D-4BE0-947E-8CE493020B9F}"/>
              </a:ext>
            </a:extLst>
          </p:cNvPr>
          <p:cNvSpPr>
            <a:spLocks xmlns:a="http://schemas.openxmlformats.org/drawingml/2006/main" noGrp="1"/>
          </p:cNvSpPr>
          <p:nvPr/>
        </p:nvSpPr>
        <p:spPr>
          <a:xfrm xmlns:a="http://schemas.openxmlformats.org/drawingml/2006/main">
            <a:off x="685800" y="266700"/>
            <a:ext cx="1038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D2C27"/>
                </a:solidFill>
                <a:latin typeface="Microsoft YaHei"/>
                <a:ea typeface="Microsoft YaHei"/>
                <a:cs typeface="Microsoft YaHei"/>
              </a:defRPr>
            </a:pPr>
            <a:r>
              <a:rPr sz="3150" b="1">
                <a:solidFill>
                  <a:srgbClr val="1D2C27"/>
                </a:solidFill>
                <a:latin typeface="Microsoft YaHei"/>
                <a:ea typeface="Microsoft YaHei"/>
                <a:cs typeface="Microsoft YaHei"/>
              </a:rPr>
              <a:t>实际界面与现场演示</a:t>
            </a:r>
          </a:p>
        </p:txBody>
      </p:sp>
      <p:sp>
        <p:nvSpPr>
          <p:cNvPr id="2" name="">
            <a:extLst xmlns:a="http://schemas.openxmlformats.org/drawingml/2006/main">
              <a:ext uri="{FF2B5EF4-FFF2-40B4-BE49-F238E27FC236}">
                <a16:creationId xmlns:a16="http://schemas.microsoft.com/office/drawing/2014/main" id="{601A4C58-199C-455F-B267-CDEA7B39DADD}"/>
              </a:ext>
            </a:extLst>
          </p:cNvPr>
          <p:cNvSpPr>
            <a:spLocks xmlns:a="http://schemas.openxmlformats.org/drawingml/2006/main" noGrp="1"/>
          </p:cNvSpPr>
          <p:nvPr/>
        </p:nvSpPr>
        <p:spPr>
          <a:xfrm xmlns:a="http://schemas.openxmlformats.org/drawingml/2006/main">
            <a:off x="11163300" y="447675"/>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B6862"/>
                </a:solidFill>
                <a:latin typeface="Microsoft YaHei"/>
                <a:ea typeface="Microsoft YaHei"/>
                <a:cs typeface="Microsoft YaHei"/>
              </a:defRPr>
            </a:pPr>
            <a:r>
              <a:rPr sz="1200" b="0">
                <a:solidFill>
                  <a:srgbClr val="5B6862"/>
                </a:solidFill>
                <a:latin typeface="Microsoft YaHei"/>
                <a:ea typeface="Microsoft YaHei"/>
                <a:cs typeface="Microsoft YaHei"/>
              </a:rPr>
              <a:t>08</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0df126153a24cc3"/>
          <a:stretch xmlns:a="http://schemas.openxmlformats.org/drawingml/2006/main"/>
        </p:blipFill>
        <p:spPr>
          <a:xfrm xmlns:a="http://schemas.openxmlformats.org/drawingml/2006/main">
            <a:off x="686276" y="942975"/>
            <a:ext cx="10819448" cy="5848350"/>
          </a:xfrm>
          <a:prstGeom xmlns:a="http://schemas.openxmlformats.org/drawingml/2006/main" prst="rect">
            <a:avLst/>
          </a:prstGeom>
        </p:spPr>
      </p:pic>
    </p:spTree>
    <p:extLst>
      <p:ext uri="{BB962C8B-B14F-4D97-AF65-F5344CB8AC3E}">
        <p14:creationId xmlns:p14="http://schemas.microsoft.com/office/powerpoint/2010/main" val="348278122"/>
      </p:ext>
    </p:extLst>
  </p:cSld>
</p:sld>
</file>

<file path=ppt/slides/slide9.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9475CD-8D85-43F0-83E0-9D85E90EED03}"/>
              </a:ext>
            </a:extLst>
          </p:cNvPr>
          <p:cNvSpPr>
            <a:spLocks xmlns:a="http://schemas.openxmlformats.org/drawingml/2006/main" noGrp="1"/>
          </p:cNvSpPr>
          <p:nvPr/>
        </p:nvSpPr>
        <p:spPr>
          <a:xfrm xmlns:a="http://schemas.openxmlformats.org/drawingml/2006/main">
            <a:off x="685800" y="438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D2C27"/>
                </a:solidFill>
                <a:latin typeface="Microsoft YaHei"/>
                <a:ea typeface="Microsoft YaHei"/>
                <a:cs typeface="Microsoft YaHei"/>
              </a:defRPr>
            </a:pPr>
            <a:r>
              <a:rPr sz="3300" b="1">
                <a:solidFill>
                  <a:srgbClr val="1D2C27"/>
                </a:solidFill>
                <a:latin typeface="Microsoft YaHei"/>
                <a:ea typeface="Microsoft YaHei"/>
                <a:cs typeface="Microsoft YaHei"/>
              </a:rPr>
              <a:t>正确性与性能对照</a:t>
            </a:r>
          </a:p>
        </p:txBody>
      </p:sp>
      <p:sp>
        <p:nvSpPr>
          <p:cNvPr id="2" name="">
            <a:extLst xmlns:a="http://schemas.openxmlformats.org/drawingml/2006/main">
              <a:ext uri="{FF2B5EF4-FFF2-40B4-BE49-F238E27FC236}">
                <a16:creationId xmlns:a16="http://schemas.microsoft.com/office/drawing/2014/main" id="{7B37399A-E60E-4B36-9870-C9FBA83348A0}"/>
              </a:ext>
            </a:extLst>
          </p:cNvPr>
          <p:cNvSpPr>
            <a:spLocks xmlns:a="http://schemas.openxmlformats.org/drawingml/2006/main" noGrp="1"/>
          </p:cNvSpPr>
          <p:nvPr/>
        </p:nvSpPr>
        <p:spPr>
          <a:xfrm xmlns:a="http://schemas.openxmlformats.org/drawingml/2006/main">
            <a:off x="11163300" y="64770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B6862"/>
                </a:solidFill>
                <a:latin typeface="Microsoft YaHei"/>
                <a:ea typeface="Microsoft YaHei"/>
                <a:cs typeface="Microsoft YaHei"/>
              </a:defRPr>
            </a:pPr>
            <a:r>
              <a:rPr sz="1200" b="0">
                <a:solidFill>
                  <a:srgbClr val="5B6862"/>
                </a:solidFill>
                <a:latin typeface="Microsoft YaHei"/>
                <a:ea typeface="Microsoft YaHei"/>
                <a:cs typeface="Microsoft YaHei"/>
              </a:rPr>
              <a:t>09</a:t>
            </a:r>
          </a:p>
        </p:txBody>
      </p:sp>
      <p:sp>
        <p:nvSpPr>
          <p:cNvPr id="3" name="">
            <a:extLst xmlns:a="http://schemas.openxmlformats.org/drawingml/2006/main">
              <a:ext uri="{FF2B5EF4-FFF2-40B4-BE49-F238E27FC236}">
                <a16:creationId xmlns:a16="http://schemas.microsoft.com/office/drawing/2014/main" id="{AA64F101-BF19-425A-8220-9A85BE2E9321}"/>
              </a:ext>
            </a:extLst>
          </p:cNvPr>
          <p:cNvSpPr>
            <a:spLocks xmlns:a="http://schemas.openxmlformats.org/drawingml/2006/main" noGrp="1"/>
          </p:cNvSpPr>
          <p:nvPr/>
        </p:nvSpPr>
        <p:spPr>
          <a:xfrm xmlns:a="http://schemas.openxmlformats.org/drawingml/2006/main">
            <a:off x="685800" y="13811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D2C27"/>
                </a:solidFill>
                <a:latin typeface="Microsoft YaHei"/>
                <a:ea typeface="Microsoft YaHei"/>
                <a:cs typeface="Microsoft YaHei"/>
              </a:defRPr>
            </a:pPr>
            <a:r>
              <a:rPr sz="1950" b="0">
                <a:solidFill>
                  <a:srgbClr val="1D2C27"/>
                </a:solidFill>
                <a:latin typeface="Microsoft YaHei"/>
                <a:ea typeface="Microsoft YaHei"/>
                <a:cs typeface="Microsoft YaHei"/>
              </a:rPr>
              <a:t>独立验证器重新展开 Meeting，小案例与完整枚举对照</a:t>
            </a:r>
          </a:p>
          <a:p xmlns:a="http://schemas.openxmlformats.org/drawingml/2006/main">
            <a:pPr algn="l">
              <a:defRPr sz="1950" b="0">
                <a:solidFill>
                  <a:srgbClr val="1D2C27"/>
                </a:solidFill>
                <a:latin typeface="Microsoft YaHei"/>
                <a:ea typeface="Microsoft YaHei"/>
                <a:cs typeface="Microsoft YaHei"/>
              </a:defRPr>
            </a:pPr>
            <a:r>
              <a:rPr sz="1950" b="0">
                <a:solidFill>
                  <a:srgbClr val="1D2C27"/>
                </a:solidFill>
                <a:latin typeface="Microsoft YaHei"/>
                <a:ea typeface="Microsoft YaHei"/>
                <a:cs typeface="Microsoft YaHei"/>
              </a:rPr>
              <a:t>Debug / Release 均通过 2 项基础测试</a:t>
            </a:r>
          </a:p>
        </p:txBody>
      </p:sp>
      <p:graphicFrame>
        <p:nvGraphicFramePr>
          <p:cNvPr id="9" name="Chart"/>
          <p:cNvGraphicFramePr/>
          <p:nvPr/>
        </p:nvGraphicFramePr>
        <p:xfrm>
          <a:off xmlns:a="http://schemas.openxmlformats.org/drawingml/2006/main" x="685800" y="2409825"/>
          <a:ext xmlns:a="http://schemas.openxmlformats.org/drawingml/2006/main" cx="10820400" cy="3514725"/>
        </p:xfrm>
        <a:graphic xmlns:a="http://schemas.openxmlformats.org/drawingml/2006/main">
          <a:graphicData uri="http://schemas.openxmlformats.org/drawingml/2006/chart">
            <c:chart xmlns:r="http://schemas.openxmlformats.org/officeDocument/2006/relationships" xmlns:c="http://schemas.openxmlformats.org/drawingml/2006/chart" r:id="Rdf13f4e89072418b"/>
          </a:graphicData>
        </a:graphic>
      </p:graphicFrame>
      <p:sp>
        <p:nvSpPr>
          <p:cNvPr id="5" name="">
            <a:extLst xmlns:a="http://schemas.openxmlformats.org/drawingml/2006/main">
              <a:ext uri="{FF2B5EF4-FFF2-40B4-BE49-F238E27FC236}">
                <a16:creationId xmlns:a16="http://schemas.microsoft.com/office/drawing/2014/main" id="{037EF696-5E74-4DA0-AC26-A8EC3F713F9B}"/>
              </a:ext>
            </a:extLst>
          </p:cNvPr>
          <p:cNvSpPr>
            <a:spLocks xmlns:a="http://schemas.openxmlformats.org/drawingml/2006/main" noGrp="1"/>
          </p:cNvSpPr>
          <p:nvPr/>
        </p:nvSpPr>
        <p:spPr>
          <a:xfrm xmlns:a="http://schemas.openxmlformats.org/drawingml/2006/main">
            <a:off x="685800" y="60769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B6862"/>
                </a:solidFill>
                <a:latin typeface="Microsoft YaHei"/>
                <a:ea typeface="Microsoft YaHei"/>
                <a:cs typeface="Microsoft YaHei"/>
              </a:defRPr>
            </a:pPr>
            <a:r>
              <a:rPr sz="1500" b="0">
                <a:solidFill>
                  <a:srgbClr val="5B6862"/>
                </a:solidFill>
                <a:latin typeface="Microsoft YaHei"/>
                <a:ea typeface="Microsoft YaHei"/>
                <a:cs typeface="Microsoft YaHei"/>
              </a:rPr>
              <a:t>单位：教学班赋值尝试次数。四组样例中 MRV 与 MRV＋FC 的次数相同</a:t>
            </a:r>
          </a:p>
          <a:p xmlns:a="http://schemas.openxmlformats.org/drawingml/2006/main">
            <a:pPr algn="l">
              <a:defRPr sz="1500" b="0">
                <a:solidFill>
                  <a:srgbClr val="5B6862"/>
                </a:solidFill>
                <a:latin typeface="Microsoft YaHei"/>
                <a:ea typeface="Microsoft YaHei"/>
                <a:cs typeface="Microsoft YaHei"/>
              </a:defRPr>
            </a:pPr>
            <a:r>
              <a:rPr sz="1500" b="0">
                <a:solidFill>
                  <a:srgbClr val="5B6862"/>
                </a:solidFill>
                <a:latin typeface="Microsoft YaHei"/>
                <a:ea typeface="Microsoft YaHei"/>
                <a:cs typeface="Microsoft YaHei"/>
              </a:rPr>
              <a:t>基于一周的小规模合成数据，不能据此推断大规模输入的加速效果</a:t>
            </a:r>
          </a:p>
        </p:txBody>
      </p:sp>
    </p:spTree>
    <p:extLst>
      <p:ext uri="{BB962C8B-B14F-4D97-AF65-F5344CB8AC3E}">
        <p14:creationId xmlns:p14="http://schemas.microsoft.com/office/powerpoint/2010/main" val="1797995446"/>
      </p:ext>
    </p:extLst>
  </p:cSld>
</p:sld>
</file>

<file path=ppt/slides/slide10.xml><?xml version="1.0" encoding="utf-8"?>
<p:sld xmlns:p="http://schemas.openxmlformats.org/presentationml/2006/main">
  <p:cSld>
    <p:bg>
      <p:bgPr>
        <a:solidFill xmlns:a="http://schemas.openxmlformats.org/drawingml/2006/main">
          <a:srgbClr val="F5F7F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AC5E5A3-3353-4DB9-9886-BF54FCE934CD}"/>
              </a:ext>
            </a:extLst>
          </p:cNvPr>
          <p:cNvSpPr>
            <a:spLocks xmlns:a="http://schemas.openxmlformats.org/drawingml/2006/main" noGrp="1"/>
          </p:cNvSpPr>
          <p:nvPr/>
        </p:nvSpPr>
        <p:spPr>
          <a:xfrm xmlns:a="http://schemas.openxmlformats.org/drawingml/2006/main">
            <a:off x="685800" y="438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D2C27"/>
                </a:solidFill>
                <a:latin typeface="Microsoft YaHei"/>
                <a:ea typeface="Microsoft YaHei"/>
                <a:cs typeface="Microsoft YaHei"/>
              </a:defRPr>
            </a:pPr>
            <a:r>
              <a:rPr sz="3300" b="1">
                <a:solidFill>
                  <a:srgbClr val="1D2C27"/>
                </a:solidFill>
                <a:latin typeface="Microsoft YaHei"/>
                <a:ea typeface="Microsoft YaHei"/>
                <a:cs typeface="Microsoft YaHei"/>
              </a:rPr>
              <a:t>进度与后续计划</a:t>
            </a:r>
          </a:p>
        </p:txBody>
      </p:sp>
      <p:sp>
        <p:nvSpPr>
          <p:cNvPr id="2" name="">
            <a:extLst xmlns:a="http://schemas.openxmlformats.org/drawingml/2006/main">
              <a:ext uri="{FF2B5EF4-FFF2-40B4-BE49-F238E27FC236}">
                <a16:creationId xmlns:a16="http://schemas.microsoft.com/office/drawing/2014/main" id="{91ABFBA5-3306-4682-B9A0-4C9E7E8C4563}"/>
              </a:ext>
            </a:extLst>
          </p:cNvPr>
          <p:cNvSpPr>
            <a:spLocks xmlns:a="http://schemas.openxmlformats.org/drawingml/2006/main" noGrp="1"/>
          </p:cNvSpPr>
          <p:nvPr/>
        </p:nvSpPr>
        <p:spPr>
          <a:xfrm xmlns:a="http://schemas.openxmlformats.org/drawingml/2006/main">
            <a:off x="11163300" y="647700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B6862"/>
                </a:solidFill>
                <a:latin typeface="Microsoft YaHei"/>
                <a:ea typeface="Microsoft YaHei"/>
                <a:cs typeface="Microsoft YaHei"/>
              </a:defRPr>
            </a:pPr>
            <a:r>
              <a:rPr sz="1200" b="0">
                <a:solidFill>
                  <a:srgbClr val="5B6862"/>
                </a:solidFill>
                <a:latin typeface="Microsoft YaHei"/>
                <a:ea typeface="Microsoft YaHei"/>
                <a:cs typeface="Microsoft YaHei"/>
              </a:rPr>
              <a:t>10</a:t>
            </a:r>
          </a:p>
        </p:txBody>
      </p:sp>
      <p:sp>
        <p:nvSpPr>
          <p:cNvPr id="3" name="">
            <a:extLst xmlns:a="http://schemas.openxmlformats.org/drawingml/2006/main">
              <a:ext uri="{FF2B5EF4-FFF2-40B4-BE49-F238E27FC236}">
                <a16:creationId xmlns:a16="http://schemas.microsoft.com/office/drawing/2014/main" id="{05EE3DEA-C3BA-4690-A738-3191CAB757AB}"/>
              </a:ext>
            </a:extLst>
          </p:cNvPr>
          <p:cNvSpPr>
            <a:spLocks xmlns:a="http://schemas.openxmlformats.org/drawingml/2006/main" noGrp="1"/>
          </p:cNvSpPr>
          <p:nvPr/>
        </p:nvSpPr>
        <p:spPr>
          <a:xfrm xmlns:a="http://schemas.openxmlformats.org/drawingml/2006/main">
            <a:off x="685800" y="1952625"/>
            <a:ext cx="3429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7800" b="1">
                <a:solidFill>
                  <a:srgbClr val="226A57"/>
                </a:solidFill>
                <a:latin typeface="Microsoft YaHei"/>
                <a:ea typeface="Microsoft YaHei"/>
                <a:cs typeface="Microsoft YaHei"/>
              </a:defRPr>
            </a:pPr>
            <a:r>
              <a:rPr sz="7800" b="1">
                <a:solidFill>
                  <a:srgbClr val="226A57"/>
                </a:solidFill>
                <a:latin typeface="Microsoft YaHei"/>
                <a:ea typeface="Microsoft YaHei"/>
                <a:cs typeface="Microsoft YaHei"/>
              </a:rPr>
              <a:t>100%</a:t>
            </a:r>
          </a:p>
        </p:txBody>
      </p:sp>
      <p:sp>
        <p:nvSpPr>
          <p:cNvPr id="4" name="">
            <a:extLst xmlns:a="http://schemas.openxmlformats.org/drawingml/2006/main">
              <a:ext uri="{FF2B5EF4-FFF2-40B4-BE49-F238E27FC236}">
                <a16:creationId xmlns:a16="http://schemas.microsoft.com/office/drawing/2014/main" id="{33F2BCB3-7BD6-48A7-A295-CEB61465CDEC}"/>
              </a:ext>
            </a:extLst>
          </p:cNvPr>
          <p:cNvSpPr>
            <a:spLocks xmlns:a="http://schemas.openxmlformats.org/drawingml/2006/main" noGrp="1"/>
          </p:cNvSpPr>
          <p:nvPr/>
        </p:nvSpPr>
        <p:spPr>
          <a:xfrm xmlns:a="http://schemas.openxmlformats.org/drawingml/2006/main">
            <a:off x="4286250" y="2076450"/>
            <a:ext cx="29908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1D2C27"/>
                </a:solidFill>
                <a:latin typeface="Microsoft YaHei"/>
                <a:ea typeface="Microsoft YaHei"/>
                <a:cs typeface="Microsoft YaHei"/>
              </a:defRPr>
            </a:pPr>
            <a:r>
              <a:rPr sz="6600" b="1">
                <a:solidFill>
                  <a:srgbClr val="1D2C27"/>
                </a:solidFill>
                <a:latin typeface="Microsoft YaHei"/>
                <a:ea typeface="Microsoft YaHei"/>
                <a:cs typeface="Microsoft YaHei"/>
              </a:rPr>
              <a:t>约75%</a:t>
            </a:r>
          </a:p>
        </p:txBody>
      </p:sp>
      <p:sp>
        <p:nvSpPr>
          <p:cNvPr id="5" name="">
            <a:extLst xmlns:a="http://schemas.openxmlformats.org/drawingml/2006/main">
              <a:ext uri="{FF2B5EF4-FFF2-40B4-BE49-F238E27FC236}">
                <a16:creationId xmlns:a16="http://schemas.microsoft.com/office/drawing/2014/main" id="{152122C1-EEA1-4120-B119-87DE49052AA7}"/>
              </a:ext>
            </a:extLst>
          </p:cNvPr>
          <p:cNvSpPr>
            <a:spLocks xmlns:a="http://schemas.openxmlformats.org/drawingml/2006/main" noGrp="1"/>
          </p:cNvSpPr>
          <p:nvPr/>
        </p:nvSpPr>
        <p:spPr>
          <a:xfrm xmlns:a="http://schemas.openxmlformats.org/drawingml/2006/main">
            <a:off x="742950" y="34671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D2C27"/>
                </a:solidFill>
                <a:latin typeface="Microsoft YaHei"/>
                <a:ea typeface="Microsoft YaHei"/>
                <a:cs typeface="Microsoft YaHei"/>
              </a:defRPr>
            </a:pPr>
            <a:r>
              <a:rPr sz="2175" b="1">
                <a:solidFill>
                  <a:srgbClr val="1D2C27"/>
                </a:solidFill>
                <a:latin typeface="Microsoft YaHei"/>
                <a:ea typeface="Microsoft YaHei"/>
                <a:cs typeface="Microsoft YaHei"/>
              </a:rPr>
              <a:t>中期验收目标</a:t>
            </a:r>
          </a:p>
        </p:txBody>
      </p:sp>
      <p:sp>
        <p:nvSpPr>
          <p:cNvPr id="6" name="">
            <a:extLst xmlns:a="http://schemas.openxmlformats.org/drawingml/2006/main">
              <a:ext uri="{FF2B5EF4-FFF2-40B4-BE49-F238E27FC236}">
                <a16:creationId xmlns:a16="http://schemas.microsoft.com/office/drawing/2014/main" id="{B1469285-4CD2-4649-9CE2-39DEC1B43734}"/>
              </a:ext>
            </a:extLst>
          </p:cNvPr>
          <p:cNvSpPr>
            <a:spLocks xmlns:a="http://schemas.openxmlformats.org/drawingml/2006/main" noGrp="1"/>
          </p:cNvSpPr>
          <p:nvPr/>
        </p:nvSpPr>
        <p:spPr>
          <a:xfrm xmlns:a="http://schemas.openxmlformats.org/drawingml/2006/main">
            <a:off x="4333875" y="3467100"/>
            <a:ext cx="31623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D2C27"/>
                </a:solidFill>
                <a:latin typeface="Microsoft YaHei"/>
                <a:ea typeface="Microsoft YaHei"/>
                <a:cs typeface="Microsoft YaHei"/>
              </a:defRPr>
            </a:pPr>
            <a:r>
              <a:rPr sz="2175" b="1">
                <a:solidFill>
                  <a:srgbClr val="1D2C27"/>
                </a:solidFill>
                <a:latin typeface="Microsoft YaHei"/>
                <a:ea typeface="Microsoft YaHei"/>
                <a:cs typeface="Microsoft YaHei"/>
              </a:rPr>
              <a:t>软件功能粗略估计</a:t>
            </a:r>
          </a:p>
        </p:txBody>
      </p:sp>
      <p:sp>
        <p:nvSpPr>
          <p:cNvPr id="7" name="">
            <a:extLst xmlns:a="http://schemas.openxmlformats.org/drawingml/2006/main">
              <a:ext uri="{FF2B5EF4-FFF2-40B4-BE49-F238E27FC236}">
                <a16:creationId xmlns:a16="http://schemas.microsoft.com/office/drawing/2014/main" id="{8E76FA59-BFAF-4267-9487-32D9AC3630AA}"/>
              </a:ext>
            </a:extLst>
          </p:cNvPr>
          <p:cNvSpPr>
            <a:spLocks xmlns:a="http://schemas.openxmlformats.org/drawingml/2006/main" noGrp="1"/>
          </p:cNvSpPr>
          <p:nvPr/>
        </p:nvSpPr>
        <p:spPr>
          <a:xfrm xmlns:a="http://schemas.openxmlformats.org/drawingml/2006/main">
            <a:off x="742950" y="4419600"/>
            <a:ext cx="6267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226A57"/>
                </a:solidFill>
                <a:latin typeface="Microsoft YaHei"/>
                <a:ea typeface="Microsoft YaHei"/>
                <a:cs typeface="Microsoft YaHei"/>
              </a:defRPr>
            </a:pPr>
            <a:r>
              <a:rPr sz="2100" b="1">
                <a:solidFill>
                  <a:srgbClr val="226A57"/>
                </a:solidFill>
                <a:latin typeface="Microsoft YaHei"/>
                <a:ea typeface="Microsoft YaHei"/>
                <a:cs typeface="Microsoft YaHei"/>
              </a:rPr>
              <a:t>已完成</a:t>
            </a:r>
          </a:p>
        </p:txBody>
      </p:sp>
      <p:sp>
        <p:nvSpPr>
          <p:cNvPr id="8" name="">
            <a:extLst xmlns:a="http://schemas.openxmlformats.org/drawingml/2006/main">
              <a:ext uri="{FF2B5EF4-FFF2-40B4-BE49-F238E27FC236}">
                <a16:creationId xmlns:a16="http://schemas.microsoft.com/office/drawing/2014/main" id="{F0EA29D3-91CC-4734-BC2C-3430FA29E0BC}"/>
              </a:ext>
            </a:extLst>
          </p:cNvPr>
          <p:cNvSpPr>
            <a:spLocks xmlns:a="http://schemas.openxmlformats.org/drawingml/2006/main" noGrp="1"/>
          </p:cNvSpPr>
          <p:nvPr/>
        </p:nvSpPr>
        <p:spPr>
          <a:xfrm xmlns:a="http://schemas.openxmlformats.org/drawingml/2006/main">
            <a:off x="742950" y="4943475"/>
            <a:ext cx="6381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B6862"/>
                </a:solidFill>
                <a:latin typeface="Microsoft YaHei"/>
                <a:ea typeface="Microsoft YaHei"/>
                <a:cs typeface="Microsoft YaHei"/>
              </a:defRPr>
            </a:pPr>
            <a:r>
              <a:rPr sz="1875" b="0">
                <a:solidFill>
                  <a:srgbClr val="5B6862"/>
                </a:solidFill>
                <a:latin typeface="Microsoft YaHei"/>
                <a:ea typeface="Microsoft YaHei"/>
                <a:cs typeface="Microsoft YaHei"/>
              </a:rPr>
              <a:t>教学班录入、时间编码、冲突判定、硬约束</a:t>
            </a:r>
          </a:p>
          <a:p xmlns:a="http://schemas.openxmlformats.org/drawingml/2006/main">
            <a:pPr algn="l">
              <a:defRPr sz="1875" b="0">
                <a:solidFill>
                  <a:srgbClr val="5B6862"/>
                </a:solidFill>
                <a:latin typeface="Microsoft YaHei"/>
                <a:ea typeface="Microsoft YaHei"/>
                <a:cs typeface="Microsoft YaHei"/>
              </a:defRPr>
            </a:pPr>
            <a:r>
              <a:rPr sz="1875" b="0">
                <a:solidFill>
                  <a:srgbClr val="5B6862"/>
                </a:solidFill>
                <a:latin typeface="Microsoft YaHei"/>
                <a:ea typeface="Microsoft YaHei"/>
                <a:cs typeface="Microsoft YaHei"/>
              </a:rPr>
              <a:t>组合搜索、按周课表、CSV / JSON 读写</a:t>
            </a:r>
          </a:p>
        </p:txBody>
      </p:sp>
      <p:sp>
        <p:nvSpPr>
          <p:cNvPr id="9" name="">
            <a:extLst xmlns:a="http://schemas.openxmlformats.org/drawingml/2006/main">
              <a:ext uri="{FF2B5EF4-FFF2-40B4-BE49-F238E27FC236}">
                <a16:creationId xmlns:a16="http://schemas.microsoft.com/office/drawing/2014/main" id="{178C7D4C-349D-4A4C-A6D4-6B21AF8F6876}"/>
              </a:ext>
            </a:extLst>
          </p:cNvPr>
          <p:cNvSpPr>
            <a:spLocks xmlns:a="http://schemas.openxmlformats.org/drawingml/2006/main" noGrp="1"/>
          </p:cNvSpPr>
          <p:nvPr/>
        </p:nvSpPr>
        <p:spPr>
          <a:xfrm xmlns:a="http://schemas.openxmlformats.org/drawingml/2006/main">
            <a:off x="7839075" y="1752600"/>
            <a:ext cx="3667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D2C27"/>
                </a:solidFill>
                <a:latin typeface="Microsoft YaHei"/>
                <a:ea typeface="Microsoft YaHei"/>
                <a:cs typeface="Microsoft YaHei"/>
              </a:defRPr>
            </a:pPr>
            <a:r>
              <a:rPr sz="2100" b="1">
                <a:solidFill>
                  <a:srgbClr val="1D2C27"/>
                </a:solidFill>
                <a:latin typeface="Microsoft YaHei"/>
                <a:ea typeface="Microsoft YaHei"/>
                <a:cs typeface="Microsoft YaHei"/>
              </a:rPr>
              <a:t>方案评价</a:t>
            </a:r>
          </a:p>
        </p:txBody>
      </p:sp>
      <p:sp>
        <p:nvSpPr>
          <p:cNvPr id="10" name="">
            <a:extLst xmlns:a="http://schemas.openxmlformats.org/drawingml/2006/main">
              <a:ext uri="{FF2B5EF4-FFF2-40B4-BE49-F238E27FC236}">
                <a16:creationId xmlns:a16="http://schemas.microsoft.com/office/drawing/2014/main" id="{C6C431C9-BB2A-46E0-9179-A957A2FF81CE}"/>
              </a:ext>
            </a:extLst>
          </p:cNvPr>
          <p:cNvSpPr>
            <a:spLocks xmlns:a="http://schemas.openxmlformats.org/drawingml/2006/main" noGrp="1"/>
          </p:cNvSpPr>
          <p:nvPr/>
        </p:nvSpPr>
        <p:spPr>
          <a:xfrm xmlns:a="http://schemas.openxmlformats.org/drawingml/2006/main">
            <a:off x="7839075" y="2238375"/>
            <a:ext cx="3667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B6862"/>
                </a:solidFill>
                <a:latin typeface="Microsoft YaHei"/>
                <a:ea typeface="Microsoft YaHei"/>
                <a:cs typeface="Microsoft YaHei"/>
              </a:defRPr>
            </a:pPr>
            <a:r>
              <a:rPr sz="1725" b="0">
                <a:solidFill>
                  <a:srgbClr val="5B6862"/>
                </a:solidFill>
                <a:latin typeface="Microsoft YaHei"/>
                <a:ea typeface="Microsoft YaHei"/>
                <a:cs typeface="Microsoft YaHei"/>
              </a:rPr>
              <a:t>早课、空堂、上课天数等指标</a:t>
            </a:r>
          </a:p>
        </p:txBody>
      </p:sp>
      <p:sp>
        <p:nvSpPr>
          <p:cNvPr id="11" name="">
            <a:extLst xmlns:a="http://schemas.openxmlformats.org/drawingml/2006/main">
              <a:ext uri="{FF2B5EF4-FFF2-40B4-BE49-F238E27FC236}">
                <a16:creationId xmlns:a16="http://schemas.microsoft.com/office/drawing/2014/main" id="{591F5127-D6B2-443C-8B35-735159416242}"/>
              </a:ext>
            </a:extLst>
          </p:cNvPr>
          <p:cNvSpPr>
            <a:spLocks xmlns:a="http://schemas.openxmlformats.org/drawingml/2006/main" noGrp="1"/>
          </p:cNvSpPr>
          <p:nvPr/>
        </p:nvSpPr>
        <p:spPr>
          <a:xfrm xmlns:a="http://schemas.openxmlformats.org/drawingml/2006/main">
            <a:off x="7839075" y="2819400"/>
            <a:ext cx="3667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D2C27"/>
                </a:solidFill>
                <a:latin typeface="Microsoft YaHei"/>
                <a:ea typeface="Microsoft YaHei"/>
                <a:cs typeface="Microsoft YaHei"/>
              </a:defRPr>
            </a:pPr>
            <a:r>
              <a:rPr sz="2100" b="1">
                <a:solidFill>
                  <a:srgbClr val="1D2C27"/>
                </a:solidFill>
                <a:latin typeface="Microsoft YaHei"/>
                <a:ea typeface="Microsoft YaHei"/>
                <a:cs typeface="Microsoft YaHei"/>
              </a:rPr>
              <a:t>优先级排序与 Top-K</a:t>
            </a:r>
          </a:p>
        </p:txBody>
      </p:sp>
      <p:sp>
        <p:nvSpPr>
          <p:cNvPr id="12" name="">
            <a:extLst xmlns:a="http://schemas.openxmlformats.org/drawingml/2006/main">
              <a:ext uri="{FF2B5EF4-FFF2-40B4-BE49-F238E27FC236}">
                <a16:creationId xmlns:a16="http://schemas.microsoft.com/office/drawing/2014/main" id="{5FB92C32-801B-4575-BD15-61F3D7F95506}"/>
              </a:ext>
            </a:extLst>
          </p:cNvPr>
          <p:cNvSpPr>
            <a:spLocks xmlns:a="http://schemas.openxmlformats.org/drawingml/2006/main" noGrp="1"/>
          </p:cNvSpPr>
          <p:nvPr/>
        </p:nvSpPr>
        <p:spPr>
          <a:xfrm xmlns:a="http://schemas.openxmlformats.org/drawingml/2006/main">
            <a:off x="7839075" y="3305175"/>
            <a:ext cx="3667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B6862"/>
                </a:solidFill>
                <a:latin typeface="Microsoft YaHei"/>
                <a:ea typeface="Microsoft YaHei"/>
                <a:cs typeface="Microsoft YaHei"/>
              </a:defRPr>
            </a:pPr>
            <a:r>
              <a:rPr sz="1725" b="0">
                <a:solidFill>
                  <a:srgbClr val="5B6862"/>
                </a:solidFill>
                <a:latin typeface="Microsoft YaHei"/>
                <a:ea typeface="Microsoft YaHei"/>
                <a:cs typeface="Microsoft YaHei"/>
              </a:rPr>
              <a:t>按偏好比较，用堆保留较优候选</a:t>
            </a:r>
          </a:p>
        </p:txBody>
      </p:sp>
      <p:sp>
        <p:nvSpPr>
          <p:cNvPr id="13" name="">
            <a:extLst xmlns:a="http://schemas.openxmlformats.org/drawingml/2006/main">
              <a:ext uri="{FF2B5EF4-FFF2-40B4-BE49-F238E27FC236}">
                <a16:creationId xmlns:a16="http://schemas.microsoft.com/office/drawing/2014/main" id="{A9EE5B92-5F18-4C14-BE16-29F2C7980B72}"/>
              </a:ext>
            </a:extLst>
          </p:cNvPr>
          <p:cNvSpPr>
            <a:spLocks xmlns:a="http://schemas.openxmlformats.org/drawingml/2006/main" noGrp="1"/>
          </p:cNvSpPr>
          <p:nvPr/>
        </p:nvSpPr>
        <p:spPr>
          <a:xfrm xmlns:a="http://schemas.openxmlformats.org/drawingml/2006/main">
            <a:off x="7839075" y="3886200"/>
            <a:ext cx="3667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D2C27"/>
                </a:solidFill>
                <a:latin typeface="Microsoft YaHei"/>
                <a:ea typeface="Microsoft YaHei"/>
                <a:cs typeface="Microsoft YaHei"/>
              </a:defRPr>
            </a:pPr>
            <a:r>
              <a:rPr sz="2100" b="1">
                <a:solidFill>
                  <a:srgbClr val="1D2C27"/>
                </a:solidFill>
                <a:latin typeface="Microsoft YaHei"/>
                <a:ea typeface="Microsoft YaHei"/>
                <a:cs typeface="Microsoft YaHei"/>
              </a:rPr>
              <a:t>固定课表与结构完善</a:t>
            </a:r>
          </a:p>
        </p:txBody>
      </p:sp>
      <p:sp>
        <p:nvSpPr>
          <p:cNvPr id="14" name="">
            <a:extLst xmlns:a="http://schemas.openxmlformats.org/drawingml/2006/main">
              <a:ext uri="{FF2B5EF4-FFF2-40B4-BE49-F238E27FC236}">
                <a16:creationId xmlns:a16="http://schemas.microsoft.com/office/drawing/2014/main" id="{6EFD6B51-599B-45AB-AA42-18EF17F5C42F}"/>
              </a:ext>
            </a:extLst>
          </p:cNvPr>
          <p:cNvSpPr>
            <a:spLocks xmlns:a="http://schemas.openxmlformats.org/drawingml/2006/main" noGrp="1"/>
          </p:cNvSpPr>
          <p:nvPr/>
        </p:nvSpPr>
        <p:spPr>
          <a:xfrm xmlns:a="http://schemas.openxmlformats.org/drawingml/2006/main">
            <a:off x="7839075" y="4371975"/>
            <a:ext cx="3667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B6862"/>
                </a:solidFill>
                <a:latin typeface="Microsoft YaHei"/>
                <a:ea typeface="Microsoft YaHei"/>
                <a:cs typeface="Microsoft YaHei"/>
              </a:defRPr>
            </a:pPr>
            <a:r>
              <a:rPr sz="1725" b="0">
                <a:solidFill>
                  <a:srgbClr val="5B6862"/>
                </a:solidFill>
                <a:latin typeface="Microsoft YaHei"/>
                <a:ea typeface="Microsoft YaHei"/>
                <a:cs typeface="Microsoft YaHei"/>
              </a:rPr>
              <a:t>补课程分组索引、冲突图更新细节</a:t>
            </a:r>
          </a:p>
        </p:txBody>
      </p:sp>
      <p:sp>
        <p:nvSpPr>
          <p:cNvPr id="15" name="">
            <a:extLst xmlns:a="http://schemas.openxmlformats.org/drawingml/2006/main">
              <a:ext uri="{FF2B5EF4-FFF2-40B4-BE49-F238E27FC236}">
                <a16:creationId xmlns:a16="http://schemas.microsoft.com/office/drawing/2014/main" id="{90E204AE-D029-4B7F-8B9E-65B686DC6E90}"/>
              </a:ext>
            </a:extLst>
          </p:cNvPr>
          <p:cNvSpPr>
            <a:spLocks xmlns:a="http://schemas.openxmlformats.org/drawingml/2006/main" noGrp="1"/>
          </p:cNvSpPr>
          <p:nvPr/>
        </p:nvSpPr>
        <p:spPr>
          <a:xfrm xmlns:a="http://schemas.openxmlformats.org/drawingml/2006/main">
            <a:off x="7839075" y="4953000"/>
            <a:ext cx="3667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D2C27"/>
                </a:solidFill>
                <a:latin typeface="Microsoft YaHei"/>
                <a:ea typeface="Microsoft YaHei"/>
                <a:cs typeface="Microsoft YaHei"/>
              </a:defRPr>
            </a:pPr>
            <a:r>
              <a:rPr sz="2100" b="1">
                <a:solidFill>
                  <a:srgbClr val="1D2C27"/>
                </a:solidFill>
                <a:latin typeface="Microsoft YaHei"/>
                <a:ea typeface="Microsoft YaHei"/>
                <a:cs typeface="Microsoft YaHei"/>
              </a:rPr>
              <a:t>最终验证与交付</a:t>
            </a:r>
          </a:p>
        </p:txBody>
      </p:sp>
      <p:sp>
        <p:nvSpPr>
          <p:cNvPr id="16" name="">
            <a:extLst xmlns:a="http://schemas.openxmlformats.org/drawingml/2006/main">
              <a:ext uri="{FF2B5EF4-FFF2-40B4-BE49-F238E27FC236}">
                <a16:creationId xmlns:a16="http://schemas.microsoft.com/office/drawing/2014/main" id="{F9FE3C25-C409-434D-8281-65F60ACFA032}"/>
              </a:ext>
            </a:extLst>
          </p:cNvPr>
          <p:cNvSpPr>
            <a:spLocks xmlns:a="http://schemas.openxmlformats.org/drawingml/2006/main" noGrp="1"/>
          </p:cNvSpPr>
          <p:nvPr/>
        </p:nvSpPr>
        <p:spPr>
          <a:xfrm xmlns:a="http://schemas.openxmlformats.org/drawingml/2006/main">
            <a:off x="7839075" y="5438775"/>
            <a:ext cx="3667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B6862"/>
                </a:solidFill>
                <a:latin typeface="Microsoft YaHei"/>
                <a:ea typeface="Microsoft YaHei"/>
                <a:cs typeface="Microsoft YaHei"/>
              </a:defRPr>
            </a:pPr>
            <a:r>
              <a:rPr sz="1725" b="0">
                <a:solidFill>
                  <a:srgbClr val="5B6862"/>
                </a:solidFill>
                <a:latin typeface="Microsoft YaHei"/>
                <a:ea typeface="Microsoft YaHei"/>
                <a:cs typeface="Microsoft YaHei"/>
              </a:rPr>
              <a:t>真实数据、性能对照和结题材料</a:t>
            </a:r>
          </a:p>
        </p:txBody>
      </p:sp>
      <p:sp>
        <p:nvSpPr>
          <p:cNvPr id="17" name="">
            <a:extLst xmlns:a="http://schemas.openxmlformats.org/drawingml/2006/main">
              <a:ext uri="{FF2B5EF4-FFF2-40B4-BE49-F238E27FC236}">
                <a16:creationId xmlns:a16="http://schemas.microsoft.com/office/drawing/2014/main" id="{405C1BF4-2BCF-4490-94BB-B80944C9341E}"/>
              </a:ext>
            </a:extLst>
          </p:cNvPr>
          <p:cNvSpPr>
            <a:spLocks xmlns:a="http://schemas.openxmlformats.org/drawingml/2006/main" noGrp="1"/>
          </p:cNvSpPr>
          <p:nvPr/>
        </p:nvSpPr>
        <p:spPr>
          <a:xfrm xmlns:a="http://schemas.openxmlformats.org/drawingml/2006/main">
            <a:off x="742950" y="6134100"/>
            <a:ext cx="638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226A57"/>
                </a:solidFill>
                <a:latin typeface="Microsoft YaHei"/>
                <a:ea typeface="Microsoft YaHei"/>
                <a:cs typeface="Microsoft YaHei"/>
              </a:defRPr>
            </a:pPr>
            <a:r>
              <a:rPr sz="2175" b="1">
                <a:solidFill>
                  <a:srgbClr val="226A57"/>
                </a:solidFill>
                <a:latin typeface="Microsoft YaHei"/>
                <a:ea typeface="Microsoft YaHei"/>
                <a:cs typeface="Microsoft YaHei"/>
              </a:rPr>
              <a:t>下一步先实现评价器</a:t>
            </a:r>
          </a:p>
        </p:txBody>
      </p:sp>
    </p:spTree>
    <p:extLst>
      <p:ext uri="{BB962C8B-B14F-4D97-AF65-F5344CB8AC3E}">
        <p14:creationId xmlns:p14="http://schemas.microsoft.com/office/powerpoint/2010/main" val="14903936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2026-10-07T11:58:29.2430000Z</dcterms:created>
  <dcterms:modified xsi:type="dcterms:W3CDTF">2026-10-07T11:58:29.2430000Z</dcterms:modified>
</coreProperties>
</file>