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09699c991c4ff2" /><Relationship Type="http://schemas.openxmlformats.org/officeDocument/2006/relationships/extended-properties" Target="/docProps/app.xml" Id="R447a449a415042a0" /><Relationship Type="http://schemas.openxmlformats.org/officeDocument/2006/relationships/officeDocument" Target="/ppt/presentation.xml" Id="R25643cb13bf745df" /></Relationships>
</file>

<file path=ppt/presentation.xml><?xml version="1.0" encoding="utf-8"?>
<p:presentation xmlns:p="http://schemas.openxmlformats.org/presentationml/2006/main">
  <p:sldMasterIdLst>
    <p:sldMasterId xmlns:r="http://schemas.openxmlformats.org/officeDocument/2006/relationships" id="2147483648" r:id="Re91a5bcf83da4be8"/>
  </p:sldMasterIdLst>
  <p:notesMasterIdLst>
    <p:notesMasterId xmlns:r="http://schemas.openxmlformats.org/officeDocument/2006/relationships" r:id="Rb3ae91e201744d30"/>
  </p:notesMasterIdLst>
  <p:sldIdLst>
    <p:sldId xmlns:r="http://schemas.openxmlformats.org/officeDocument/2006/relationships" id="256" r:id="Ra6d44a750ba44871"/>
    <p:sldId xmlns:r="http://schemas.openxmlformats.org/officeDocument/2006/relationships" id="257" r:id="Rfd329d8d3035417e"/>
    <p:sldId xmlns:r="http://schemas.openxmlformats.org/officeDocument/2006/relationships" id="258" r:id="Rb8714e74afc34f1f"/>
    <p:sldId xmlns:r="http://schemas.openxmlformats.org/officeDocument/2006/relationships" id="259" r:id="R328ac16046884d72"/>
    <p:sldId xmlns:r="http://schemas.openxmlformats.org/officeDocument/2006/relationships" id="260" r:id="R1400c29460a84a2a"/>
    <p:sldId xmlns:r="http://schemas.openxmlformats.org/officeDocument/2006/relationships" id="261" r:id="R5a49253866114601"/>
    <p:sldId xmlns:r="http://schemas.openxmlformats.org/officeDocument/2006/relationships" id="262" r:id="Rfb72a3909b8948db"/>
    <p:sldId xmlns:r="http://schemas.openxmlformats.org/officeDocument/2006/relationships" id="263" r:id="R750a4dfb041b4c9d"/>
    <p:sldId xmlns:r="http://schemas.openxmlformats.org/officeDocument/2006/relationships" id="264" r:id="R223538e938394681"/>
    <p:sldId xmlns:r="http://schemas.openxmlformats.org/officeDocument/2006/relationships" id="265" r:id="Rb6da4f9f88b94b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14dedc343e4035" /><Relationship Type="http://schemas.openxmlformats.org/officeDocument/2006/relationships/slideMaster" Target="/ppt/slideMasters/slideMaster1.xml" Id="Re91a5bcf83da4be8" /><Relationship Type="http://schemas.openxmlformats.org/officeDocument/2006/relationships/notesMaster" Target="/ppt/notesMasters/notesMaster1.xml" Id="Rb3ae91e201744d30" /><Relationship Type="http://schemas.openxmlformats.org/officeDocument/2006/relationships/presProps" Target="/ppt/presProps.xml" Id="Rf7790a2147f24867" /><Relationship Type="http://schemas.openxmlformats.org/officeDocument/2006/relationships/tableStyles" Target="/ppt/tableStyles.xml" Id="Re83ffc49938342db" /><Relationship Type="http://schemas.openxmlformats.org/officeDocument/2006/relationships/slide" Target="/ppt/slides/slide1.xml" Id="Ra6d44a750ba44871" /><Relationship Type="http://schemas.openxmlformats.org/officeDocument/2006/relationships/slide" Target="/ppt/slides/slide2.xml" Id="Rfd329d8d3035417e" /><Relationship Type="http://schemas.openxmlformats.org/officeDocument/2006/relationships/slide" Target="/ppt/slides/slide3.xml" Id="Rb8714e74afc34f1f" /><Relationship Type="http://schemas.openxmlformats.org/officeDocument/2006/relationships/slide" Target="/ppt/slides/slide4.xml" Id="R328ac16046884d72" /><Relationship Type="http://schemas.openxmlformats.org/officeDocument/2006/relationships/slide" Target="/ppt/slides/slide5.xml" Id="R1400c29460a84a2a" /><Relationship Type="http://schemas.openxmlformats.org/officeDocument/2006/relationships/slide" Target="/ppt/slides/slide6.xml" Id="R5a49253866114601" /><Relationship Type="http://schemas.openxmlformats.org/officeDocument/2006/relationships/slide" Target="/ppt/slides/slide7.xml" Id="Rfb72a3909b8948db" /><Relationship Type="http://schemas.openxmlformats.org/officeDocument/2006/relationships/slide" Target="/ppt/slides/slide8.xml" Id="R750a4dfb041b4c9d" /><Relationship Type="http://schemas.openxmlformats.org/officeDocument/2006/relationships/slide" Target="/ppt/slides/slide9.xml" Id="R223538e938394681" /><Relationship Type="http://schemas.openxmlformats.org/officeDocument/2006/relationships/slide" Target="/ppt/slides/slide10.xml" Id="Rb6da4f9f88b94b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26d2491aea42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1c8498eee54a89" /><Relationship Type="http://schemas.openxmlformats.org/officeDocument/2006/relationships/notesMaster" Target="/ppt/notesMasters/notesMaster1.xml" Id="Rf131daa25b9d44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a58741e1404e54" /><Relationship Type="http://schemas.openxmlformats.org/officeDocument/2006/relationships/notesMaster" Target="/ppt/notesMasters/notesMaster1.xml" Id="R9fcc519caad047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f01c346254db5" /><Relationship Type="http://schemas.openxmlformats.org/officeDocument/2006/relationships/notesMaster" Target="/ppt/notesMasters/notesMaster1.xml" Id="R6710c59d8cc449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a7974f022f4269" /><Relationship Type="http://schemas.openxmlformats.org/officeDocument/2006/relationships/notesMaster" Target="/ppt/notesMasters/notesMaster1.xml" Id="Rcc19a82243a148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09e26493254aeb" /><Relationship Type="http://schemas.openxmlformats.org/officeDocument/2006/relationships/notesMaster" Target="/ppt/notesMasters/notesMaster1.xml" Id="R7598e64e070945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99bf2c32a143e2" /><Relationship Type="http://schemas.openxmlformats.org/officeDocument/2006/relationships/notesMaster" Target="/ppt/notesMasters/notesMaster1.xml" Id="R0b4158adf451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3eee6565044f1b" /><Relationship Type="http://schemas.openxmlformats.org/officeDocument/2006/relationships/notesMaster" Target="/ppt/notesMasters/notesMaster1.xml" Id="Ra47a39eda56548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5dd64c783c4768" /><Relationship Type="http://schemas.openxmlformats.org/officeDocument/2006/relationships/notesMaster" Target="/ppt/notesMasters/notesMaster1.xml" Id="Radb636153e2a4a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0aa7a26c604f1f" /><Relationship Type="http://schemas.openxmlformats.org/officeDocument/2006/relationships/notesMaster" Target="/ppt/notesMasters/notesMaster1.xml" Id="R969f97a950504e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4997db973c4405" /><Relationship Type="http://schemas.openxmlformats.org/officeDocument/2006/relationships/notesMaster" Target="/ppt/notesMasters/notesMaster1.xml" Id="R7ae5be72d8834e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好，我们的项目是基于冲突图与约束搜索的个人选课组合与冲突分析系统。它面向学生个人选课，在多个教师和上课安排之间寻找合法组合。本次汇报主要说明时间模型、冲突分析、搜索实现和中期完成情况。</a:t>
            </a:r>
          </a:p>
          <a:p xmlns:a="http://schemas.openxmlformats.org/drawingml/2006/main">
            <a:r>
              <a:t>本页用时约20秒。</a:t>
            </a:r>
          </a:p>
          <a:p xmlns:a="http://schemas.openxmlformats.org/drawingml/2006/main">
            <a:r>
              <a:t>依据：PROJECT_BRIEF.md、CMakeLists.txt。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门课程可能有多个教学班，一个班又可能一周上多次课。人工比较时，容易漏掉周次和单双周差异。任务书的中期目标包括录入教学班、生成时间位集合、判断冲突，以及在界面展示课程列表和冲突信息。目前这五项已经实现，并且已经接入组合搜索。</a:t>
            </a:r>
          </a:p>
          <a:p xmlns:a="http://schemas.openxmlformats.org/drawingml/2006/main">
            <a:r>
              <a:t/>
            </a:r>
          </a:p>
          <a:p xmlns:a="http://schemas.openxmlformats.org/drawingml/2006/main">
            <a:r>
              <a:t>本页用时约 35 秒。</a:t>
            </a:r>
          </a:p>
          <a:p xmlns:a="http://schemas.openxmlformats.org/drawingml/2006/main">
            <a:r>
              <a:t>依据：docs/计算机科学与工程程序设计实践课程设计任务书.pdf 第5页；src/core；src/ui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项目采用C++17、Qt 6和CMake。核心层负责时间集合、教学班管理、冲突和搜索，文件层处理CSV与JSON，界面层负责交互和展示。算法不依赖Qt Widgets。界面通过控制器调用核心服务，搜索在项目快照上后台运行，避免搜索过程阻塞界面。</a:t>
            </a:r>
          </a:p>
          <a:p xmlns:a="http://schemas.openxmlformats.org/drawingml/2006/main">
            <a:r>
              <a:t/>
            </a:r>
          </a:p>
          <a:p xmlns:a="http://schemas.openxmlformats.org/drawingml/2006/main">
            <a:r>
              <a:t>本页用时约 40 秒。</a:t>
            </a:r>
          </a:p>
          <a:p xmlns:a="http://schemas.openxmlformats.org/drawingml/2006/main">
            <a:r>
              <a:t>依据：CMakeLists.txt；src/ui/ProjectController.cpp；src/ui/SearchController.cpp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直接以TeachingClass录入，不再设置独立的Course对象。课程代码、名称和教师共同确定教学班，代码加名称只用于课程分组。一个TeachingClass包含多条Meeting。每条Meeting保存明确周次、星期、起止节次和教室。选择一个班时，会同时选中它的全部上课安排，学分也由这个班保存。</a:t>
            </a:r>
          </a:p>
          <a:p xmlns:a="http://schemas.openxmlformats.org/drawingml/2006/main">
            <a:r>
              <a:t/>
            </a:r>
          </a:p>
          <a:p xmlns:a="http://schemas.openxmlformats.org/drawingml/2006/main">
            <a:r>
              <a:t>本页用时约 45 秒。</a:t>
            </a:r>
          </a:p>
          <a:p xmlns:a="http://schemas.openxmlformats.org/drawingml/2006/main">
            <a:r>
              <a:t>依据：src/core/model/TeachingClass.h/.cpp；Meeting.h/.cpp；UserConstraints.h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间冲突必须同时考虑周次、星期和节次。默认二十周，每周七天，每天六个完整时段，所以一共有八百四十个位置。公式把一基坐标转换为零基下标。比如第二十周周日第六节，得到下标八百三十九。底层使用十四个六十四位整数存储。Meeting把周次与节次逐项展开，再把多个Meeting合并成教学班位图。单周和双周会先筛成明确的周次集合。</a:t>
            </a:r>
          </a:p>
          <a:p xmlns:a="http://schemas.openxmlformats.org/drawingml/2006/main">
            <a:r>
              <a:t/>
            </a:r>
          </a:p>
          <a:p xmlns:a="http://schemas.openxmlformats.org/drawingml/2006/main">
            <a:r>
              <a:t>本页用时约 55 秒。</a:t>
            </a:r>
          </a:p>
          <a:p xmlns:a="http://schemas.openxmlformats.org/drawingml/2006/main">
            <a:r>
              <a:t>依据：src/core/structures/TimeBitSet.h/.cpp；src/core/model/Meeting.cpp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两个教学班的位图按位与，只要交集非空就存在时间冲突。星期和节次相同但周次不重合，仍然可以同时选。同课程的不同班即使时间不同，也只能选择一个。冲突图采用邻接表，保存相邻教学班的ID、原因和具体时间。当前增删改后重建图，优先保证索引和图的一致性。</a:t>
            </a:r>
          </a:p>
          <a:p xmlns:a="http://schemas.openxmlformats.org/drawingml/2006/main">
            <a:r>
              <a:t/>
            </a:r>
          </a:p>
          <a:p xmlns:a="http://schemas.openxmlformats.org/drawingml/2006/main">
            <a:r>
              <a:t>本页用时约 40 秒。</a:t>
            </a:r>
          </a:p>
          <a:p xmlns:a="http://schemas.openxmlformats.org/drawingml/2006/main">
            <a:r>
              <a:t>依据：src/core/algorithms/ConflictDetector.cpp；src/core/structures/ConflictGraph.cpp；src/core/services/TeachingClassService.cpp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搜索先按必选课程建立候选域，再应用锁定和禁止时间。普通回溯按固定顺序逐组尝试。动态MRV每层优先选合法候选最少的组。前向检查在选择一个班后，提前排除剩余组中与它冲突的候选。如果某个组变空，就立即回退。删除记录保存在恢复栈里，回退只恢复当前层删掉的候选，因此不会误恢复父层已经排除的班。</a:t>
            </a:r>
          </a:p>
          <a:p xmlns:a="http://schemas.openxmlformats.org/drawingml/2006/main">
            <a:r>
              <a:t/>
            </a:r>
          </a:p>
          <a:p xmlns:a="http://schemas.openxmlformats.org/drawingml/2006/main">
            <a:r>
              <a:t>本页用时约 50 秒。</a:t>
            </a:r>
          </a:p>
          <a:p xmlns:a="http://schemas.openxmlformats.org/drawingml/2006/main">
            <a:r>
              <a:t>依据：src/core/algorithms/ScheduleGenerator.cpp:43-84、86-145、147-241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是当前程序的实际界面。左边是教学班，中间按真实周次显示课表，右边是候选方案和约束。这个样例有三门课程、五个教学班，能够得到三个合法方案。演示时我会切换到第二周，说明双周体育课会出现，再切回第一周说明它不出现。随后切换候选方案，并展示锁定教学班和禁止时间的设置入口。</a:t>
            </a:r>
          </a:p>
          <a:p xmlns:a="http://schemas.openxmlformats.org/drawingml/2006/main">
            <a:r>
              <a:t/>
            </a:r>
          </a:p>
          <a:p xmlns:a="http://schemas.openxmlformats.org/drawingml/2006/main">
            <a:r>
              <a:t>本页用时约 55 秒。</a:t>
            </a:r>
          </a:p>
          <a:p xmlns:a="http://schemas.openxmlformats.org/drawingml/2006/main">
            <a:r>
              <a:t>依据：当前Release程序，examples/search_demo.csv；实际窗口截图，未修改业务源码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结果会交给独立验证器。它从Meeting坐标重新检查课程集合、锁定、禁止时间和时间重叠，不依赖生成器的缓存位图。小规模案例还用完整枚举对照方案集合。最近Debug和Release构建的两项基础测试都通过。表中统计的是教学班赋值尝试次数，MRV在瓶颈案例中能更早发现无解。这些小样例不能代表所有输入上的加速效果。</a:t>
            </a:r>
          </a:p>
          <a:p xmlns:a="http://schemas.openxmlformats.org/drawingml/2006/main">
            <a:r>
              <a:t/>
            </a:r>
          </a:p>
          <a:p xmlns:a="http://schemas.openxmlformats.org/drawingml/2006/main">
            <a:r>
              <a:t>本页用时约 45 秒。</a:t>
            </a:r>
          </a:p>
          <a:p xmlns:a="http://schemas.openxmlformats.org/drawingml/2006/main">
            <a:r>
              <a:t>依据：tests/core_tests.cpp；tests/io_tests.cpp；2026-10-07 Debug和Release构建日志；scripts/benchmark.ps1 当前Release运行输出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按照任务书，中期验收要求已经全部完成。软件结题功能按工作量粗略估算约完成百分之七十五。下一步先按实际周次计算早课、空堂、上课天数等指标，再加入用户优先级排序和堆维护Top-K。独立固定课表、课程分组索引和冲突图更新细节，以及真实数据和完整性能验证，还需要继续补齐。我的汇报到这里，谢谢各位老师。</a:t>
            </a:r>
          </a:p>
          <a:p xmlns:a="http://schemas.openxmlformats.org/drawingml/2006/main">
            <a:r>
              <a:t/>
            </a:r>
          </a:p>
          <a:p xmlns:a="http://schemas.openxmlformats.org/drawingml/2006/main">
            <a:r>
              <a:t>本页用时约 35 秒。</a:t>
            </a:r>
          </a:p>
          <a:p xmlns:a="http://schemas.openxmlformats.org/drawingml/2006/main">
            <a:r>
              <a:t>依据：任务书第5页；README.md；当前src目录及代码核对。75%是软件功能工作量粗略估算，不是官方评分。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1ec525bfdc4c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a8de8499174324" /><Relationship Type="http://schemas.openxmlformats.org/officeDocument/2006/relationships/slideLayout" Target="/ppt/slideLayouts/slideLayout1.xml" Id="R1987e6ea8c6940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87e6ea8c6940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8e68231e4b4b7c" /><Relationship Type="http://schemas.openxmlformats.org/officeDocument/2006/relationships/notesSlide" Target="/ppt/notesSlides/notesSlide1.xml" Id="R5bb5a9ea465c49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930c28bacd429d" /><Relationship Type="http://schemas.openxmlformats.org/officeDocument/2006/relationships/notesSlide" Target="/ppt/notesSlides/notesSlide2.xml" Id="R1fc41e5ceec740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786651979a4a62" /><Relationship Type="http://schemas.openxmlformats.org/officeDocument/2006/relationships/notesSlide" Target="/ppt/notesSlides/notesSlide3.xml" Id="R9704f31624684f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7f09bb59824589" /><Relationship Type="http://schemas.openxmlformats.org/officeDocument/2006/relationships/notesSlide" Target="/ppt/notesSlides/notesSlide4.xml" Id="R01005c5a1d3d47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d7d9cf67b04c84" /><Relationship Type="http://schemas.openxmlformats.org/officeDocument/2006/relationships/notesSlide" Target="/ppt/notesSlides/notesSlide5.xml" Id="R3948b18be98a46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88185aced34752" /><Relationship Type="http://schemas.openxmlformats.org/officeDocument/2006/relationships/notesSlide" Target="/ppt/notesSlides/notesSlide6.xml" Id="Ra418238b00914f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26887641d541c8" /><Relationship Type="http://schemas.openxmlformats.org/officeDocument/2006/relationships/notesSlide" Target="/ppt/notesSlides/notesSlide7.xml" Id="R7df0e10af97f40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66cb20cdb4441f" /><Relationship Type="http://schemas.openxmlformats.org/officeDocument/2006/relationships/image" Target="/ppt/media/image.png" Id="Rd4e07b31acaa4366" /><Relationship Type="http://schemas.openxmlformats.org/officeDocument/2006/relationships/notesSlide" Target="/ppt/notesSlides/notesSlide8.xml" Id="Rc8c8164de5114c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ec5fbca3ec4112" /><Relationship Type="http://schemas.openxmlformats.org/officeDocument/2006/relationships/notesSlide" Target="/ppt/notesSlides/notesSlide9.xml" Id="R56e38b2ec5d046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3439a1d2a443df" /><Relationship Type="http://schemas.openxmlformats.org/officeDocument/2006/relationships/notesSlide" Target="/ppt/notesSlides/notesSlide10.xml" Id="R7ede7600caf046b0" /></Relationships>
</file>

<file path=ppt/slides/slide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326A2A-97B2-430E-897A-A5A1D140B37D}"/>
              </a:ext>
            </a:extLst>
          </p:cNvPr>
          <p:cNvSpPr>
            <a:spLocks xmlns:a="http://schemas.openxmlformats.org/drawingml/2006/main" noGrp="1"/>
          </p:cNvSpPr>
          <p:nvPr/>
        </p:nvSpPr>
        <p:spPr>
          <a:xfrm xmlns:a="http://schemas.openxmlformats.org/drawingml/2006/main">
            <a:off x="609600" y="1485900"/>
            <a:ext cx="1097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2D49"/>
                </a:solidFill>
                <a:latin typeface="Microsoft YaHei"/>
                <a:ea typeface="Microsoft YaHei"/>
                <a:cs typeface="Microsoft YaHei"/>
              </a:defRPr>
            </a:pPr>
            <a:r>
              <a:rPr sz="4200" b="1">
                <a:solidFill>
                  <a:srgbClr val="122D49"/>
                </a:solidFill>
                <a:latin typeface="Microsoft YaHei"/>
                <a:ea typeface="Microsoft YaHei"/>
                <a:cs typeface="Microsoft YaHei"/>
              </a:rPr>
              <a:t>基于冲突图与约束搜索的</a:t>
            </a:r>
          </a:p>
          <a:p xmlns:a="http://schemas.openxmlformats.org/drawingml/2006/main">
            <a:pPr>
              <a:defRPr sz="4200" b="1">
                <a:solidFill>
                  <a:srgbClr val="122D49"/>
                </a:solidFill>
                <a:latin typeface="Microsoft YaHei"/>
                <a:ea typeface="Microsoft YaHei"/>
                <a:cs typeface="Microsoft YaHei"/>
              </a:defRPr>
            </a:pPr>
            <a:r>
              <a:rPr sz="4200" b="1">
                <a:solidFill>
                  <a:srgbClr val="122D49"/>
                </a:solidFill>
                <a:latin typeface="Microsoft YaHei"/>
                <a:ea typeface="Microsoft YaHei"/>
                <a:cs typeface="Microsoft YaHei"/>
              </a:rPr>
              <a:t>个人选课组合与冲突分析系统</a:t>
            </a:r>
          </a:p>
        </p:txBody>
      </p:sp>
      <p:sp>
        <p:nvSpPr>
          <p:cNvPr id="2" name="">
            <a:extLst xmlns:a="http://schemas.openxmlformats.org/drawingml/2006/main">
              <a:ext uri="{FF2B5EF4-FFF2-40B4-BE49-F238E27FC236}">
                <a16:creationId xmlns:a16="http://schemas.microsoft.com/office/drawing/2014/main" id="{F95FA574-5607-459B-8283-B9CC14CF5F7D}"/>
              </a:ext>
            </a:extLst>
          </p:cNvPr>
          <p:cNvSpPr>
            <a:spLocks xmlns:a="http://schemas.openxmlformats.org/drawingml/2006/main" noGrp="1"/>
          </p:cNvSpPr>
          <p:nvPr/>
        </p:nvSpPr>
        <p:spPr>
          <a:xfrm xmlns:a="http://schemas.openxmlformats.org/drawingml/2006/main">
            <a:off x="647700" y="35242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83F"/>
                </a:solidFill>
                <a:latin typeface="Microsoft YaHei"/>
                <a:ea typeface="Microsoft YaHei"/>
                <a:cs typeface="Microsoft YaHei"/>
              </a:defRPr>
            </a:pPr>
            <a:r>
              <a:rPr sz="2400" b="0">
                <a:solidFill>
                  <a:srgbClr val="14283F"/>
                </a:solidFill>
                <a:latin typeface="Microsoft YaHei"/>
                <a:ea typeface="Microsoft YaHei"/>
                <a:cs typeface="Microsoft YaHei"/>
              </a:rPr>
              <a:t>计算机科学与工程程序设计实践</a:t>
            </a:r>
          </a:p>
          <a:p xmlns:a="http://schemas.openxmlformats.org/drawingml/2006/main">
            <a:pPr>
              <a:defRPr sz="2400" b="0">
                <a:solidFill>
                  <a:srgbClr val="14283F"/>
                </a:solidFill>
                <a:latin typeface="Microsoft YaHei"/>
                <a:ea typeface="Microsoft YaHei"/>
                <a:cs typeface="Microsoft YaHei"/>
              </a:defRPr>
            </a:pPr>
            <a:r>
              <a:rPr sz="2400" b="0">
                <a:solidFill>
                  <a:srgbClr val="14283F"/>
                </a:solidFill>
                <a:latin typeface="Microsoft YaHei"/>
                <a:ea typeface="Microsoft YaHei"/>
                <a:cs typeface="Microsoft YaHei"/>
              </a:rPr>
              <a:t>中期答辩</a:t>
            </a:r>
          </a:p>
        </p:txBody>
      </p:sp>
      <p:sp>
        <p:nvSpPr>
          <p:cNvPr id="3" name="">
            <a:extLst xmlns:a="http://schemas.openxmlformats.org/drawingml/2006/main">
              <a:ext uri="{FF2B5EF4-FFF2-40B4-BE49-F238E27FC236}">
                <a16:creationId xmlns:a16="http://schemas.microsoft.com/office/drawing/2014/main" id="{012EA0F7-DC32-4868-8E03-DC3EFAC52139}"/>
              </a:ext>
            </a:extLst>
          </p:cNvPr>
          <p:cNvSpPr>
            <a:spLocks xmlns:a="http://schemas.openxmlformats.org/drawingml/2006/main" noGrp="1"/>
          </p:cNvSpPr>
          <p:nvPr/>
        </p:nvSpPr>
        <p:spPr>
          <a:xfrm xmlns:a="http://schemas.openxmlformats.org/drawingml/2006/main">
            <a:off x="647700" y="51054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C6076"/>
                </a:solidFill>
                <a:latin typeface="Microsoft YaHei"/>
                <a:ea typeface="Microsoft YaHei"/>
                <a:cs typeface="Microsoft YaHei"/>
              </a:defRPr>
            </a:pPr>
            <a:r>
              <a:rPr sz="1950" b="0">
                <a:solidFill>
                  <a:srgbClr val="4C6076"/>
                </a:solidFill>
                <a:latin typeface="Microsoft YaHei"/>
                <a:ea typeface="Microsoft YaHei"/>
                <a:cs typeface="Microsoft YaHei"/>
              </a:rPr>
              <a:t>C++17   Qt 6 Widgets   CMake</a:t>
            </a:r>
          </a:p>
          <a:p xmlns:a="http://schemas.openxmlformats.org/drawingml/2006/main">
            <a:pPr>
              <a:defRPr sz="1950" b="0">
                <a:solidFill>
                  <a:srgbClr val="4C6076"/>
                </a:solidFill>
                <a:latin typeface="Microsoft YaHei"/>
                <a:ea typeface="Microsoft YaHei"/>
                <a:cs typeface="Microsoft YaHei"/>
              </a:defRPr>
            </a:pPr>
            <a:r>
              <a:rPr sz="1950" b="0">
                <a:solidFill>
                  <a:srgbClr val="4C6076"/>
                </a:solidFill>
                <a:latin typeface="Microsoft YaHei"/>
                <a:ea typeface="Microsoft YaHei"/>
                <a:cs typeface="Microsoft YaHei"/>
              </a:rPr>
              <a:t>2026年10月7日</a:t>
            </a:r>
          </a:p>
        </p:txBody>
      </p:sp>
    </p:spTree>
    <p:extLst>
      <p:ext uri="{BB962C8B-B14F-4D97-AF65-F5344CB8AC3E}">
        <p14:creationId xmlns:p14="http://schemas.microsoft.com/office/powerpoint/2010/main" val="2136106421"/>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488E23-948A-4E97-947A-32C6AD3C8473}"/>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需求与中期目标</a:t>
            </a:r>
          </a:p>
        </p:txBody>
      </p:sp>
      <p:sp>
        <p:nvSpPr>
          <p:cNvPr id="2" name="">
            <a:extLst xmlns:a="http://schemas.openxmlformats.org/drawingml/2006/main">
              <a:ext uri="{FF2B5EF4-FFF2-40B4-BE49-F238E27FC236}">
                <a16:creationId xmlns:a16="http://schemas.microsoft.com/office/drawing/2014/main" id="{FD8D5F7C-F2AC-47CB-905F-4FF5322ED071}"/>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02</a:t>
            </a:r>
          </a:p>
        </p:txBody>
      </p:sp>
      <p:sp>
        <p:nvSpPr>
          <p:cNvPr id="3" name="">
            <a:extLst xmlns:a="http://schemas.openxmlformats.org/drawingml/2006/main">
              <a:ext uri="{FF2B5EF4-FFF2-40B4-BE49-F238E27FC236}">
                <a16:creationId xmlns:a16="http://schemas.microsoft.com/office/drawing/2014/main" id="{92EFE477-4CF4-451E-9EEB-27A8F3C0BC07}"/>
              </a:ext>
            </a:extLst>
          </p:cNvPr>
          <p:cNvSpPr>
            <a:spLocks xmlns:a="http://schemas.openxmlformats.org/drawingml/2006/main" noGrp="1"/>
          </p:cNvSpPr>
          <p:nvPr/>
        </p:nvSpPr>
        <p:spPr>
          <a:xfrm xmlns:a="http://schemas.openxmlformats.org/drawingml/2006/main">
            <a:off x="609600" y="1257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83F"/>
                </a:solidFill>
                <a:latin typeface="Microsoft YaHei"/>
                <a:ea typeface="Microsoft YaHei"/>
                <a:cs typeface="Microsoft YaHei"/>
              </a:defRPr>
            </a:pPr>
            <a:r>
              <a:rPr sz="2250" b="0">
                <a:solidFill>
                  <a:srgbClr val="14283F"/>
                </a:solidFill>
                <a:latin typeface="Microsoft YaHei"/>
                <a:ea typeface="Microsoft YaHei"/>
                <a:cs typeface="Microsoft YaHei"/>
              </a:rPr>
              <a:t>在多个可选教学班之间，生成满足时间与用户约束的个人课表</a:t>
            </a:r>
          </a:p>
        </p:txBody>
      </p:sp>
      <p:graphicFrame>
        <p:nvGraphicFramePr>
          <p:cNvPr id="9" name=""/>
          <p:cNvGraphicFramePr/>
          <p:nvPr/>
        </p:nvGraphicFramePr>
        <p:xfrm>
          <a:off xmlns:a="http://schemas.openxmlformats.org/drawingml/2006/main" x="609600" y="2114550"/>
          <a:ext xmlns:a="http://schemas.openxmlformats.org/drawingml/2006/main" cx="10972800" cy="3314700"/>
        </p:xfrm>
        <a:graphic xmlns:a="http://schemas.openxmlformats.org/drawingml/2006/main">
          <a:graphicData uri="http://schemas.openxmlformats.org/drawingml/2006/table">
            <a:tbl>
              <a:tblPr/>
              <a:tblGrid>
                <a:gridCol w="2952750"/>
                <a:gridCol w="8020050"/>
              </a:tblGrid>
              <a:tr h="662940">
                <a:tc>
                  <a:txBody>
                    <a:bodyPr/>
                    <a:lstStyle/>
                    <a:p>
                      <a:r>
                        <a:rPr sz="2025" b="1">
                          <a:solidFill>
                            <a:srgbClr val="FFFFFF"/>
                          </a:solidFill>
                          <a:latin typeface="Microsoft YaHei"/>
                          <a:ea typeface="Microsoft YaHei"/>
                          <a:cs typeface="Microsoft YaHei"/>
                        </a:rPr>
                        <a:t>中期验收项</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当前实现</a:t>
                      </a:r>
                    </a:p>
                  </a:txBody>
                  <a:tcPr marL="91440" marR="91440" marT="45720" marB="45720">
                    <a:solidFill>
                      <a:srgbClr val="173A5E"/>
                    </a:solidFill>
                  </a:tcPr>
                </a:tc>
              </a:tr>
              <a:tr h="662940">
                <a:tc>
                  <a:txBody>
                    <a:bodyPr/>
                    <a:lstStyle/>
                    <a:p>
                      <a:r>
                        <a:rPr sz="2025" b="0">
                          <a:solidFill>
                            <a:srgbClr val="14283F"/>
                          </a:solidFill>
                          <a:latin typeface="Microsoft YaHei"/>
                          <a:ea typeface="Microsoft YaHei"/>
                          <a:cs typeface="Microsoft YaHei"/>
                        </a:rPr>
                        <a:t>教学班录入</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代码、名称、教师、学分及多条上课安排</a:t>
                      </a:r>
                    </a:p>
                  </a:txBody>
                  <a:tcPr marL="91440" marR="91440" marT="45720" marB="45720">
                    <a:solidFill>
                      <a:srgbClr val="FFFFFF"/>
                    </a:solidFill>
                  </a:tcPr>
                </a:tc>
              </a:tr>
              <a:tr h="662940">
                <a:tc>
                  <a:txBody>
                    <a:bodyPr/>
                    <a:lstStyle/>
                    <a:p>
                      <a:r>
                        <a:rPr sz="2025" b="0">
                          <a:solidFill>
                            <a:srgbClr val="14283F"/>
                          </a:solidFill>
                          <a:latin typeface="Microsoft YaHei"/>
                          <a:ea typeface="Microsoft YaHei"/>
                          <a:cs typeface="Microsoft YaHei"/>
                        </a:rPr>
                        <a:t>时间位集合</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周次 × 星期 × 节次</a:t>
                      </a:r>
                    </a:p>
                  </a:txBody>
                  <a:tcPr marL="91440" marR="91440" marT="45720" marB="45720">
                    <a:solidFill>
                      <a:srgbClr val="EDF3F8"/>
                    </a:solidFill>
                  </a:tcPr>
                </a:tc>
              </a:tr>
              <a:tr h="662940">
                <a:tc>
                  <a:txBody>
                    <a:bodyPr/>
                    <a:lstStyle/>
                    <a:p>
                      <a:r>
                        <a:rPr sz="2025" b="0">
                          <a:solidFill>
                            <a:srgbClr val="14283F"/>
                          </a:solidFill>
                          <a:latin typeface="Microsoft YaHei"/>
                          <a:ea typeface="Microsoft YaHei"/>
                          <a:cs typeface="Microsoft YaHei"/>
                        </a:rPr>
                        <a:t>教学班冲突判定</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时间重叠及同课程教学班互斥</a:t>
                      </a:r>
                    </a:p>
                  </a:txBody>
                  <a:tcPr marL="91440" marR="91440" marT="45720" marB="45720">
                    <a:solidFill>
                      <a:srgbClr val="FFFFFF"/>
                    </a:solidFill>
                  </a:tcPr>
                </a:tc>
              </a:tr>
              <a:tr h="662940">
                <a:tc>
                  <a:txBody>
                    <a:bodyPr/>
                    <a:lstStyle/>
                    <a:p>
                      <a:r>
                        <a:rPr sz="2025" b="0">
                          <a:solidFill>
                            <a:srgbClr val="14283F"/>
                          </a:solidFill>
                          <a:latin typeface="Microsoft YaHei"/>
                          <a:ea typeface="Microsoft YaHei"/>
                          <a:cs typeface="Microsoft YaHei"/>
                        </a:rPr>
                        <a:t>课程列表与冲突展示</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筛选、具体重叠时间与邻接关系</a:t>
                      </a:r>
                    </a:p>
                  </a:txBody>
                  <a:tcPr marL="91440" marR="91440" marT="45720" marB="45720">
                    <a:solidFill>
                      <a:srgbClr val="EDF3F8"/>
                    </a:solidFill>
                  </a:tcPr>
                </a:tc>
              </a:tr>
            </a:tbl>
          </a:graphicData>
        </a:graphic>
      </p:graphicFrame>
      <p:sp>
        <p:nvSpPr>
          <p:cNvPr id="5" name="">
            <a:extLst xmlns:a="http://schemas.openxmlformats.org/drawingml/2006/main">
              <a:ext uri="{FF2B5EF4-FFF2-40B4-BE49-F238E27FC236}">
                <a16:creationId xmlns:a16="http://schemas.microsoft.com/office/drawing/2014/main" id="{819FE597-F2A4-487E-9ECF-5B35F7DE7B3E}"/>
              </a:ext>
            </a:extLst>
          </p:cNvPr>
          <p:cNvSpPr>
            <a:spLocks xmlns:a="http://schemas.openxmlformats.org/drawingml/2006/main" noGrp="1"/>
          </p:cNvSpPr>
          <p:nvPr/>
        </p:nvSpPr>
        <p:spPr>
          <a:xfrm xmlns:a="http://schemas.openxmlformats.org/drawingml/2006/main">
            <a:off x="609600" y="5753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C617B"/>
                </a:solidFill>
                <a:latin typeface="Microsoft YaHei"/>
                <a:ea typeface="Microsoft YaHei"/>
                <a:cs typeface="Microsoft YaHei"/>
              </a:defRPr>
            </a:pPr>
            <a:r>
              <a:rPr sz="2100" b="1">
                <a:solidFill>
                  <a:srgbClr val="1C617B"/>
                </a:solidFill>
                <a:latin typeface="Microsoft YaHei"/>
                <a:ea typeface="Microsoft YaHei"/>
                <a:cs typeface="Microsoft YaHei"/>
              </a:rPr>
              <a:t>五项中期检查目标均已实现，组合搜索已经接入界面</a:t>
            </a:r>
          </a:p>
        </p:txBody>
      </p:sp>
    </p:spTree>
    <p:extLst>
      <p:ext uri="{BB962C8B-B14F-4D97-AF65-F5344CB8AC3E}">
        <p14:creationId xmlns:p14="http://schemas.microsoft.com/office/powerpoint/2010/main" val="30455801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FD7E3E-6DDB-4DD3-83F3-142165B6D9F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模块架构</a:t>
            </a:r>
          </a:p>
        </p:txBody>
      </p:sp>
      <p:sp>
        <p:nvSpPr>
          <p:cNvPr id="2" name="">
            <a:extLst xmlns:a="http://schemas.openxmlformats.org/drawingml/2006/main">
              <a:ext uri="{FF2B5EF4-FFF2-40B4-BE49-F238E27FC236}">
                <a16:creationId xmlns:a16="http://schemas.microsoft.com/office/drawing/2014/main" id="{48B0ACCE-2431-46E4-8104-D1E877969932}"/>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03</a:t>
            </a:r>
          </a:p>
        </p:txBody>
      </p:sp>
      <p:graphicFrame>
        <p:nvGraphicFramePr>
          <p:cNvPr id="7" name=""/>
          <p:cNvGraphicFramePr/>
          <p:nvPr/>
        </p:nvGraphicFramePr>
        <p:xfrm>
          <a:off xmlns:a="http://schemas.openxmlformats.org/drawingml/2006/main" x="609600" y="1581150"/>
          <a:ext xmlns:a="http://schemas.openxmlformats.org/drawingml/2006/main" cx="10972800" cy="3381375"/>
        </p:xfrm>
        <a:graphic xmlns:a="http://schemas.openxmlformats.org/drawingml/2006/main">
          <a:graphicData uri="http://schemas.openxmlformats.org/drawingml/2006/table">
            <a:tbl>
              <a:tblPr/>
              <a:tblGrid>
                <a:gridCol w="2952750"/>
                <a:gridCol w="8020050"/>
              </a:tblGrid>
              <a:tr h="676275">
                <a:tc>
                  <a:txBody>
                    <a:bodyPr/>
                    <a:lstStyle/>
                    <a:p>
                      <a:r>
                        <a:rPr sz="2100" b="1">
                          <a:solidFill>
                            <a:srgbClr val="FFFFFF"/>
                          </a:solidFill>
                          <a:latin typeface="Microsoft YaHei"/>
                          <a:ea typeface="Microsoft YaHei"/>
                          <a:cs typeface="Microsoft YaHei"/>
                        </a:rPr>
                        <a:t>模块</a:t>
                      </a:r>
                    </a:p>
                  </a:txBody>
                  <a:tcPr marL="91440" marR="91440" marT="45720" marB="45720">
                    <a:solidFill>
                      <a:srgbClr val="173A5E"/>
                    </a:solidFill>
                  </a:tcPr>
                </a:tc>
                <a:tc>
                  <a:txBody>
                    <a:bodyPr/>
                    <a:lstStyle/>
                    <a:p>
                      <a:r>
                        <a:rPr sz="2100" b="1">
                          <a:solidFill>
                            <a:srgbClr val="FFFFFF"/>
                          </a:solidFill>
                          <a:latin typeface="Microsoft YaHei"/>
                          <a:ea typeface="Microsoft YaHei"/>
                          <a:cs typeface="Microsoft YaHei"/>
                        </a:rPr>
                        <a:t>主要职责</a:t>
                      </a:r>
                    </a:p>
                  </a:txBody>
                  <a:tcPr marL="91440" marR="91440" marT="45720" marB="45720">
                    <a:solidFill>
                      <a:srgbClr val="173A5E"/>
                    </a:solidFill>
                  </a:tcPr>
                </a:tc>
              </a:tr>
              <a:tr h="676275">
                <a:tc>
                  <a:txBody>
                    <a:bodyPr/>
                    <a:lstStyle/>
                    <a:p>
                      <a:r>
                        <a:rPr sz="2100" b="0">
                          <a:solidFill>
                            <a:srgbClr val="14283F"/>
                          </a:solidFill>
                          <a:latin typeface="Microsoft YaHei"/>
                          <a:ea typeface="Microsoft YaHei"/>
                          <a:cs typeface="Microsoft YaHei"/>
                        </a:rPr>
                        <a:t>core</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数据模型、时间位集合、冲突图、约束搜索</a:t>
                      </a:r>
                    </a:p>
                  </a:txBody>
                  <a:tcPr marL="91440" marR="91440" marT="45720" marB="45720">
                    <a:solidFill>
                      <a:srgbClr val="FFFFFF"/>
                    </a:solidFill>
                  </a:tcPr>
                </a:tc>
              </a:tr>
              <a:tr h="676275">
                <a:tc>
                  <a:txBody>
                    <a:bodyPr/>
                    <a:lstStyle/>
                    <a:p>
                      <a:r>
                        <a:rPr sz="2100" b="0">
                          <a:solidFill>
                            <a:srgbClr val="14283F"/>
                          </a:solidFill>
                          <a:latin typeface="Microsoft YaHei"/>
                          <a:ea typeface="Microsoft YaHei"/>
                          <a:cs typeface="Microsoft YaHei"/>
                        </a:rPr>
                        <a:t>io</a:t>
                      </a:r>
                    </a:p>
                  </a:txBody>
                  <a:tcPr marL="91440" marR="91440" marT="45720" marB="45720">
                    <a:solidFill>
                      <a:srgbClr val="EDF3F8"/>
                    </a:solidFill>
                  </a:tcPr>
                </a:tc>
                <a:tc>
                  <a:txBody>
                    <a:bodyPr/>
                    <a:lstStyle/>
                    <a:p>
                      <a:r>
                        <a:rPr sz="2100" b="0">
                          <a:solidFill>
                            <a:srgbClr val="14283F"/>
                          </a:solidFill>
                          <a:latin typeface="Microsoft YaHei"/>
                          <a:ea typeface="Microsoft YaHei"/>
                          <a:cs typeface="Microsoft YaHei"/>
                        </a:rPr>
                        <a:t>CSV导入、JSON项目保存与恢复</a:t>
                      </a:r>
                    </a:p>
                  </a:txBody>
                  <a:tcPr marL="91440" marR="91440" marT="45720" marB="45720">
                    <a:solidFill>
                      <a:srgbClr val="EDF3F8"/>
                    </a:solidFill>
                  </a:tcPr>
                </a:tc>
              </a:tr>
              <a:tr h="676275">
                <a:tc>
                  <a:txBody>
                    <a:bodyPr/>
                    <a:lstStyle/>
                    <a:p>
                      <a:r>
                        <a:rPr sz="2100" b="0">
                          <a:solidFill>
                            <a:srgbClr val="14283F"/>
                          </a:solidFill>
                          <a:latin typeface="Microsoft YaHei"/>
                          <a:ea typeface="Microsoft YaHei"/>
                          <a:cs typeface="Microsoft YaHei"/>
                        </a:rPr>
                        <a:t>ui</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教学班编辑、约束设置、课表与候选展示</a:t>
                      </a:r>
                    </a:p>
                  </a:txBody>
                  <a:tcPr marL="91440" marR="91440" marT="45720" marB="45720">
                    <a:solidFill>
                      <a:srgbClr val="FFFFFF"/>
                    </a:solidFill>
                  </a:tcPr>
                </a:tc>
              </a:tr>
              <a:tr h="676275">
                <a:tc>
                  <a:txBody>
                    <a:bodyPr/>
                    <a:lstStyle/>
                    <a:p>
                      <a:r>
                        <a:rPr sz="2100" b="0">
                          <a:solidFill>
                            <a:srgbClr val="14283F"/>
                          </a:solidFill>
                          <a:latin typeface="Microsoft YaHei"/>
                          <a:ea typeface="Microsoft YaHei"/>
                          <a:cs typeface="Microsoft YaHei"/>
                        </a:rPr>
                        <a:t>app 与 demo</a:t>
                      </a:r>
                    </a:p>
                  </a:txBody>
                  <a:tcPr marL="91440" marR="91440" marT="45720" marB="45720">
                    <a:solidFill>
                      <a:srgbClr val="EDF3F8"/>
                    </a:solidFill>
                  </a:tcPr>
                </a:tc>
                <a:tc>
                  <a:txBody>
                    <a:bodyPr/>
                    <a:lstStyle/>
                    <a:p>
                      <a:r>
                        <a:rPr sz="2100" b="0">
                          <a:solidFill>
                            <a:srgbClr val="14283F"/>
                          </a:solidFill>
                          <a:latin typeface="Microsoft YaHei"/>
                          <a:ea typeface="Microsoft YaHei"/>
                          <a:cs typeface="Microsoft YaHei"/>
                        </a:rPr>
                        <a:t>GUI入口、数据工具和算法性能对照</a:t>
                      </a:r>
                    </a:p>
                  </a:txBody>
                  <a:tcPr marL="91440" marR="91440" marT="45720" marB="45720">
                    <a:solidFill>
                      <a:srgbClr val="EDF3F8"/>
                    </a:solidFill>
                  </a:tcPr>
                </a:tc>
              </a:tr>
            </a:tbl>
          </a:graphicData>
        </a:graphic>
      </p:graphicFrame>
      <p:sp>
        <p:nvSpPr>
          <p:cNvPr id="4" name="">
            <a:extLst xmlns:a="http://schemas.openxmlformats.org/drawingml/2006/main">
              <a:ext uri="{FF2B5EF4-FFF2-40B4-BE49-F238E27FC236}">
                <a16:creationId xmlns:a16="http://schemas.microsoft.com/office/drawing/2014/main" id="{D450F9A6-D803-41C4-89C2-7F51FC5B0AAB}"/>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控制器衔接界面与核心服务</a:t>
            </a:r>
          </a:p>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后台搜索读取项目快照，数据修改后丢弃旧结果</a:t>
            </a:r>
          </a:p>
        </p:txBody>
      </p:sp>
    </p:spTree>
    <p:extLst>
      <p:ext uri="{BB962C8B-B14F-4D97-AF65-F5344CB8AC3E}">
        <p14:creationId xmlns:p14="http://schemas.microsoft.com/office/powerpoint/2010/main" val="1504728936"/>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DF2FED-96D6-40C3-87FA-B779B2EF4FB0}"/>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教学班与上课安排</a:t>
            </a:r>
          </a:p>
        </p:txBody>
      </p:sp>
      <p:sp>
        <p:nvSpPr>
          <p:cNvPr id="2" name="">
            <a:extLst xmlns:a="http://schemas.openxmlformats.org/drawingml/2006/main">
              <a:ext uri="{FF2B5EF4-FFF2-40B4-BE49-F238E27FC236}">
                <a16:creationId xmlns:a16="http://schemas.microsoft.com/office/drawing/2014/main" id="{D04AE0E6-9E43-4A89-B385-E8CB9487422B}"/>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04</a:t>
            </a:r>
          </a:p>
        </p:txBody>
      </p:sp>
      <p:graphicFrame>
        <p:nvGraphicFramePr>
          <p:cNvPr id="7" name=""/>
          <p:cNvGraphicFramePr/>
          <p:nvPr/>
        </p:nvGraphicFramePr>
        <p:xfrm>
          <a:off xmlns:a="http://schemas.openxmlformats.org/drawingml/2006/main" x="609600" y="1552575"/>
          <a:ext xmlns:a="http://schemas.openxmlformats.org/drawingml/2006/main" cx="10972800" cy="3333750"/>
        </p:xfrm>
        <a:graphic xmlns:a="http://schemas.openxmlformats.org/drawingml/2006/main">
          <a:graphicData uri="http://schemas.openxmlformats.org/drawingml/2006/table">
            <a:tbl>
              <a:tblPr/>
              <a:tblGrid>
                <a:gridCol w="2762250"/>
                <a:gridCol w="8210550"/>
              </a:tblGrid>
              <a:tr h="666750">
                <a:tc>
                  <a:txBody>
                    <a:bodyPr/>
                    <a:lstStyle/>
                    <a:p>
                      <a:r>
                        <a:rPr sz="1950" b="1">
                          <a:solidFill>
                            <a:srgbClr val="FFFFFF"/>
                          </a:solidFill>
                          <a:latin typeface="Microsoft YaHei"/>
                          <a:ea typeface="Microsoft YaHei"/>
                          <a:cs typeface="Microsoft YaHei"/>
                        </a:rPr>
                        <a:t>对象</a:t>
                      </a:r>
                    </a:p>
                  </a:txBody>
                  <a:tcPr marL="91440" marR="91440" marT="45720" marB="45720">
                    <a:solidFill>
                      <a:srgbClr val="173A5E"/>
                    </a:solidFill>
                  </a:tcPr>
                </a:tc>
                <a:tc>
                  <a:txBody>
                    <a:bodyPr/>
                    <a:lstStyle/>
                    <a:p>
                      <a:r>
                        <a:rPr sz="1950" b="1">
                          <a:solidFill>
                            <a:srgbClr val="FFFFFF"/>
                          </a:solidFill>
                          <a:latin typeface="Microsoft YaHei"/>
                          <a:ea typeface="Microsoft YaHei"/>
                          <a:cs typeface="Microsoft YaHei"/>
                        </a:rPr>
                        <a:t>保存的信息</a:t>
                      </a:r>
                    </a:p>
                  </a:txBody>
                  <a:tcPr marL="91440" marR="91440" marT="45720" marB="45720">
                    <a:solidFill>
                      <a:srgbClr val="173A5E"/>
                    </a:solidFill>
                  </a:tcPr>
                </a:tc>
              </a:tr>
              <a:tr h="666750">
                <a:tc>
                  <a:txBody>
                    <a:bodyPr/>
                    <a:lstStyle/>
                    <a:p>
                      <a:r>
                        <a:rPr sz="1950" b="0">
                          <a:solidFill>
                            <a:srgbClr val="14283F"/>
                          </a:solidFill>
                          <a:latin typeface="Microsoft YaHei"/>
                          <a:ea typeface="Microsoft YaHei"/>
                          <a:cs typeface="Microsoft YaHei"/>
                        </a:rPr>
                        <a:t>TeachingClass</a:t>
                      </a:r>
                    </a:p>
                  </a:txBody>
                  <a:tcPr marL="91440" marR="91440" marT="45720" marB="45720">
                    <a:solidFill>
                      <a:srgbClr val="FFFFFF"/>
                    </a:solidFill>
                  </a:tcPr>
                </a:tc>
                <a:tc>
                  <a:txBody>
                    <a:bodyPr/>
                    <a:lstStyle/>
                    <a:p>
                      <a:r>
                        <a:rPr sz="1950" b="0">
                          <a:solidFill>
                            <a:srgbClr val="14283F"/>
                          </a:solidFill>
                          <a:latin typeface="Microsoft YaHei"/>
                          <a:ea typeface="Microsoft YaHei"/>
                          <a:cs typeface="Microsoft YaHei"/>
                        </a:rPr>
                        <a:t>课程代码、名称、教师、学分、全部Meeting和时间位图</a:t>
                      </a:r>
                    </a:p>
                  </a:txBody>
                  <a:tcPr marL="91440" marR="91440" marT="45720" marB="45720">
                    <a:solidFill>
                      <a:srgbClr val="FFFFFF"/>
                    </a:solidFill>
                  </a:tcPr>
                </a:tc>
              </a:tr>
              <a:tr h="666750">
                <a:tc>
                  <a:txBody>
                    <a:bodyPr/>
                    <a:lstStyle/>
                    <a:p>
                      <a:r>
                        <a:rPr sz="1950" b="0">
                          <a:solidFill>
                            <a:srgbClr val="14283F"/>
                          </a:solidFill>
                          <a:latin typeface="Microsoft YaHei"/>
                          <a:ea typeface="Microsoft YaHei"/>
                          <a:cs typeface="Microsoft YaHei"/>
                        </a:rPr>
                        <a:t>Meeting</a:t>
                      </a:r>
                    </a:p>
                  </a:txBody>
                  <a:tcPr marL="91440" marR="91440" marT="45720" marB="45720">
                    <a:solidFill>
                      <a:srgbClr val="EDF3F8"/>
                    </a:solidFill>
                  </a:tcPr>
                </a:tc>
                <a:tc>
                  <a:txBody>
                    <a:bodyPr/>
                    <a:lstStyle/>
                    <a:p>
                      <a:r>
                        <a:rPr sz="1950" b="0">
                          <a:solidFill>
                            <a:srgbClr val="14283F"/>
                          </a:solidFill>
                          <a:latin typeface="Microsoft YaHei"/>
                          <a:ea typeface="Microsoft YaHei"/>
                          <a:cs typeface="Microsoft YaHei"/>
                        </a:rPr>
                        <a:t>明确周次、星期、起止节次、教室</a:t>
                      </a:r>
                    </a:p>
                  </a:txBody>
                  <a:tcPr marL="91440" marR="91440" marT="45720" marB="45720">
                    <a:solidFill>
                      <a:srgbClr val="EDF3F8"/>
                    </a:solidFill>
                  </a:tcPr>
                </a:tc>
              </a:tr>
              <a:tr h="666750">
                <a:tc>
                  <a:txBody>
                    <a:bodyPr/>
                    <a:lstStyle/>
                    <a:p>
                      <a:r>
                        <a:rPr sz="1950" b="0">
                          <a:solidFill>
                            <a:srgbClr val="14283F"/>
                          </a:solidFill>
                          <a:latin typeface="Microsoft YaHei"/>
                          <a:ea typeface="Microsoft YaHei"/>
                          <a:cs typeface="Microsoft YaHei"/>
                        </a:rPr>
                        <a:t>Schedule</a:t>
                      </a:r>
                    </a:p>
                  </a:txBody>
                  <a:tcPr marL="91440" marR="91440" marT="45720" marB="45720">
                    <a:solidFill>
                      <a:srgbClr val="FFFFFF"/>
                    </a:solidFill>
                  </a:tcPr>
                </a:tc>
                <a:tc>
                  <a:txBody>
                    <a:bodyPr/>
                    <a:lstStyle/>
                    <a:p>
                      <a:r>
                        <a:rPr sz="1950" b="0">
                          <a:solidFill>
                            <a:srgbClr val="14283F"/>
                          </a:solidFill>
                          <a:latin typeface="Microsoft YaHei"/>
                          <a:ea typeface="Microsoft YaHei"/>
                          <a:cs typeface="Microsoft YaHei"/>
                        </a:rPr>
                        <a:t>选中教学班ID与总占用位图</a:t>
                      </a:r>
                    </a:p>
                  </a:txBody>
                  <a:tcPr marL="91440" marR="91440" marT="45720" marB="45720">
                    <a:solidFill>
                      <a:srgbClr val="FFFFFF"/>
                    </a:solidFill>
                  </a:tcPr>
                </a:tc>
              </a:tr>
              <a:tr h="666750">
                <a:tc>
                  <a:txBody>
                    <a:bodyPr/>
                    <a:lstStyle/>
                    <a:p>
                      <a:r>
                        <a:rPr sz="1950" b="0">
                          <a:solidFill>
                            <a:srgbClr val="14283F"/>
                          </a:solidFill>
                          <a:latin typeface="Microsoft YaHei"/>
                          <a:ea typeface="Microsoft YaHei"/>
                          <a:cs typeface="Microsoft YaHei"/>
                        </a:rPr>
                        <a:t>UserConstraints</a:t>
                      </a:r>
                    </a:p>
                  </a:txBody>
                  <a:tcPr marL="91440" marR="91440" marT="45720" marB="45720">
                    <a:solidFill>
                      <a:srgbClr val="EDF3F8"/>
                    </a:solidFill>
                  </a:tcPr>
                </a:tc>
                <a:tc>
                  <a:txBody>
                    <a:bodyPr/>
                    <a:lstStyle/>
                    <a:p>
                      <a:r>
                        <a:rPr sz="1950" b="0">
                          <a:solidFill>
                            <a:srgbClr val="14283F"/>
                          </a:solidFill>
                          <a:latin typeface="Microsoft YaHei"/>
                          <a:ea typeface="Microsoft YaHei"/>
                          <a:cs typeface="Microsoft YaHei"/>
                        </a:rPr>
                        <a:t>必选分组、锁定教学班、禁止时间</a:t>
                      </a:r>
                    </a:p>
                  </a:txBody>
                  <a:tcPr marL="91440" marR="91440" marT="45720" marB="45720">
                    <a:solidFill>
                      <a:srgbClr val="EDF3F8"/>
                    </a:solidFill>
                  </a:tcPr>
                </a:tc>
              </a:tr>
            </a:tbl>
          </a:graphicData>
        </a:graphic>
      </p:graphicFrame>
      <p:sp>
        <p:nvSpPr>
          <p:cNvPr id="4" name="">
            <a:extLst xmlns:a="http://schemas.openxmlformats.org/drawingml/2006/main">
              <a:ext uri="{FF2B5EF4-FFF2-40B4-BE49-F238E27FC236}">
                <a16:creationId xmlns:a16="http://schemas.microsoft.com/office/drawing/2014/main" id="{B0BBF551-7C40-4541-90F9-4CD347CABEAB}"/>
              </a:ext>
            </a:extLst>
          </p:cNvPr>
          <p:cNvSpPr>
            <a:spLocks xmlns:a="http://schemas.openxmlformats.org/drawingml/2006/main" noGrp="1"/>
          </p:cNvSpPr>
          <p:nvPr/>
        </p:nvSpPr>
        <p:spPr>
          <a:xfrm xmlns:a="http://schemas.openxmlformats.org/drawingml/2006/main">
            <a:off x="609600" y="526732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代码＋名称＋教师确定教学班身份</a:t>
            </a:r>
          </a:p>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代码＋名称用于课程分组，每个必选分组恰选一个班</a:t>
            </a:r>
          </a:p>
        </p:txBody>
      </p:sp>
    </p:spTree>
    <p:extLst>
      <p:ext uri="{BB962C8B-B14F-4D97-AF65-F5344CB8AC3E}">
        <p14:creationId xmlns:p14="http://schemas.microsoft.com/office/powerpoint/2010/main" val="1878886983"/>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A9147B-A38E-49FF-B606-37E9904D263D}"/>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时间位集合</a:t>
            </a:r>
          </a:p>
        </p:txBody>
      </p:sp>
      <p:sp>
        <p:nvSpPr>
          <p:cNvPr id="2" name="">
            <a:extLst xmlns:a="http://schemas.openxmlformats.org/drawingml/2006/main">
              <a:ext uri="{FF2B5EF4-FFF2-40B4-BE49-F238E27FC236}">
                <a16:creationId xmlns:a16="http://schemas.microsoft.com/office/drawing/2014/main" id="{5A74881B-88F2-4517-B8ED-16437F2FC4CF}"/>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05</a:t>
            </a:r>
          </a:p>
        </p:txBody>
      </p:sp>
      <p:sp>
        <p:nvSpPr>
          <p:cNvPr id="3" name="">
            <a:extLst xmlns:a="http://schemas.openxmlformats.org/drawingml/2006/main">
              <a:ext uri="{FF2B5EF4-FFF2-40B4-BE49-F238E27FC236}">
                <a16:creationId xmlns:a16="http://schemas.microsoft.com/office/drawing/2014/main" id="{05C37304-5682-41D5-AF2D-0FBEBB346220}"/>
              </a:ext>
            </a:extLst>
          </p:cNvPr>
          <p:cNvSpPr>
            <a:spLocks xmlns:a="http://schemas.openxmlformats.org/drawingml/2006/main" noGrp="1"/>
          </p:cNvSpPr>
          <p:nvPr/>
        </p:nvSpPr>
        <p:spPr>
          <a:xfrm xmlns:a="http://schemas.openxmlformats.org/drawingml/2006/main">
            <a:off x="609600" y="13239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4C74"/>
                </a:solidFill>
                <a:latin typeface="Microsoft YaHei"/>
                <a:ea typeface="Microsoft YaHei"/>
                <a:cs typeface="Microsoft YaHei"/>
              </a:defRPr>
            </a:pPr>
            <a:r>
              <a:rPr sz="2325" b="1">
                <a:solidFill>
                  <a:srgbClr val="174C74"/>
                </a:solidFill>
                <a:latin typeface="Microsoft YaHei"/>
                <a:ea typeface="Microsoft YaHei"/>
                <a:cs typeface="Microsoft YaHei"/>
              </a:rPr>
              <a:t>index = (week−1) × 42 + (weekday−1) × 6 + (period−1)</a:t>
            </a:r>
          </a:p>
        </p:txBody>
      </p:sp>
      <p:sp>
        <p:nvSpPr>
          <p:cNvPr id="4" name="">
            <a:extLst xmlns:a="http://schemas.openxmlformats.org/drawingml/2006/main">
              <a:ext uri="{FF2B5EF4-FFF2-40B4-BE49-F238E27FC236}">
                <a16:creationId xmlns:a16="http://schemas.microsoft.com/office/drawing/2014/main" id="{34A925B7-D833-4833-AC74-B989F5161287}"/>
              </a:ext>
            </a:extLst>
          </p:cNvPr>
          <p:cNvSpPr>
            <a:spLocks xmlns:a="http://schemas.openxmlformats.org/drawingml/2006/main" noGrp="1"/>
          </p:cNvSpPr>
          <p:nvPr/>
        </p:nvSpPr>
        <p:spPr>
          <a:xfrm xmlns:a="http://schemas.openxmlformats.org/drawingml/2006/main">
            <a:off x="609600" y="20193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20周 × 7天 × 6节 = 840位，存储为14个uint64_t</a:t>
            </a:r>
          </a:p>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第20周、周日、第6节的下标是839</a:t>
            </a:r>
          </a:p>
        </p:txBody>
      </p:sp>
      <p:graphicFrame>
        <p:nvGraphicFramePr>
          <p:cNvPr id="11" name=""/>
          <p:cNvGraphicFramePr/>
          <p:nvPr/>
        </p:nvGraphicFramePr>
        <p:xfrm>
          <a:off xmlns:a="http://schemas.openxmlformats.org/drawingml/2006/main" x="609600" y="3209925"/>
          <a:ext xmlns:a="http://schemas.openxmlformats.org/drawingml/2006/main" cx="10972800" cy="2381250"/>
        </p:xfrm>
        <a:graphic xmlns:a="http://schemas.openxmlformats.org/drawingml/2006/main">
          <a:graphicData uri="http://schemas.openxmlformats.org/drawingml/2006/table">
            <a:tbl>
              <a:tblPr/>
              <a:tblGrid>
                <a:gridCol w="1190625"/>
                <a:gridCol w="4295775"/>
                <a:gridCol w="1190625"/>
                <a:gridCol w="4295775"/>
              </a:tblGrid>
              <a:tr h="595313">
                <a:tc>
                  <a:txBody>
                    <a:bodyPr/>
                    <a:lstStyle/>
                    <a:p>
                      <a:r>
                        <a:rPr sz="2100" b="1">
                          <a:solidFill>
                            <a:srgbClr val="FFFFFF"/>
                          </a:solidFill>
                          <a:latin typeface="Microsoft YaHei"/>
                          <a:ea typeface="Microsoft YaHei"/>
                          <a:cs typeface="Microsoft YaHei"/>
                        </a:rPr>
                        <a:t>节次</a:t>
                      </a:r>
                    </a:p>
                  </a:txBody>
                  <a:tcPr marL="91440" marR="91440" marT="45720" marB="45720">
                    <a:solidFill>
                      <a:srgbClr val="173A5E"/>
                    </a:solidFill>
                  </a:tcPr>
                </a:tc>
                <a:tc>
                  <a:txBody>
                    <a:bodyPr/>
                    <a:lstStyle/>
                    <a:p>
                      <a:r>
                        <a:rPr sz="2100" b="1">
                          <a:solidFill>
                            <a:srgbClr val="FFFFFF"/>
                          </a:solidFill>
                          <a:latin typeface="Microsoft YaHei"/>
                          <a:ea typeface="Microsoft YaHei"/>
                          <a:cs typeface="Microsoft YaHei"/>
                        </a:rPr>
                        <a:t>完整上课时段</a:t>
                      </a:r>
                    </a:p>
                  </a:txBody>
                  <a:tcPr marL="91440" marR="91440" marT="45720" marB="45720">
                    <a:solidFill>
                      <a:srgbClr val="173A5E"/>
                    </a:solidFill>
                  </a:tcPr>
                </a:tc>
                <a:tc>
                  <a:txBody>
                    <a:bodyPr/>
                    <a:lstStyle/>
                    <a:p>
                      <a:r>
                        <a:rPr sz="2100" b="1">
                          <a:solidFill>
                            <a:srgbClr val="FFFFFF"/>
                          </a:solidFill>
                          <a:latin typeface="Microsoft YaHei"/>
                          <a:ea typeface="Microsoft YaHei"/>
                          <a:cs typeface="Microsoft YaHei"/>
                        </a:rPr>
                        <a:t>节次</a:t>
                      </a:r>
                    </a:p>
                  </a:txBody>
                  <a:tcPr marL="91440" marR="91440" marT="45720" marB="45720">
                    <a:solidFill>
                      <a:srgbClr val="173A5E"/>
                    </a:solidFill>
                  </a:tcPr>
                </a:tc>
                <a:tc>
                  <a:txBody>
                    <a:bodyPr/>
                    <a:lstStyle/>
                    <a:p>
                      <a:r>
                        <a:rPr sz="2100" b="1">
                          <a:solidFill>
                            <a:srgbClr val="FFFFFF"/>
                          </a:solidFill>
                          <a:latin typeface="Microsoft YaHei"/>
                          <a:ea typeface="Microsoft YaHei"/>
                          <a:cs typeface="Microsoft YaHei"/>
                        </a:rPr>
                        <a:t>完整上课时段</a:t>
                      </a:r>
                    </a:p>
                  </a:txBody>
                  <a:tcPr marL="91440" marR="91440" marT="45720" marB="45720">
                    <a:solidFill>
                      <a:srgbClr val="173A5E"/>
                    </a:solidFill>
                  </a:tcPr>
                </a:tc>
              </a:tr>
              <a:tr h="595313">
                <a:tc>
                  <a:txBody>
                    <a:bodyPr/>
                    <a:lstStyle/>
                    <a:p>
                      <a:r>
                        <a:rPr sz="2100" b="0">
                          <a:solidFill>
                            <a:srgbClr val="14283F"/>
                          </a:solidFill>
                          <a:latin typeface="Microsoft YaHei"/>
                          <a:ea typeface="Microsoft YaHei"/>
                          <a:cs typeface="Microsoft YaHei"/>
                        </a:rPr>
                        <a:t>1</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08:00–09:45</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4</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16:05–17:50</a:t>
                      </a:r>
                    </a:p>
                  </a:txBody>
                  <a:tcPr marL="91440" marR="91440" marT="45720" marB="45720">
                    <a:solidFill>
                      <a:srgbClr val="FFFFFF"/>
                    </a:solidFill>
                  </a:tcPr>
                </a:tc>
              </a:tr>
              <a:tr h="595313">
                <a:tc>
                  <a:txBody>
                    <a:bodyPr/>
                    <a:lstStyle/>
                    <a:p>
                      <a:r>
                        <a:rPr sz="2100" b="0">
                          <a:solidFill>
                            <a:srgbClr val="14283F"/>
                          </a:solidFill>
                          <a:latin typeface="Microsoft YaHei"/>
                          <a:ea typeface="Microsoft YaHei"/>
                          <a:cs typeface="Microsoft YaHei"/>
                        </a:rPr>
                        <a:t>2</a:t>
                      </a:r>
                    </a:p>
                  </a:txBody>
                  <a:tcPr marL="91440" marR="91440" marT="45720" marB="45720">
                    <a:solidFill>
                      <a:srgbClr val="EDF3F8"/>
                    </a:solidFill>
                  </a:tcPr>
                </a:tc>
                <a:tc>
                  <a:txBody>
                    <a:bodyPr/>
                    <a:lstStyle/>
                    <a:p>
                      <a:r>
                        <a:rPr sz="2100" b="0">
                          <a:solidFill>
                            <a:srgbClr val="14283F"/>
                          </a:solidFill>
                          <a:latin typeface="Microsoft YaHei"/>
                          <a:ea typeface="Microsoft YaHei"/>
                          <a:cs typeface="Microsoft YaHei"/>
                        </a:rPr>
                        <a:t>10:05–11:50</a:t>
                      </a:r>
                    </a:p>
                  </a:txBody>
                  <a:tcPr marL="91440" marR="91440" marT="45720" marB="45720">
                    <a:solidFill>
                      <a:srgbClr val="EDF3F8"/>
                    </a:solidFill>
                  </a:tcPr>
                </a:tc>
                <a:tc>
                  <a:txBody>
                    <a:bodyPr/>
                    <a:lstStyle/>
                    <a:p>
                      <a:r>
                        <a:rPr sz="2100" b="0">
                          <a:solidFill>
                            <a:srgbClr val="14283F"/>
                          </a:solidFill>
                          <a:latin typeface="Microsoft YaHei"/>
                          <a:ea typeface="Microsoft YaHei"/>
                          <a:cs typeface="Microsoft YaHei"/>
                        </a:rPr>
                        <a:t>5</a:t>
                      </a:r>
                    </a:p>
                  </a:txBody>
                  <a:tcPr marL="91440" marR="91440" marT="45720" marB="45720">
                    <a:solidFill>
                      <a:srgbClr val="EDF3F8"/>
                    </a:solidFill>
                  </a:tcPr>
                </a:tc>
                <a:tc>
                  <a:txBody>
                    <a:bodyPr/>
                    <a:lstStyle/>
                    <a:p>
                      <a:r>
                        <a:rPr sz="2100" b="0">
                          <a:solidFill>
                            <a:srgbClr val="14283F"/>
                          </a:solidFill>
                          <a:latin typeface="Microsoft YaHei"/>
                          <a:ea typeface="Microsoft YaHei"/>
                          <a:cs typeface="Microsoft YaHei"/>
                        </a:rPr>
                        <a:t>18:40–20:25</a:t>
                      </a:r>
                    </a:p>
                  </a:txBody>
                  <a:tcPr marL="91440" marR="91440" marT="45720" marB="45720">
                    <a:solidFill>
                      <a:srgbClr val="EDF3F8"/>
                    </a:solidFill>
                  </a:tcPr>
                </a:tc>
              </a:tr>
              <a:tr h="595313">
                <a:tc>
                  <a:txBody>
                    <a:bodyPr/>
                    <a:lstStyle/>
                    <a:p>
                      <a:r>
                        <a:rPr sz="2100" b="0">
                          <a:solidFill>
                            <a:srgbClr val="14283F"/>
                          </a:solidFill>
                          <a:latin typeface="Microsoft YaHei"/>
                          <a:ea typeface="Microsoft YaHei"/>
                          <a:cs typeface="Microsoft YaHei"/>
                        </a:rPr>
                        <a:t>3</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14:00–15:45</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6</a:t>
                      </a:r>
                    </a:p>
                  </a:txBody>
                  <a:tcPr marL="91440" marR="91440" marT="45720" marB="45720">
                    <a:solidFill>
                      <a:srgbClr val="FFFFFF"/>
                    </a:solidFill>
                  </a:tcPr>
                </a:tc>
                <a:tc>
                  <a:txBody>
                    <a:bodyPr/>
                    <a:lstStyle/>
                    <a:p>
                      <a:r>
                        <a:rPr sz="2100" b="0">
                          <a:solidFill>
                            <a:srgbClr val="14283F"/>
                          </a:solidFill>
                          <a:latin typeface="Microsoft YaHei"/>
                          <a:ea typeface="Microsoft YaHei"/>
                          <a:cs typeface="Microsoft YaHei"/>
                        </a:rPr>
                        <a:t>20:45–22:30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656E68F-4E2A-43B4-B037-AC65DE810154}"/>
              </a:ext>
            </a:extLst>
          </p:cNvPr>
          <p:cNvSpPr>
            <a:spLocks xmlns:a="http://schemas.openxmlformats.org/drawingml/2006/main" noGrp="1"/>
          </p:cNvSpPr>
          <p:nvPr/>
        </p:nvSpPr>
        <p:spPr>
          <a:xfrm xmlns:a="http://schemas.openxmlformats.org/drawingml/2006/main">
            <a:off x="609600" y="59245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Meeting展开真实周次，再通过位集合并集汇总整个教学班</a:t>
            </a:r>
          </a:p>
        </p:txBody>
      </p:sp>
    </p:spTree>
    <p:extLst>
      <p:ext uri="{BB962C8B-B14F-4D97-AF65-F5344CB8AC3E}">
        <p14:creationId xmlns:p14="http://schemas.microsoft.com/office/powerpoint/2010/main" val="1517079767"/>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9BD240-2F66-4B9B-8B0D-20439F9F66E2}"/>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冲突判定与冲突图</a:t>
            </a:r>
          </a:p>
        </p:txBody>
      </p:sp>
      <p:sp>
        <p:nvSpPr>
          <p:cNvPr id="2" name="">
            <a:extLst xmlns:a="http://schemas.openxmlformats.org/drawingml/2006/main">
              <a:ext uri="{FF2B5EF4-FFF2-40B4-BE49-F238E27FC236}">
                <a16:creationId xmlns:a16="http://schemas.microsoft.com/office/drawing/2014/main" id="{1926C765-8586-4E84-AFA5-086DE2702D78}"/>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06</a:t>
            </a:r>
          </a:p>
        </p:txBody>
      </p:sp>
      <p:sp>
        <p:nvSpPr>
          <p:cNvPr id="3" name="">
            <a:extLst xmlns:a="http://schemas.openxmlformats.org/drawingml/2006/main">
              <a:ext uri="{FF2B5EF4-FFF2-40B4-BE49-F238E27FC236}">
                <a16:creationId xmlns:a16="http://schemas.microsoft.com/office/drawing/2014/main" id="{8FB76667-146D-45F4-944E-8B23D9C527B9}"/>
              </a:ext>
            </a:extLst>
          </p:cNvPr>
          <p:cNvSpPr>
            <a:spLocks xmlns:a="http://schemas.openxmlformats.org/drawingml/2006/main" noGrp="1"/>
          </p:cNvSpPr>
          <p:nvPr/>
        </p:nvSpPr>
        <p:spPr>
          <a:xfrm xmlns:a="http://schemas.openxmlformats.org/drawingml/2006/main">
            <a:off x="609600" y="1304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4C74"/>
                </a:solidFill>
                <a:latin typeface="Microsoft YaHei"/>
                <a:ea typeface="Microsoft YaHei"/>
                <a:cs typeface="Microsoft YaHei"/>
              </a:defRPr>
            </a:pPr>
            <a:r>
              <a:rPr sz="2400" b="1">
                <a:solidFill>
                  <a:srgbClr val="174C74"/>
                </a:solidFill>
                <a:latin typeface="Microsoft YaHei"/>
                <a:ea typeface="Microsoft YaHei"/>
                <a:cs typeface="Microsoft YaHei"/>
              </a:rPr>
              <a:t>时间冲突条件：A.timeBitmap &amp; B.timeBitmap ≠ 0</a:t>
            </a:r>
          </a:p>
        </p:txBody>
      </p:sp>
      <p:graphicFrame>
        <p:nvGraphicFramePr>
          <p:cNvPr id="9" name=""/>
          <p:cNvGraphicFramePr/>
          <p:nvPr/>
        </p:nvGraphicFramePr>
        <p:xfrm>
          <a:off xmlns:a="http://schemas.openxmlformats.org/drawingml/2006/main" x="609600" y="2057400"/>
          <a:ext xmlns:a="http://schemas.openxmlformats.org/drawingml/2006/main" cx="10972800" cy="2952750"/>
        </p:xfrm>
        <a:graphic xmlns:a="http://schemas.openxmlformats.org/drawingml/2006/main">
          <a:graphicData uri="http://schemas.openxmlformats.org/drawingml/2006/table">
            <a:tbl>
              <a:tblPr/>
              <a:tblGrid>
                <a:gridCol w="6667500"/>
                <a:gridCol w="4305300"/>
              </a:tblGrid>
              <a:tr h="590550">
                <a:tc>
                  <a:txBody>
                    <a:bodyPr/>
                    <a:lstStyle/>
                    <a:p>
                      <a:r>
                        <a:rPr sz="2025" b="1">
                          <a:solidFill>
                            <a:srgbClr val="FFFFFF"/>
                          </a:solidFill>
                          <a:latin typeface="Microsoft YaHei"/>
                          <a:ea typeface="Microsoft YaHei"/>
                          <a:cs typeface="Microsoft YaHei"/>
                        </a:rPr>
                        <a:t>情况</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判定</a:t>
                      </a:r>
                    </a:p>
                  </a:txBody>
                  <a:tcPr marL="91440" marR="91440" marT="45720" marB="45720">
                    <a:solidFill>
                      <a:srgbClr val="173A5E"/>
                    </a:solidFill>
                  </a:tcPr>
                </a:tc>
              </a:tr>
              <a:tr h="590550">
                <a:tc>
                  <a:txBody>
                    <a:bodyPr/>
                    <a:lstStyle/>
                    <a:p>
                      <a:r>
                        <a:rPr sz="2025" b="0">
                          <a:solidFill>
                            <a:srgbClr val="14283F"/>
                          </a:solidFill>
                          <a:latin typeface="Microsoft YaHei"/>
                          <a:ea typeface="Microsoft YaHei"/>
                          <a:cs typeface="Microsoft YaHei"/>
                        </a:rPr>
                        <a:t>星期和节次相同，周次互不重合</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无时间冲突</a:t>
                      </a:r>
                    </a:p>
                  </a:txBody>
                  <a:tcPr marL="91440" marR="91440" marT="45720" marB="45720">
                    <a:solidFill>
                      <a:srgbClr val="FFFFFF"/>
                    </a:solidFill>
                  </a:tcPr>
                </a:tc>
              </a:tr>
              <a:tr h="590550">
                <a:tc>
                  <a:txBody>
                    <a:bodyPr/>
                    <a:lstStyle/>
                    <a:p>
                      <a:r>
                        <a:rPr sz="2025" b="0">
                          <a:solidFill>
                            <a:srgbClr val="14283F"/>
                          </a:solidFill>
                          <a:latin typeface="Microsoft YaHei"/>
                          <a:ea typeface="Microsoft YaHei"/>
                          <a:cs typeface="Microsoft YaHei"/>
                        </a:rPr>
                        <a:t>单周与双周上同一时段</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无时间冲突</a:t>
                      </a:r>
                    </a:p>
                  </a:txBody>
                  <a:tcPr marL="91440" marR="91440" marT="45720" marB="45720">
                    <a:solidFill>
                      <a:srgbClr val="EDF3F8"/>
                    </a:solidFill>
                  </a:tcPr>
                </a:tc>
              </a:tr>
              <a:tr h="590550">
                <a:tc>
                  <a:txBody>
                    <a:bodyPr/>
                    <a:lstStyle/>
                    <a:p>
                      <a:r>
                        <a:rPr sz="2025" b="0">
                          <a:solidFill>
                            <a:srgbClr val="14283F"/>
                          </a:solidFill>
                          <a:latin typeface="Microsoft YaHei"/>
                          <a:ea typeface="Microsoft YaHei"/>
                          <a:cs typeface="Microsoft YaHei"/>
                        </a:rPr>
                        <a:t>第5周同一天同一节重叠</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时间冲突，可显示具体坐标</a:t>
                      </a:r>
                    </a:p>
                  </a:txBody>
                  <a:tcPr marL="91440" marR="91440" marT="45720" marB="45720">
                    <a:solidFill>
                      <a:srgbClr val="FFFFFF"/>
                    </a:solidFill>
                  </a:tcPr>
                </a:tc>
              </a:tr>
              <a:tr h="590550">
                <a:tc>
                  <a:txBody>
                    <a:bodyPr/>
                    <a:lstStyle/>
                    <a:p>
                      <a:r>
                        <a:rPr sz="2025" b="0">
                          <a:solidFill>
                            <a:srgbClr val="14283F"/>
                          </a:solidFill>
                          <a:latin typeface="Microsoft YaHei"/>
                          <a:ea typeface="Microsoft YaHei"/>
                          <a:cs typeface="Microsoft YaHei"/>
                        </a:rPr>
                        <a:t>同课程的不同教学班</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互斥，即使上课时间不同</a:t>
                      </a:r>
                    </a:p>
                  </a:txBody>
                  <a:tcPr marL="91440" marR="91440" marT="45720" marB="45720">
                    <a:solidFill>
                      <a:srgbClr val="EDF3F8"/>
                    </a:solidFill>
                  </a:tcPr>
                </a:tc>
              </a:tr>
            </a:tbl>
          </a:graphicData>
        </a:graphic>
      </p:graphicFrame>
      <p:sp>
        <p:nvSpPr>
          <p:cNvPr id="5" name="">
            <a:extLst xmlns:a="http://schemas.openxmlformats.org/drawingml/2006/main">
              <a:ext uri="{FF2B5EF4-FFF2-40B4-BE49-F238E27FC236}">
                <a16:creationId xmlns:a16="http://schemas.microsoft.com/office/drawing/2014/main" id="{351E93FA-EAD3-41F2-95C1-DEEF7699B1FA}"/>
              </a:ext>
            </a:extLst>
          </p:cNvPr>
          <p:cNvSpPr>
            <a:spLocks xmlns:a="http://schemas.openxmlformats.org/drawingml/2006/main" noGrp="1"/>
          </p:cNvSpPr>
          <p:nvPr/>
        </p:nvSpPr>
        <p:spPr>
          <a:xfrm xmlns:a="http://schemas.openxmlformats.org/drawingml/2006/main">
            <a:off x="609600" y="5429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邻接表保存教学班ID、原因及重叠时间</a:t>
            </a:r>
          </a:p>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当前增删改后重建冲突图，后续完善更新方式</a:t>
            </a:r>
          </a:p>
        </p:txBody>
      </p:sp>
    </p:spTree>
    <p:extLst>
      <p:ext uri="{BB962C8B-B14F-4D97-AF65-F5344CB8AC3E}">
        <p14:creationId xmlns:p14="http://schemas.microsoft.com/office/powerpoint/2010/main" val="1998719876"/>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D5F66E-F116-4C9D-9122-02F0BBF6669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组合搜索与回溯恢复</a:t>
            </a:r>
          </a:p>
        </p:txBody>
      </p:sp>
      <p:sp>
        <p:nvSpPr>
          <p:cNvPr id="2" name="">
            <a:extLst xmlns:a="http://schemas.openxmlformats.org/drawingml/2006/main">
              <a:ext uri="{FF2B5EF4-FFF2-40B4-BE49-F238E27FC236}">
                <a16:creationId xmlns:a16="http://schemas.microsoft.com/office/drawing/2014/main" id="{F31748E5-1E22-465E-86AF-84956843AE6D}"/>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07</a:t>
            </a:r>
          </a:p>
        </p:txBody>
      </p:sp>
      <p:graphicFrame>
        <p:nvGraphicFramePr>
          <p:cNvPr id="7" name=""/>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table">
            <a:tbl>
              <a:tblPr/>
              <a:tblGrid>
                <a:gridCol w="3286125"/>
                <a:gridCol w="7686675"/>
              </a:tblGrid>
              <a:tr h="619125">
                <a:tc>
                  <a:txBody>
                    <a:bodyPr/>
                    <a:lstStyle/>
                    <a:p>
                      <a:r>
                        <a:rPr sz="2025" b="1">
                          <a:solidFill>
                            <a:srgbClr val="FFFFFF"/>
                          </a:solidFill>
                          <a:latin typeface="Microsoft YaHei"/>
                          <a:ea typeface="Microsoft YaHei"/>
                          <a:cs typeface="Microsoft YaHei"/>
                        </a:rPr>
                        <a:t>步骤</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处理方式</a:t>
                      </a:r>
                    </a:p>
                  </a:txBody>
                  <a:tcPr marL="91440" marR="91440" marT="45720" marB="45720">
                    <a:solidFill>
                      <a:srgbClr val="173A5E"/>
                    </a:solidFill>
                  </a:tcPr>
                </a:tc>
              </a:tr>
              <a:tr h="619125">
                <a:tc>
                  <a:txBody>
                    <a:bodyPr/>
                    <a:lstStyle/>
                    <a:p>
                      <a:r>
                        <a:rPr sz="2025" b="0">
                          <a:solidFill>
                            <a:srgbClr val="14283F"/>
                          </a:solidFill>
                          <a:latin typeface="Microsoft YaHei"/>
                          <a:ea typeface="Microsoft YaHei"/>
                          <a:cs typeface="Microsoft YaHei"/>
                        </a:rPr>
                        <a:t>建立候选域</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只搜索必选分组，应用锁定与禁止时间</a:t>
                      </a:r>
                    </a:p>
                  </a:txBody>
                  <a:tcPr marL="91440" marR="91440" marT="45720" marB="45720">
                    <a:solidFill>
                      <a:srgbClr val="FFFFFF"/>
                    </a:solidFill>
                  </a:tcPr>
                </a:tc>
              </a:tr>
              <a:tr h="619125">
                <a:tc>
                  <a:txBody>
                    <a:bodyPr/>
                    <a:lstStyle/>
                    <a:p>
                      <a:r>
                        <a:rPr sz="2025" b="0">
                          <a:solidFill>
                            <a:srgbClr val="14283F"/>
                          </a:solidFill>
                          <a:latin typeface="Microsoft YaHei"/>
                          <a:ea typeface="Microsoft YaHei"/>
                          <a:cs typeface="Microsoft YaHei"/>
                        </a:rPr>
                        <a:t>DFS回溯</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逐组选择，与当前占用位图比较</a:t>
                      </a:r>
                    </a:p>
                  </a:txBody>
                  <a:tcPr marL="91440" marR="91440" marT="45720" marB="45720">
                    <a:solidFill>
                      <a:srgbClr val="EDF3F8"/>
                    </a:solidFill>
                  </a:tcPr>
                </a:tc>
              </a:tr>
              <a:tr h="619125">
                <a:tc>
                  <a:txBody>
                    <a:bodyPr/>
                    <a:lstStyle/>
                    <a:p>
                      <a:r>
                        <a:rPr sz="2025" b="0">
                          <a:solidFill>
                            <a:srgbClr val="14283F"/>
                          </a:solidFill>
                          <a:latin typeface="Microsoft YaHei"/>
                          <a:ea typeface="Microsoft YaHei"/>
                          <a:cs typeface="Microsoft YaHei"/>
                        </a:rPr>
                        <a:t>动态MRV</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每层优先处理当前合法候选最少的分组</a:t>
                      </a:r>
                    </a:p>
                  </a:txBody>
                  <a:tcPr marL="91440" marR="91440" marT="45720" marB="45720">
                    <a:solidFill>
                      <a:srgbClr val="FFFFFF"/>
                    </a:solidFill>
                  </a:tcPr>
                </a:tc>
              </a:tr>
              <a:tr h="619125">
                <a:tc>
                  <a:txBody>
                    <a:bodyPr/>
                    <a:lstStyle/>
                    <a:p>
                      <a:r>
                        <a:rPr sz="2025" b="0">
                          <a:solidFill>
                            <a:srgbClr val="14283F"/>
                          </a:solidFill>
                          <a:latin typeface="Microsoft YaHei"/>
                          <a:ea typeface="Microsoft YaHei"/>
                          <a:cs typeface="Microsoft YaHei"/>
                        </a:rPr>
                        <a:t>Forward Checking</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提前排除未来冲突候选，空域时立即回退</a:t>
                      </a:r>
                    </a:p>
                  </a:txBody>
                  <a:tcPr marL="91440" marR="91440" marT="45720" marB="45720">
                    <a:solidFill>
                      <a:srgbClr val="EDF3F8"/>
                    </a:solidFill>
                  </a:tcPr>
                </a:tc>
              </a:tr>
              <a:tr h="619125">
                <a:tc>
                  <a:txBody>
                    <a:bodyPr/>
                    <a:lstStyle/>
                    <a:p>
                      <a:r>
                        <a:rPr sz="2025" b="0">
                          <a:solidFill>
                            <a:srgbClr val="14283F"/>
                          </a:solidFill>
                          <a:latin typeface="Microsoft YaHei"/>
                          <a:ea typeface="Microsoft YaHei"/>
                          <a:cs typeface="Microsoft YaHei"/>
                        </a:rPr>
                        <a:t>恢复状态</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记录本层删除位置，只撤销本层的修改</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BBB05E-7D12-45A7-B94B-075F6A057789}"/>
              </a:ext>
            </a:extLst>
          </p:cNvPr>
          <p:cNvSpPr>
            <a:spLocks xmlns:a="http://schemas.openxmlformats.org/drawingml/2006/main" noGrp="1"/>
          </p:cNvSpPr>
          <p:nvPr/>
        </p:nvSpPr>
        <p:spPr>
          <a:xfrm xmlns:a="http://schemas.openxmlformats.org/drawingml/2006/main">
            <a:off x="609600" y="56959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4C74"/>
                </a:solidFill>
                <a:latin typeface="Microsoft YaHei"/>
                <a:ea typeface="Microsoft YaHei"/>
                <a:cs typeface="Microsoft YaHei"/>
              </a:defRPr>
            </a:pPr>
            <a:r>
              <a:rPr sz="2175" b="1">
                <a:solidFill>
                  <a:srgbClr val="174C74"/>
                </a:solidFill>
                <a:latin typeface="Microsoft YaHei"/>
                <a:ea typeface="Microsoft YaHei"/>
                <a:cs typeface="Microsoft YaHei"/>
              </a:rPr>
              <a:t>显式DFS栈保存搜索层级，恢复栈记录候选删除</a:t>
            </a:r>
          </a:p>
        </p:txBody>
      </p:sp>
    </p:spTree>
    <p:extLst>
      <p:ext uri="{BB962C8B-B14F-4D97-AF65-F5344CB8AC3E}">
        <p14:creationId xmlns:p14="http://schemas.microsoft.com/office/powerpoint/2010/main" val="295793785"/>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EE06C9-432E-4D74-ABBB-2BEC4F9A399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实际界面与现场演示</a:t>
            </a:r>
          </a:p>
        </p:txBody>
      </p:sp>
      <p:sp>
        <p:nvSpPr>
          <p:cNvPr id="2" name="">
            <a:extLst xmlns:a="http://schemas.openxmlformats.org/drawingml/2006/main">
              <a:ext uri="{FF2B5EF4-FFF2-40B4-BE49-F238E27FC236}">
                <a16:creationId xmlns:a16="http://schemas.microsoft.com/office/drawing/2014/main" id="{162F07FF-FEFB-4D73-9796-D95B7BC90734}"/>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e07b31acaa4366"/>
          <a:stretch xmlns:a="http://schemas.openxmlformats.org/drawingml/2006/main"/>
        </p:blipFill>
        <p:spPr>
          <a:xfrm xmlns:a="http://schemas.openxmlformats.org/drawingml/2006/main">
            <a:off x="1866900" y="1285875"/>
            <a:ext cx="8458200"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BA5E8C-D7C4-463E-94E9-8E4ED4A60E55}"/>
              </a:ext>
            </a:extLst>
          </p:cNvPr>
          <p:cNvSpPr>
            <a:spLocks xmlns:a="http://schemas.openxmlformats.org/drawingml/2006/main" noGrp="1"/>
          </p:cNvSpPr>
          <p:nvPr/>
        </p:nvSpPr>
        <p:spPr>
          <a:xfrm xmlns:a="http://schemas.openxmlformats.org/drawingml/2006/main">
            <a:off x="609600" y="59912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样例：3门课程、5个教学班、3个合法方案</a:t>
            </a:r>
          </a:p>
          <a:p xmlns:a="http://schemas.openxmlformats.org/drawingml/2006/main">
            <a:pPr>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现场操作：切换第1与第2周，切换方案，查看约束设置</a:t>
            </a:r>
          </a:p>
        </p:txBody>
      </p:sp>
    </p:spTree>
    <p:extLst>
      <p:ext uri="{BB962C8B-B14F-4D97-AF65-F5344CB8AC3E}">
        <p14:creationId xmlns:p14="http://schemas.microsoft.com/office/powerpoint/2010/main" val="203988946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2FAA76-6DC3-4AC3-A172-DC75E53EECD4}"/>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正确性与性能对照</a:t>
            </a:r>
          </a:p>
        </p:txBody>
      </p:sp>
      <p:sp>
        <p:nvSpPr>
          <p:cNvPr id="2" name="">
            <a:extLst xmlns:a="http://schemas.openxmlformats.org/drawingml/2006/main">
              <a:ext uri="{FF2B5EF4-FFF2-40B4-BE49-F238E27FC236}">
                <a16:creationId xmlns:a16="http://schemas.microsoft.com/office/drawing/2014/main" id="{0344D29A-19C2-4064-9214-DEDEEA4669A2}"/>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09</a:t>
            </a:r>
          </a:p>
        </p:txBody>
      </p:sp>
      <p:sp>
        <p:nvSpPr>
          <p:cNvPr id="3" name="">
            <a:extLst xmlns:a="http://schemas.openxmlformats.org/drawingml/2006/main">
              <a:ext uri="{FF2B5EF4-FFF2-40B4-BE49-F238E27FC236}">
                <a16:creationId xmlns:a16="http://schemas.microsoft.com/office/drawing/2014/main" id="{90CF17F1-B9E8-413D-9256-50B2E3981EBD}"/>
              </a:ext>
            </a:extLst>
          </p:cNvPr>
          <p:cNvSpPr>
            <a:spLocks xmlns:a="http://schemas.openxmlformats.org/drawingml/2006/main" noGrp="1"/>
          </p:cNvSpPr>
          <p:nvPr/>
        </p:nvSpPr>
        <p:spPr>
          <a:xfrm xmlns:a="http://schemas.openxmlformats.org/drawingml/2006/main">
            <a:off x="609600" y="12858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独立验证器重建时间坐标，小案例与完整枚举对照</a:t>
            </a:r>
          </a:p>
          <a:p xmlns:a="http://schemas.openxmlformats.org/drawingml/2006/main">
            <a:pPr>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Debug与Release的两项基础测试均通过</a:t>
            </a:r>
          </a:p>
        </p:txBody>
      </p:sp>
      <p:graphicFrame>
        <p:nvGraphicFramePr>
          <p:cNvPr id="9" name=""/>
          <p:cNvGraphicFramePr/>
          <p:nvPr/>
        </p:nvGraphicFramePr>
        <p:xfrm>
          <a:off xmlns:a="http://schemas.openxmlformats.org/drawingml/2006/main" x="609600" y="2466975"/>
          <a:ext xmlns:a="http://schemas.openxmlformats.org/drawingml/2006/main" cx="10972800" cy="2857500"/>
        </p:xfrm>
        <a:graphic xmlns:a="http://schemas.openxmlformats.org/drawingml/2006/main">
          <a:graphicData uri="http://schemas.openxmlformats.org/drawingml/2006/table">
            <a:tbl>
              <a:tblPr/>
              <a:tblGrid>
                <a:gridCol w="5191125"/>
                <a:gridCol w="1933575"/>
                <a:gridCol w="1924050"/>
                <a:gridCol w="1924050"/>
              </a:tblGrid>
              <a:tr h="571500">
                <a:tc>
                  <a:txBody>
                    <a:bodyPr/>
                    <a:lstStyle/>
                    <a:p>
                      <a:r>
                        <a:rPr sz="2025" b="1">
                          <a:solidFill>
                            <a:srgbClr val="FFFFFF"/>
                          </a:solidFill>
                          <a:latin typeface="Microsoft YaHei"/>
                          <a:ea typeface="Microsoft YaHei"/>
                          <a:cs typeface="Microsoft YaHei"/>
                        </a:rPr>
                        <a:t>样例</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普通回溯</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MRV</a:t>
                      </a:r>
                    </a:p>
                  </a:txBody>
                  <a:tcPr marL="91440" marR="91440" marT="45720" marB="45720">
                    <a:solidFill>
                      <a:srgbClr val="173A5E"/>
                    </a:solidFill>
                  </a:tcPr>
                </a:tc>
                <a:tc>
                  <a:txBody>
                    <a:bodyPr/>
                    <a:lstStyle/>
                    <a:p>
                      <a:r>
                        <a:rPr sz="2025" b="1">
                          <a:solidFill>
                            <a:srgbClr val="FFFFFF"/>
                          </a:solidFill>
                          <a:latin typeface="Microsoft YaHei"/>
                          <a:ea typeface="Microsoft YaHei"/>
                          <a:cs typeface="Microsoft YaHei"/>
                        </a:rPr>
                        <a:t>MRV＋FC</a:t>
                      </a:r>
                    </a:p>
                  </a:txBody>
                  <a:tcPr marL="91440" marR="91440" marT="45720" marB="45720">
                    <a:solidFill>
                      <a:srgbClr val="173A5E"/>
                    </a:solidFill>
                  </a:tcPr>
                </a:tc>
              </a:tr>
              <a:tr h="571500">
                <a:tc>
                  <a:txBody>
                    <a:bodyPr/>
                    <a:lstStyle/>
                    <a:p>
                      <a:r>
                        <a:rPr sz="2025" b="0">
                          <a:solidFill>
                            <a:srgbClr val="14283F"/>
                          </a:solidFill>
                          <a:latin typeface="Microsoft YaHei"/>
                          <a:ea typeface="Microsoft YaHei"/>
                          <a:cs typeface="Microsoft YaHei"/>
                        </a:rPr>
                        <a:t>组间无冲突</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1092</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1092</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1092</a:t>
                      </a:r>
                    </a:p>
                  </a:txBody>
                  <a:tcPr marL="91440" marR="91440" marT="45720" marB="45720">
                    <a:solidFill>
                      <a:srgbClr val="FFFFFF"/>
                    </a:solidFill>
                  </a:tcPr>
                </a:tc>
              </a:tr>
              <a:tr h="571500">
                <a:tc>
                  <a:txBody>
                    <a:bodyPr/>
                    <a:lstStyle/>
                    <a:p>
                      <a:r>
                        <a:rPr sz="2025" b="0">
                          <a:solidFill>
                            <a:srgbClr val="14283F"/>
                          </a:solidFill>
                          <a:latin typeface="Microsoft YaHei"/>
                          <a:ea typeface="Microsoft YaHei"/>
                          <a:cs typeface="Microsoft YaHei"/>
                        </a:rPr>
                        <a:t>末尾瓶颈导致无解</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1821</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1</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1</a:t>
                      </a:r>
                    </a:p>
                  </a:txBody>
                  <a:tcPr marL="91440" marR="91440" marT="45720" marB="45720">
                    <a:solidFill>
                      <a:srgbClr val="EDF3F8"/>
                    </a:solidFill>
                  </a:tcPr>
                </a:tc>
              </a:tr>
              <a:tr h="571500">
                <a:tc>
                  <a:txBody>
                    <a:bodyPr/>
                    <a:lstStyle/>
                    <a:p>
                      <a:r>
                        <a:rPr sz="2025" b="0">
                          <a:solidFill>
                            <a:srgbClr val="14283F"/>
                          </a:solidFill>
                          <a:latin typeface="Microsoft YaHei"/>
                          <a:ea typeface="Microsoft YaHei"/>
                          <a:cs typeface="Microsoft YaHei"/>
                        </a:rPr>
                        <a:t>末尾瓶颈仍有解</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1821</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365</a:t>
                      </a:r>
                    </a:p>
                  </a:txBody>
                  <a:tcPr marL="91440" marR="91440" marT="45720" marB="45720">
                    <a:solidFill>
                      <a:srgbClr val="FFFFFF"/>
                    </a:solidFill>
                  </a:tcPr>
                </a:tc>
                <a:tc>
                  <a:txBody>
                    <a:bodyPr/>
                    <a:lstStyle/>
                    <a:p>
                      <a:r>
                        <a:rPr sz="2025" b="0">
                          <a:solidFill>
                            <a:srgbClr val="14283F"/>
                          </a:solidFill>
                          <a:latin typeface="Microsoft YaHei"/>
                          <a:ea typeface="Microsoft YaHei"/>
                          <a:cs typeface="Microsoft YaHei"/>
                        </a:rPr>
                        <a:t>365</a:t>
                      </a:r>
                    </a:p>
                  </a:txBody>
                  <a:tcPr marL="91440" marR="91440" marT="45720" marB="45720">
                    <a:solidFill>
                      <a:srgbClr val="FFFFFF"/>
                    </a:solidFill>
                  </a:tcPr>
                </a:tc>
              </a:tr>
              <a:tr h="571500">
                <a:tc>
                  <a:txBody>
                    <a:bodyPr/>
                    <a:lstStyle/>
                    <a:p>
                      <a:r>
                        <a:rPr sz="2025" b="0">
                          <a:solidFill>
                            <a:srgbClr val="14283F"/>
                          </a:solidFill>
                          <a:latin typeface="Microsoft YaHei"/>
                          <a:ea typeface="Microsoft YaHei"/>
                          <a:cs typeface="Microsoft YaHei"/>
                        </a:rPr>
                        <a:t>5组争用4个时段</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260</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64</a:t>
                      </a:r>
                    </a:p>
                  </a:txBody>
                  <a:tcPr marL="91440" marR="91440" marT="45720" marB="45720">
                    <a:solidFill>
                      <a:srgbClr val="EDF3F8"/>
                    </a:solidFill>
                  </a:tcPr>
                </a:tc>
                <a:tc>
                  <a:txBody>
                    <a:bodyPr/>
                    <a:lstStyle/>
                    <a:p>
                      <a:r>
                        <a:rPr sz="2025" b="0">
                          <a:solidFill>
                            <a:srgbClr val="14283F"/>
                          </a:solidFill>
                          <a:latin typeface="Microsoft YaHei"/>
                          <a:ea typeface="Microsoft YaHei"/>
                          <a:cs typeface="Microsoft YaHei"/>
                        </a:rPr>
                        <a:t>64</a:t>
                      </a:r>
                    </a:p>
                  </a:txBody>
                  <a:tcPr marL="91440" marR="91440" marT="45720" marB="45720">
                    <a:solidFill>
                      <a:srgbClr val="EDF3F8"/>
                    </a:solidFill>
                  </a:tcPr>
                </a:tc>
              </a:tr>
            </a:tbl>
          </a:graphicData>
        </a:graphic>
      </p:graphicFrame>
      <p:sp>
        <p:nvSpPr>
          <p:cNvPr id="5" name="">
            <a:extLst xmlns:a="http://schemas.openxmlformats.org/drawingml/2006/main">
              <a:ext uri="{FF2B5EF4-FFF2-40B4-BE49-F238E27FC236}">
                <a16:creationId xmlns:a16="http://schemas.microsoft.com/office/drawing/2014/main" id="{70569468-7CB3-4B46-9C11-DEB9E0CAAE53}"/>
              </a:ext>
            </a:extLst>
          </p:cNvPr>
          <p:cNvSpPr>
            <a:spLocks xmlns:a="http://schemas.openxmlformats.org/drawingml/2006/main" noGrp="1"/>
          </p:cNvSpPr>
          <p:nvPr/>
        </p:nvSpPr>
        <p:spPr>
          <a:xfrm xmlns:a="http://schemas.openxmlformats.org/drawingml/2006/main">
            <a:off x="609600" y="56864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65E75"/>
                </a:solidFill>
                <a:latin typeface="Microsoft YaHei"/>
                <a:ea typeface="Microsoft YaHei"/>
                <a:cs typeface="Microsoft YaHei"/>
              </a:defRPr>
            </a:pPr>
            <a:r>
              <a:rPr sz="1800" b="0">
                <a:solidFill>
                  <a:srgbClr val="465E75"/>
                </a:solidFill>
                <a:latin typeface="Microsoft YaHei"/>
                <a:ea typeface="Microsoft YaHei"/>
                <a:cs typeface="Microsoft YaHei"/>
              </a:rPr>
              <a:t>统计单位：教学班赋值尝试次数</a:t>
            </a:r>
          </a:p>
          <a:p xmlns:a="http://schemas.openxmlformats.org/drawingml/2006/main">
            <a:pPr>
              <a:defRPr sz="1800" b="0">
                <a:solidFill>
                  <a:srgbClr val="465E75"/>
                </a:solidFill>
                <a:latin typeface="Microsoft YaHei"/>
                <a:ea typeface="Microsoft YaHei"/>
                <a:cs typeface="Microsoft YaHei"/>
              </a:defRPr>
            </a:pPr>
            <a:r>
              <a:rPr sz="1800" b="0">
                <a:solidFill>
                  <a:srgbClr val="465E75"/>
                </a:solidFill>
                <a:latin typeface="Microsoft YaHei"/>
                <a:ea typeface="Microsoft YaHei"/>
                <a:cs typeface="Microsoft YaHei"/>
              </a:rPr>
              <a:t>一周的小规模合成数据，不代表真实大规模性能</a:t>
            </a:r>
          </a:p>
        </p:txBody>
      </p:sp>
    </p:spTree>
    <p:extLst>
      <p:ext uri="{BB962C8B-B14F-4D97-AF65-F5344CB8AC3E}">
        <p14:creationId xmlns:p14="http://schemas.microsoft.com/office/powerpoint/2010/main" val="1671503382"/>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438E1D-439D-42AF-BE81-1D86AFDB8F5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8"/>
                </a:solidFill>
                <a:latin typeface="Microsoft YaHei"/>
                <a:ea typeface="Microsoft YaHei"/>
                <a:cs typeface="Microsoft YaHei"/>
              </a:defRPr>
            </a:pPr>
            <a:r>
              <a:rPr sz="3300" b="1">
                <a:solidFill>
                  <a:srgbClr val="172E48"/>
                </a:solidFill>
                <a:latin typeface="Microsoft YaHei"/>
                <a:ea typeface="Microsoft YaHei"/>
                <a:cs typeface="Microsoft YaHei"/>
              </a:rPr>
              <a:t>进度与后续计划</a:t>
            </a:r>
          </a:p>
        </p:txBody>
      </p:sp>
      <p:sp>
        <p:nvSpPr>
          <p:cNvPr id="2" name="">
            <a:extLst xmlns:a="http://schemas.openxmlformats.org/drawingml/2006/main">
              <a:ext uri="{FF2B5EF4-FFF2-40B4-BE49-F238E27FC236}">
                <a16:creationId xmlns:a16="http://schemas.microsoft.com/office/drawing/2014/main" id="{B4831E53-9872-4CAD-BB4E-6F0A9E7E851B}"/>
              </a:ext>
            </a:extLst>
          </p:cNvPr>
          <p:cNvSpPr>
            <a:spLocks xmlns:a="http://schemas.openxmlformats.org/drawingml/2006/main" noGrp="1"/>
          </p:cNvSpPr>
          <p:nvPr/>
        </p:nvSpPr>
        <p:spPr>
          <a:xfrm xmlns:a="http://schemas.openxmlformats.org/drawingml/2006/main">
            <a:off x="1119187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Microsoft YaHei"/>
                <a:ea typeface="Microsoft YaHei"/>
                <a:cs typeface="Microsoft YaHei"/>
              </a:defRPr>
            </a:pPr>
            <a:r>
              <a:rPr sz="1350" b="0">
                <a:solidFill>
                  <a:srgbClr val="64748B"/>
                </a:solidFill>
                <a:latin typeface="Microsoft YaHei"/>
                <a:ea typeface="Microsoft YaHei"/>
                <a:cs typeface="Microsoft YaHei"/>
              </a:rPr>
              <a:t>10</a:t>
            </a:r>
          </a:p>
        </p:txBody>
      </p:sp>
      <p:sp>
        <p:nvSpPr>
          <p:cNvPr id="3" name="">
            <a:extLst xmlns:a="http://schemas.openxmlformats.org/drawingml/2006/main">
              <a:ext uri="{FF2B5EF4-FFF2-40B4-BE49-F238E27FC236}">
                <a16:creationId xmlns:a16="http://schemas.microsoft.com/office/drawing/2014/main" id="{510BFBB3-4FA6-4E6A-A0E6-8266BBD5C7A8}"/>
              </a:ext>
            </a:extLst>
          </p:cNvPr>
          <p:cNvSpPr>
            <a:spLocks xmlns:a="http://schemas.openxmlformats.org/drawingml/2006/main" noGrp="1"/>
          </p:cNvSpPr>
          <p:nvPr/>
        </p:nvSpPr>
        <p:spPr>
          <a:xfrm xmlns:a="http://schemas.openxmlformats.org/drawingml/2006/main">
            <a:off x="609600" y="1381125"/>
            <a:ext cx="5143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4C74"/>
                </a:solidFill>
                <a:latin typeface="Microsoft YaHei"/>
                <a:ea typeface="Microsoft YaHei"/>
                <a:cs typeface="Microsoft YaHei"/>
              </a:defRPr>
            </a:pPr>
            <a:r>
              <a:rPr sz="3450" b="1">
                <a:solidFill>
                  <a:srgbClr val="174C74"/>
                </a:solidFill>
                <a:latin typeface="Microsoft YaHei"/>
                <a:ea typeface="Microsoft YaHei"/>
                <a:cs typeface="Microsoft YaHei"/>
              </a:rPr>
              <a:t>中期目标 100%</a:t>
            </a:r>
          </a:p>
          <a:p xmlns:a="http://schemas.openxmlformats.org/drawingml/2006/main">
            <a:pPr>
              <a:defRPr sz="3450" b="1">
                <a:solidFill>
                  <a:srgbClr val="174C74"/>
                </a:solidFill>
                <a:latin typeface="Microsoft YaHei"/>
                <a:ea typeface="Microsoft YaHei"/>
                <a:cs typeface="Microsoft YaHei"/>
              </a:defRPr>
            </a:pPr>
            <a:r>
              <a:rPr sz="3450" b="1">
                <a:solidFill>
                  <a:srgbClr val="174C74"/>
                </a:solidFill>
                <a:latin typeface="Microsoft YaHei"/>
                <a:ea typeface="Microsoft YaHei"/>
                <a:cs typeface="Microsoft YaHei"/>
              </a:rPr>
              <a:t>软件结题功能约75%</a:t>
            </a:r>
          </a:p>
        </p:txBody>
      </p:sp>
      <p:sp>
        <p:nvSpPr>
          <p:cNvPr id="4" name="">
            <a:extLst xmlns:a="http://schemas.openxmlformats.org/drawingml/2006/main">
              <a:ext uri="{FF2B5EF4-FFF2-40B4-BE49-F238E27FC236}">
                <a16:creationId xmlns:a16="http://schemas.microsoft.com/office/drawing/2014/main" id="{7B64BE06-87DE-4A3D-81CA-5A7A518F362E}"/>
              </a:ext>
            </a:extLst>
          </p:cNvPr>
          <p:cNvSpPr>
            <a:spLocks xmlns:a="http://schemas.openxmlformats.org/drawingml/2006/main" noGrp="1"/>
          </p:cNvSpPr>
          <p:nvPr/>
        </p:nvSpPr>
        <p:spPr>
          <a:xfrm xmlns:a="http://schemas.openxmlformats.org/drawingml/2006/main">
            <a:off x="6381750" y="1457325"/>
            <a:ext cx="52006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已完成</a:t>
            </a:r>
          </a:p>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录入、时间编码、冲突、硬约束</a:t>
            </a:r>
          </a:p>
          <a:p xmlns:a="http://schemas.openxmlformats.org/drawingml/2006/main">
            <a:pPr>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搜索、按周展示、项目读写</a:t>
            </a:r>
          </a:p>
        </p:txBody>
      </p:sp>
      <p:graphicFrame>
        <p:nvGraphicFramePr>
          <p:cNvPr id="11" name=""/>
          <p:cNvGraphicFramePr/>
          <p:nvPr/>
        </p:nvGraphicFramePr>
        <p:xfrm>
          <a:off xmlns:a="http://schemas.openxmlformats.org/drawingml/2006/main" x="609600" y="3228975"/>
          <a:ext xmlns:a="http://schemas.openxmlformats.org/drawingml/2006/main" cx="10972800" cy="2628900"/>
        </p:xfrm>
        <a:graphic xmlns:a="http://schemas.openxmlformats.org/drawingml/2006/main">
          <a:graphicData uri="http://schemas.openxmlformats.org/drawingml/2006/table">
            <a:tbl>
              <a:tblPr/>
              <a:tblGrid>
                <a:gridCol w="3333750"/>
                <a:gridCol w="7639050"/>
              </a:tblGrid>
              <a:tr h="525780">
                <a:tc>
                  <a:txBody>
                    <a:bodyPr/>
                    <a:lstStyle/>
                    <a:p>
                      <a:r>
                        <a:rPr sz="1875" b="1">
                          <a:solidFill>
                            <a:srgbClr val="FFFFFF"/>
                          </a:solidFill>
                          <a:latin typeface="Microsoft YaHei"/>
                          <a:ea typeface="Microsoft YaHei"/>
                          <a:cs typeface="Microsoft YaHei"/>
                        </a:rPr>
                        <a:t>后续工作</a:t>
                      </a:r>
                    </a:p>
                  </a:txBody>
                  <a:tcPr marL="91440" marR="91440" marT="45720" marB="45720">
                    <a:solidFill>
                      <a:srgbClr val="173A5E"/>
                    </a:solidFill>
                  </a:tcPr>
                </a:tc>
                <a:tc>
                  <a:txBody>
                    <a:bodyPr/>
                    <a:lstStyle/>
                    <a:p>
                      <a:r>
                        <a:rPr sz="1875" b="1">
                          <a:solidFill>
                            <a:srgbClr val="FFFFFF"/>
                          </a:solidFill>
                          <a:latin typeface="Microsoft YaHei"/>
                          <a:ea typeface="Microsoft YaHei"/>
                          <a:cs typeface="Microsoft YaHei"/>
                        </a:rPr>
                        <a:t>完成目标</a:t>
                      </a:r>
                    </a:p>
                  </a:txBody>
                  <a:tcPr marL="91440" marR="91440" marT="45720" marB="45720">
                    <a:solidFill>
                      <a:srgbClr val="173A5E"/>
                    </a:solidFill>
                  </a:tcPr>
                </a:tc>
              </a:tr>
              <a:tr h="525780">
                <a:tc>
                  <a:txBody>
                    <a:bodyPr/>
                    <a:lstStyle/>
                    <a:p>
                      <a:r>
                        <a:rPr sz="1875" b="0">
                          <a:solidFill>
                            <a:srgbClr val="14283F"/>
                          </a:solidFill>
                          <a:latin typeface="Microsoft YaHei"/>
                          <a:ea typeface="Microsoft YaHei"/>
                          <a:cs typeface="Microsoft YaHei"/>
                        </a:rPr>
                        <a:t>方案评价与排序</a:t>
                      </a:r>
                    </a:p>
                  </a:txBody>
                  <a:tcPr marL="91440" marR="91440" marT="45720" marB="45720">
                    <a:solidFill>
                      <a:srgbClr val="FFFFFF"/>
                    </a:solidFill>
                  </a:tcPr>
                </a:tc>
                <a:tc>
                  <a:txBody>
                    <a:bodyPr/>
                    <a:lstStyle/>
                    <a:p>
                      <a:r>
                        <a:rPr sz="1875" b="0">
                          <a:solidFill>
                            <a:srgbClr val="14283F"/>
                          </a:solidFill>
                          <a:latin typeface="Microsoft YaHei"/>
                          <a:ea typeface="Microsoft YaHei"/>
                          <a:cs typeface="Microsoft YaHei"/>
                        </a:rPr>
                        <a:t>按真实周次计算指标，按用户优先级比较</a:t>
                      </a:r>
                    </a:p>
                  </a:txBody>
                  <a:tcPr marL="91440" marR="91440" marT="45720" marB="45720">
                    <a:solidFill>
                      <a:srgbClr val="FFFFFF"/>
                    </a:solidFill>
                  </a:tcPr>
                </a:tc>
              </a:tr>
              <a:tr h="525780">
                <a:tc>
                  <a:txBody>
                    <a:bodyPr/>
                    <a:lstStyle/>
                    <a:p>
                      <a:r>
                        <a:rPr sz="1875" b="0">
                          <a:solidFill>
                            <a:srgbClr val="14283F"/>
                          </a:solidFill>
                          <a:latin typeface="Microsoft YaHei"/>
                          <a:ea typeface="Microsoft YaHei"/>
                          <a:cs typeface="Microsoft YaHei"/>
                        </a:rPr>
                        <a:t>Top-K</a:t>
                      </a:r>
                    </a:p>
                  </a:txBody>
                  <a:tcPr marL="91440" marR="91440" marT="45720" marB="45720">
                    <a:solidFill>
                      <a:srgbClr val="EDF3F8"/>
                    </a:solidFill>
                  </a:tcPr>
                </a:tc>
                <a:tc>
                  <a:txBody>
                    <a:bodyPr/>
                    <a:lstStyle/>
                    <a:p>
                      <a:r>
                        <a:rPr sz="1875" b="0">
                          <a:solidFill>
                            <a:srgbClr val="14283F"/>
                          </a:solidFill>
                          <a:latin typeface="Microsoft YaHei"/>
                          <a:ea typeface="Microsoft YaHei"/>
                          <a:cs typeface="Microsoft YaHei"/>
                        </a:rPr>
                        <a:t>通过堆保存当前找到的较优候选</a:t>
                      </a:r>
                    </a:p>
                  </a:txBody>
                  <a:tcPr marL="91440" marR="91440" marT="45720" marB="45720">
                    <a:solidFill>
                      <a:srgbClr val="EDF3F8"/>
                    </a:solidFill>
                  </a:tcPr>
                </a:tc>
              </a:tr>
              <a:tr h="525780">
                <a:tc>
                  <a:txBody>
                    <a:bodyPr/>
                    <a:lstStyle/>
                    <a:p>
                      <a:r>
                        <a:rPr sz="1875" b="0">
                          <a:solidFill>
                            <a:srgbClr val="14283F"/>
                          </a:solidFill>
                          <a:latin typeface="Microsoft YaHei"/>
                          <a:ea typeface="Microsoft YaHei"/>
                          <a:cs typeface="Microsoft YaHei"/>
                        </a:rPr>
                        <a:t>固定课表与结构完善</a:t>
                      </a:r>
                    </a:p>
                  </a:txBody>
                  <a:tcPr marL="91440" marR="91440" marT="45720" marB="45720">
                    <a:solidFill>
                      <a:srgbClr val="FFFFFF"/>
                    </a:solidFill>
                  </a:tcPr>
                </a:tc>
                <a:tc>
                  <a:txBody>
                    <a:bodyPr/>
                    <a:lstStyle/>
                    <a:p>
                      <a:r>
                        <a:rPr sz="1875" b="0">
                          <a:solidFill>
                            <a:srgbClr val="14283F"/>
                          </a:solidFill>
                          <a:latin typeface="Microsoft YaHei"/>
                          <a:ea typeface="Microsoft YaHei"/>
                          <a:cs typeface="Microsoft YaHei"/>
                        </a:rPr>
                        <a:t>补独立固定课表、分组索引及图更新细节</a:t>
                      </a:r>
                    </a:p>
                  </a:txBody>
                  <a:tcPr marL="91440" marR="91440" marT="45720" marB="45720">
                    <a:solidFill>
                      <a:srgbClr val="FFFFFF"/>
                    </a:solidFill>
                  </a:tcPr>
                </a:tc>
              </a:tr>
              <a:tr h="525780">
                <a:tc>
                  <a:txBody>
                    <a:bodyPr/>
                    <a:lstStyle/>
                    <a:p>
                      <a:r>
                        <a:rPr sz="1875" b="0">
                          <a:solidFill>
                            <a:srgbClr val="14283F"/>
                          </a:solidFill>
                          <a:latin typeface="Microsoft YaHei"/>
                          <a:ea typeface="Microsoft YaHei"/>
                          <a:cs typeface="Microsoft YaHei"/>
                        </a:rPr>
                        <a:t>最终联调</a:t>
                      </a:r>
                    </a:p>
                  </a:txBody>
                  <a:tcPr marL="91440" marR="91440" marT="45720" marB="45720">
                    <a:solidFill>
                      <a:srgbClr val="EDF3F8"/>
                    </a:solidFill>
                  </a:tcPr>
                </a:tc>
                <a:tc>
                  <a:txBody>
                    <a:bodyPr/>
                    <a:lstStyle/>
                    <a:p>
                      <a:r>
                        <a:rPr sz="1875" b="0">
                          <a:solidFill>
                            <a:srgbClr val="14283F"/>
                          </a:solidFill>
                          <a:latin typeface="Microsoft YaHei"/>
                          <a:ea typeface="Microsoft YaHei"/>
                          <a:cs typeface="Microsoft YaHei"/>
                        </a:rPr>
                        <a:t>真实数据、完整性能验证和交付材料</a:t>
                      </a:r>
                    </a:p>
                  </a:txBody>
                  <a:tcPr marL="91440" marR="91440" marT="45720" marB="45720">
                    <a:solidFill>
                      <a:srgbClr val="EDF3F8"/>
                    </a:solidFill>
                  </a:tcPr>
                </a:tc>
              </a:tr>
            </a:tbl>
          </a:graphicData>
        </a:graphic>
      </p:graphicFrame>
      <p:sp>
        <p:nvSpPr>
          <p:cNvPr id="6" name="">
            <a:extLst xmlns:a="http://schemas.openxmlformats.org/drawingml/2006/main">
              <a:ext uri="{FF2B5EF4-FFF2-40B4-BE49-F238E27FC236}">
                <a16:creationId xmlns:a16="http://schemas.microsoft.com/office/drawing/2014/main" id="{82A8AED7-E410-40A7-A313-5FF698990B89}"/>
              </a:ext>
            </a:extLst>
          </p:cNvPr>
          <p:cNvSpPr>
            <a:spLocks xmlns:a="http://schemas.openxmlformats.org/drawingml/2006/main" noGrp="1"/>
          </p:cNvSpPr>
          <p:nvPr/>
        </p:nvSpPr>
        <p:spPr>
          <a:xfrm xmlns:a="http://schemas.openxmlformats.org/drawingml/2006/main">
            <a:off x="609600" y="61722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4C74"/>
                </a:solidFill>
                <a:latin typeface="Microsoft YaHei"/>
                <a:ea typeface="Microsoft YaHei"/>
                <a:cs typeface="Microsoft YaHei"/>
              </a:defRPr>
            </a:pPr>
            <a:r>
              <a:rPr sz="1950" b="1">
                <a:solidFill>
                  <a:srgbClr val="174C74"/>
                </a:solidFill>
                <a:latin typeface="Microsoft YaHei"/>
                <a:ea typeface="Microsoft YaHei"/>
                <a:cs typeface="Microsoft YaHei"/>
              </a:rPr>
              <a:t>下一步先实现评价器，再接排序与Top-K</a:t>
            </a:r>
          </a:p>
        </p:txBody>
      </p:sp>
    </p:spTree>
    <p:extLst>
      <p:ext uri="{BB962C8B-B14F-4D97-AF65-F5344CB8AC3E}">
        <p14:creationId xmlns:p14="http://schemas.microsoft.com/office/powerpoint/2010/main" val="1212683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2026-10-07T10:32:26.4030000Z</dcterms:created>
  <dcterms:modified xsi:type="dcterms:W3CDTF">2026-10-07T10:32:26.4030000Z</dcterms:modified>
</coreProperties>
</file>