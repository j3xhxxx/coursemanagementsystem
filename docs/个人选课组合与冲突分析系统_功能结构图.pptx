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0691813" cy="75596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78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教学班功能结构设计。TeachingClass 是独立可选教学班，一个 TeachingClass 可包含多个 Meeting；同课程通过课程标识分组，不设置独立 Course 对象。时间位集合覆盖整个学期。冲突图边表示不同课程教学班间的时间冲突。搜索结果必须是合法 Schedule，才进入方案评价与大根堆 Top-K 维护。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figure-title">
            <a:extLst>
              <a:ext uri="{FF2B5EF4-FFF2-40B4-BE49-F238E27FC236}">
                <a16:creationId xmlns:a16="http://schemas.microsoft.com/office/drawing/2014/main" id="{47821A2E-112F-4066-AB80-AD00B0CBE289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9777600" cy="406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4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个人选课组合与冲突分析系统功能结构图</a:t>
            </a:r>
          </a:p>
        </p:txBody>
      </p:sp>
      <p:sp>
        <p:nvSpPr>
          <p:cNvPr id="2" name="project-title">
            <a:extLst>
              <a:ext uri="{FF2B5EF4-FFF2-40B4-BE49-F238E27FC236}">
                <a16:creationId xmlns:a16="http://schemas.microsoft.com/office/drawing/2014/main" id="{E672148C-C1C8-44E2-B33B-B866E50DE823}"/>
              </a:ext>
            </a:extLst>
          </p:cNvPr>
          <p:cNvSpPr>
            <a:spLocks noGrp="1"/>
          </p:cNvSpPr>
          <p:nvPr/>
        </p:nvSpPr>
        <p:spPr>
          <a:xfrm>
            <a:off x="457200" y="609600"/>
            <a:ext cx="97776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rPr>
              <a:t>基于冲突图与约束搜索的个人选课组合与冲突分析系统</a:t>
            </a:r>
            <a:endParaRPr sz="1050" b="0" dirty="0">
              <a:solidFill>
                <a:srgbClr val="63727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M1|frame">
            <a:extLst>
              <a:ext uri="{FF2B5EF4-FFF2-40B4-BE49-F238E27FC236}">
                <a16:creationId xmlns:a16="http://schemas.microsoft.com/office/drawing/2014/main" id="{25B2BF0B-1B52-4B9D-8D78-9A7D32D42955}"/>
              </a:ext>
            </a:extLst>
          </p:cNvPr>
          <p:cNvSpPr>
            <a:spLocks noGrp="1"/>
          </p:cNvSpPr>
          <p:nvPr/>
        </p:nvSpPr>
        <p:spPr>
          <a:xfrm>
            <a:off x="533400" y="914400"/>
            <a:ext cx="3048000" cy="14097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3970">
            <a:solidFill>
              <a:srgbClr val="536574"/>
            </a:solidFill>
          </a:ln>
        </p:spPr>
      </p:sp>
      <p:sp>
        <p:nvSpPr>
          <p:cNvPr id="4" name="M1|title">
            <a:extLst>
              <a:ext uri="{FF2B5EF4-FFF2-40B4-BE49-F238E27FC236}">
                <a16:creationId xmlns:a16="http://schemas.microsoft.com/office/drawing/2014/main" id="{43748000-0658-4F0E-BC58-C94F8DC369E5}"/>
              </a:ext>
            </a:extLst>
          </p:cNvPr>
          <p:cNvSpPr>
            <a:spLocks noGrp="1"/>
          </p:cNvSpPr>
          <p:nvPr/>
        </p:nvSpPr>
        <p:spPr>
          <a:xfrm>
            <a:off x="685800" y="1003300"/>
            <a:ext cx="2743200" cy="279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教学班数据管理</a:t>
            </a:r>
          </a:p>
        </p:txBody>
      </p:sp>
      <p:sp>
        <p:nvSpPr>
          <p:cNvPr id="5" name="M1|item1">
            <a:extLst>
              <a:ext uri="{FF2B5EF4-FFF2-40B4-BE49-F238E27FC236}">
                <a16:creationId xmlns:a16="http://schemas.microsoft.com/office/drawing/2014/main" id="{2C7F37E2-B0F7-44D2-A295-A743970564A8}"/>
              </a:ext>
            </a:extLst>
          </p:cNvPr>
          <p:cNvSpPr>
            <a:spLocks noGrp="1"/>
          </p:cNvSpPr>
          <p:nvPr/>
        </p:nvSpPr>
        <p:spPr>
          <a:xfrm>
            <a:off x="1288700" y="1339850"/>
            <a:ext cx="2413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 dirty="0" err="1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TeachingClass</a:t>
            </a:r>
            <a:r>
              <a:rPr sz="1150" b="0" dirty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50" b="0" dirty="0" err="1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增删改查</a:t>
            </a:r>
            <a:endParaRPr sz="1150" b="0" dirty="0">
              <a:solidFill>
                <a:srgbClr val="30384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M1|item2">
            <a:extLst>
              <a:ext uri="{FF2B5EF4-FFF2-40B4-BE49-F238E27FC236}">
                <a16:creationId xmlns:a16="http://schemas.microsoft.com/office/drawing/2014/main" id="{25E9271D-9D90-4D71-8ADE-B1C3440645C6}"/>
              </a:ext>
            </a:extLst>
          </p:cNvPr>
          <p:cNvSpPr>
            <a:spLocks noGrp="1"/>
          </p:cNvSpPr>
          <p:nvPr/>
        </p:nvSpPr>
        <p:spPr>
          <a:xfrm>
            <a:off x="1288700" y="1530350"/>
            <a:ext cx="2413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 dirty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Meeting </a:t>
            </a:r>
            <a:r>
              <a:rPr sz="1150" b="0" dirty="0" err="1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多时段管理</a:t>
            </a:r>
            <a:endParaRPr sz="1150" b="0" dirty="0">
              <a:solidFill>
                <a:srgbClr val="30384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M1|item3">
            <a:extLst>
              <a:ext uri="{FF2B5EF4-FFF2-40B4-BE49-F238E27FC236}">
                <a16:creationId xmlns:a16="http://schemas.microsoft.com/office/drawing/2014/main" id="{6BB46C08-64FD-403C-BB04-CA94AF26269C}"/>
              </a:ext>
            </a:extLst>
          </p:cNvPr>
          <p:cNvSpPr>
            <a:spLocks noGrp="1"/>
          </p:cNvSpPr>
          <p:nvPr/>
        </p:nvSpPr>
        <p:spPr>
          <a:xfrm>
            <a:off x="1288700" y="1720850"/>
            <a:ext cx="2413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教学班编号索引</a:t>
            </a:r>
          </a:p>
        </p:txBody>
      </p:sp>
      <p:sp>
        <p:nvSpPr>
          <p:cNvPr id="8" name="M1|item4">
            <a:extLst>
              <a:ext uri="{FF2B5EF4-FFF2-40B4-BE49-F238E27FC236}">
                <a16:creationId xmlns:a16="http://schemas.microsoft.com/office/drawing/2014/main" id="{0F66CA7A-0ED0-4C64-B3A0-CE1069FEFD4F}"/>
              </a:ext>
            </a:extLst>
          </p:cNvPr>
          <p:cNvSpPr>
            <a:spLocks noGrp="1"/>
          </p:cNvSpPr>
          <p:nvPr/>
        </p:nvSpPr>
        <p:spPr>
          <a:xfrm>
            <a:off x="1288700" y="1911350"/>
            <a:ext cx="2413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 dirty="0" err="1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同课程候选教学班分组</a:t>
            </a:r>
            <a:endParaRPr sz="1150" b="0" dirty="0">
              <a:solidFill>
                <a:srgbClr val="30384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M1|tag">
            <a:extLst>
              <a:ext uri="{FF2B5EF4-FFF2-40B4-BE49-F238E27FC236}">
                <a16:creationId xmlns:a16="http://schemas.microsoft.com/office/drawing/2014/main" id="{8780825F-CDE1-45D4-AFF3-21D6924E9293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274320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50" b="0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0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rPr>
              <a:t>顺序表 / 散列表</a:t>
            </a:r>
          </a:p>
        </p:txBody>
      </p:sp>
      <p:sp>
        <p:nvSpPr>
          <p:cNvPr id="10" name="M2|frame">
            <a:extLst>
              <a:ext uri="{FF2B5EF4-FFF2-40B4-BE49-F238E27FC236}">
                <a16:creationId xmlns:a16="http://schemas.microsoft.com/office/drawing/2014/main" id="{CDA4690C-5C81-42D7-8E96-EB69EE918CBD}"/>
              </a:ext>
            </a:extLst>
          </p:cNvPr>
          <p:cNvSpPr>
            <a:spLocks noGrp="1"/>
          </p:cNvSpPr>
          <p:nvPr/>
        </p:nvSpPr>
        <p:spPr>
          <a:xfrm>
            <a:off x="3822000" y="914400"/>
            <a:ext cx="3048000" cy="14097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3970">
            <a:solidFill>
              <a:srgbClr val="536574"/>
            </a:solidFill>
          </a:ln>
        </p:spPr>
      </p:sp>
      <p:sp>
        <p:nvSpPr>
          <p:cNvPr id="11" name="M2|title">
            <a:extLst>
              <a:ext uri="{FF2B5EF4-FFF2-40B4-BE49-F238E27FC236}">
                <a16:creationId xmlns:a16="http://schemas.microsoft.com/office/drawing/2014/main" id="{27692BF2-2B44-4298-862F-796238CFCD17}"/>
              </a:ext>
            </a:extLst>
          </p:cNvPr>
          <p:cNvSpPr>
            <a:spLocks noGrp="1"/>
          </p:cNvSpPr>
          <p:nvPr/>
        </p:nvSpPr>
        <p:spPr>
          <a:xfrm>
            <a:off x="3974400" y="1003300"/>
            <a:ext cx="2743200" cy="279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用户约束设置</a:t>
            </a:r>
            <a:endParaRPr sz="1600" b="1" dirty="0">
              <a:solidFill>
                <a:srgbClr val="2025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M2|item1">
            <a:extLst>
              <a:ext uri="{FF2B5EF4-FFF2-40B4-BE49-F238E27FC236}">
                <a16:creationId xmlns:a16="http://schemas.microsoft.com/office/drawing/2014/main" id="{35849EC1-D223-45F8-9FCD-F95AAC25D7B4}"/>
              </a:ext>
            </a:extLst>
          </p:cNvPr>
          <p:cNvSpPr>
            <a:spLocks noGrp="1"/>
          </p:cNvSpPr>
          <p:nvPr/>
        </p:nvSpPr>
        <p:spPr>
          <a:xfrm>
            <a:off x="4901500" y="1352550"/>
            <a:ext cx="2413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 dirty="0" err="1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固定课表设置</a:t>
            </a:r>
            <a:endParaRPr sz="1150" b="0" dirty="0">
              <a:solidFill>
                <a:srgbClr val="30384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M2|item2">
            <a:extLst>
              <a:ext uri="{FF2B5EF4-FFF2-40B4-BE49-F238E27FC236}">
                <a16:creationId xmlns:a16="http://schemas.microsoft.com/office/drawing/2014/main" id="{85107439-1709-41F4-8F68-DC16E11C0BF7}"/>
              </a:ext>
            </a:extLst>
          </p:cNvPr>
          <p:cNvSpPr>
            <a:spLocks noGrp="1"/>
          </p:cNvSpPr>
          <p:nvPr/>
        </p:nvSpPr>
        <p:spPr>
          <a:xfrm>
            <a:off x="4901500" y="1543050"/>
            <a:ext cx="2413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 dirty="0" err="1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锁定教学班</a:t>
            </a:r>
            <a:endParaRPr sz="1150" b="0" dirty="0">
              <a:solidFill>
                <a:srgbClr val="30384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M2|item3">
            <a:extLst>
              <a:ext uri="{FF2B5EF4-FFF2-40B4-BE49-F238E27FC236}">
                <a16:creationId xmlns:a16="http://schemas.microsoft.com/office/drawing/2014/main" id="{F9573BB7-4785-4935-9528-D2EFDFFEE468}"/>
              </a:ext>
            </a:extLst>
          </p:cNvPr>
          <p:cNvSpPr>
            <a:spLocks noGrp="1"/>
          </p:cNvSpPr>
          <p:nvPr/>
        </p:nvSpPr>
        <p:spPr>
          <a:xfrm>
            <a:off x="4901500" y="1733550"/>
            <a:ext cx="2413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 dirty="0" err="1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禁用时段设置</a:t>
            </a:r>
            <a:endParaRPr sz="1150" b="0" dirty="0">
              <a:solidFill>
                <a:srgbClr val="30384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M2|item4">
            <a:extLst>
              <a:ext uri="{FF2B5EF4-FFF2-40B4-BE49-F238E27FC236}">
                <a16:creationId xmlns:a16="http://schemas.microsoft.com/office/drawing/2014/main" id="{EC11217C-DAC5-4EE3-AD5F-F64540D8E12B}"/>
              </a:ext>
            </a:extLst>
          </p:cNvPr>
          <p:cNvSpPr>
            <a:spLocks noGrp="1"/>
          </p:cNvSpPr>
          <p:nvPr/>
        </p:nvSpPr>
        <p:spPr>
          <a:xfrm>
            <a:off x="4901500" y="1924050"/>
            <a:ext cx="2413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 dirty="0" err="1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个人偏好设置</a:t>
            </a:r>
            <a:endParaRPr sz="1150" b="0" dirty="0">
              <a:solidFill>
                <a:srgbClr val="30384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M3|frame">
            <a:extLst>
              <a:ext uri="{FF2B5EF4-FFF2-40B4-BE49-F238E27FC236}">
                <a16:creationId xmlns:a16="http://schemas.microsoft.com/office/drawing/2014/main" id="{CCCD11F6-ABA3-4BC2-AA6E-1C585764042C}"/>
              </a:ext>
            </a:extLst>
          </p:cNvPr>
          <p:cNvSpPr>
            <a:spLocks noGrp="1"/>
          </p:cNvSpPr>
          <p:nvPr/>
        </p:nvSpPr>
        <p:spPr>
          <a:xfrm>
            <a:off x="7110600" y="914400"/>
            <a:ext cx="3048000" cy="14097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3970">
            <a:solidFill>
              <a:srgbClr val="536574"/>
            </a:solidFill>
          </a:ln>
        </p:spPr>
      </p:sp>
      <p:sp>
        <p:nvSpPr>
          <p:cNvPr id="17" name="M3|title">
            <a:extLst>
              <a:ext uri="{FF2B5EF4-FFF2-40B4-BE49-F238E27FC236}">
                <a16:creationId xmlns:a16="http://schemas.microsoft.com/office/drawing/2014/main" id="{E00C585D-015C-4ACF-AFEE-820888271999}"/>
              </a:ext>
            </a:extLst>
          </p:cNvPr>
          <p:cNvSpPr>
            <a:spLocks noGrp="1"/>
          </p:cNvSpPr>
          <p:nvPr/>
        </p:nvSpPr>
        <p:spPr>
          <a:xfrm>
            <a:off x="7263000" y="1003300"/>
            <a:ext cx="2743200" cy="279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数据导入与保存</a:t>
            </a:r>
          </a:p>
        </p:txBody>
      </p:sp>
      <p:sp>
        <p:nvSpPr>
          <p:cNvPr id="18" name="M3|item1">
            <a:extLst>
              <a:ext uri="{FF2B5EF4-FFF2-40B4-BE49-F238E27FC236}">
                <a16:creationId xmlns:a16="http://schemas.microsoft.com/office/drawing/2014/main" id="{4D68BD6D-2F89-429F-A5D6-1E4A09C7ACC6}"/>
              </a:ext>
            </a:extLst>
          </p:cNvPr>
          <p:cNvSpPr>
            <a:spLocks noGrp="1"/>
          </p:cNvSpPr>
          <p:nvPr/>
        </p:nvSpPr>
        <p:spPr>
          <a:xfrm>
            <a:off x="8171627" y="1422977"/>
            <a:ext cx="2413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 dirty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CSV </a:t>
            </a:r>
            <a:r>
              <a:rPr sz="1150" b="0" dirty="0" err="1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数据导入</a:t>
            </a:r>
            <a:endParaRPr sz="1150" b="0" dirty="0">
              <a:solidFill>
                <a:srgbClr val="30384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M3|item2">
            <a:extLst>
              <a:ext uri="{FF2B5EF4-FFF2-40B4-BE49-F238E27FC236}">
                <a16:creationId xmlns:a16="http://schemas.microsoft.com/office/drawing/2014/main" id="{3AB48899-B590-4962-8693-DE5EA8DDBF93}"/>
              </a:ext>
            </a:extLst>
          </p:cNvPr>
          <p:cNvSpPr>
            <a:spLocks noGrp="1"/>
          </p:cNvSpPr>
          <p:nvPr/>
        </p:nvSpPr>
        <p:spPr>
          <a:xfrm>
            <a:off x="8171627" y="1613477"/>
            <a:ext cx="2413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 dirty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JSON </a:t>
            </a:r>
            <a:r>
              <a:rPr sz="1150" b="0" dirty="0" err="1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项目保存</a:t>
            </a:r>
            <a:endParaRPr sz="1150" b="0" dirty="0">
              <a:solidFill>
                <a:srgbClr val="30384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M3|item4">
            <a:extLst>
              <a:ext uri="{FF2B5EF4-FFF2-40B4-BE49-F238E27FC236}">
                <a16:creationId xmlns:a16="http://schemas.microsoft.com/office/drawing/2014/main" id="{D8BA01F5-58C1-40E7-BA44-09E7FAC3EF25}"/>
              </a:ext>
            </a:extLst>
          </p:cNvPr>
          <p:cNvSpPr>
            <a:spLocks noGrp="1"/>
          </p:cNvSpPr>
          <p:nvPr/>
        </p:nvSpPr>
        <p:spPr>
          <a:xfrm>
            <a:off x="8171627" y="1829377"/>
            <a:ext cx="241300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 dirty="0" err="1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数据合法性检查</a:t>
            </a:r>
            <a:endParaRPr sz="1150" b="0" dirty="0">
              <a:solidFill>
                <a:srgbClr val="30384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M4|frame">
            <a:extLst>
              <a:ext uri="{FF2B5EF4-FFF2-40B4-BE49-F238E27FC236}">
                <a16:creationId xmlns:a16="http://schemas.microsoft.com/office/drawing/2014/main" id="{2F7A0758-C914-4FFD-A93A-3EEFE41D97A6}"/>
              </a:ext>
            </a:extLst>
          </p:cNvPr>
          <p:cNvSpPr>
            <a:spLocks noGrp="1"/>
          </p:cNvSpPr>
          <p:nvPr/>
        </p:nvSpPr>
        <p:spPr>
          <a:xfrm>
            <a:off x="837500" y="2603500"/>
            <a:ext cx="9017000" cy="812800"/>
          </a:xfrm>
          <a:prstGeom prst="roundRect">
            <a:avLst>
              <a:gd name="adj" fmla="val 6250"/>
            </a:avLst>
          </a:prstGeom>
          <a:solidFill>
            <a:srgbClr val="EFF3F6"/>
          </a:solidFill>
          <a:ln w="13970">
            <a:solidFill>
              <a:srgbClr val="536574"/>
            </a:solidFill>
          </a:ln>
        </p:spPr>
      </p:sp>
      <p:sp>
        <p:nvSpPr>
          <p:cNvPr id="23" name="M4|title">
            <a:extLst>
              <a:ext uri="{FF2B5EF4-FFF2-40B4-BE49-F238E27FC236}">
                <a16:creationId xmlns:a16="http://schemas.microsoft.com/office/drawing/2014/main" id="{40A004C1-ADCB-4974-ACD2-188414F13E01}"/>
              </a:ext>
            </a:extLst>
          </p:cNvPr>
          <p:cNvSpPr>
            <a:spLocks noGrp="1"/>
          </p:cNvSpPr>
          <p:nvPr/>
        </p:nvSpPr>
        <p:spPr>
          <a:xfrm>
            <a:off x="1028000" y="2755900"/>
            <a:ext cx="2413000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时间建模与冲突分析</a:t>
            </a:r>
          </a:p>
        </p:txBody>
      </p:sp>
      <p:sp>
        <p:nvSpPr>
          <p:cNvPr id="24" name="M4|tag">
            <a:extLst>
              <a:ext uri="{FF2B5EF4-FFF2-40B4-BE49-F238E27FC236}">
                <a16:creationId xmlns:a16="http://schemas.microsoft.com/office/drawing/2014/main" id="{1D4B25F6-6563-410F-9EB9-60F5FA6F5461}"/>
              </a:ext>
            </a:extLst>
          </p:cNvPr>
          <p:cNvSpPr>
            <a:spLocks noGrp="1"/>
          </p:cNvSpPr>
          <p:nvPr/>
        </p:nvSpPr>
        <p:spPr>
          <a:xfrm>
            <a:off x="1028000" y="3098800"/>
            <a:ext cx="2413000" cy="177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50" b="0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0" dirty="0" err="1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rPr>
              <a:t>时间位集合</a:t>
            </a:r>
            <a:endParaRPr sz="950" b="0" dirty="0">
              <a:solidFill>
                <a:srgbClr val="63727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M4|divider">
            <a:extLst>
              <a:ext uri="{FF2B5EF4-FFF2-40B4-BE49-F238E27FC236}">
                <a16:creationId xmlns:a16="http://schemas.microsoft.com/office/drawing/2014/main" id="{6F6FA7B9-66EF-4163-A527-4E68D7CA6EB0}"/>
              </a:ext>
            </a:extLst>
          </p:cNvPr>
          <p:cNvSpPr>
            <a:spLocks noGrp="1"/>
          </p:cNvSpPr>
          <p:nvPr/>
        </p:nvSpPr>
        <p:spPr>
          <a:xfrm>
            <a:off x="3593400" y="2743200"/>
            <a:ext cx="0" cy="533400"/>
          </a:xfrm>
          <a:prstGeom prst="line">
            <a:avLst/>
          </a:prstGeom>
          <a:noFill/>
          <a:ln w="8255">
            <a:solidFill>
              <a:srgbClr val="CDD6DD"/>
            </a:solidFill>
          </a:ln>
        </p:spPr>
      </p:sp>
      <p:sp>
        <p:nvSpPr>
          <p:cNvPr id="26" name="M4|item1">
            <a:extLst>
              <a:ext uri="{FF2B5EF4-FFF2-40B4-BE49-F238E27FC236}">
                <a16:creationId xmlns:a16="http://schemas.microsoft.com/office/drawing/2014/main" id="{F3A21FB8-90CD-45ED-8F6B-84CAE1141B28}"/>
              </a:ext>
            </a:extLst>
          </p:cNvPr>
          <p:cNvSpPr>
            <a:spLocks noGrp="1"/>
          </p:cNvSpPr>
          <p:nvPr/>
        </p:nvSpPr>
        <p:spPr>
          <a:xfrm>
            <a:off x="3809300" y="269875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50" dirty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“周次</a:t>
            </a:r>
            <a:r>
              <a:rPr lang="en-US" altLang="zh-CN" sz="1150" dirty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lang="zh-CN" altLang="en-US" sz="1150" dirty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星期</a:t>
            </a:r>
            <a:r>
              <a:rPr lang="en-US" altLang="zh-CN" sz="1150" dirty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lang="zh-CN" altLang="en-US" sz="1150" dirty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节次”</a:t>
            </a:r>
            <a:r>
              <a:rPr sz="1150" b="0" dirty="0" err="1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统一编码</a:t>
            </a:r>
            <a:endParaRPr sz="1150" b="0" dirty="0">
              <a:solidFill>
                <a:srgbClr val="30384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M4|item2">
            <a:extLst>
              <a:ext uri="{FF2B5EF4-FFF2-40B4-BE49-F238E27FC236}">
                <a16:creationId xmlns:a16="http://schemas.microsoft.com/office/drawing/2014/main" id="{33E43CE1-73A7-4307-886C-63F22636D9D9}"/>
              </a:ext>
            </a:extLst>
          </p:cNvPr>
          <p:cNvSpPr>
            <a:spLocks noGrp="1"/>
          </p:cNvSpPr>
          <p:nvPr/>
        </p:nvSpPr>
        <p:spPr>
          <a:xfrm>
            <a:off x="6730300" y="269875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 dirty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Meeting </a:t>
            </a:r>
            <a:r>
              <a:rPr sz="1150" b="0" dirty="0" err="1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转换为时间位集合</a:t>
            </a:r>
            <a:endParaRPr sz="1150" b="0" dirty="0">
              <a:solidFill>
                <a:srgbClr val="30384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M4|item3">
            <a:extLst>
              <a:ext uri="{FF2B5EF4-FFF2-40B4-BE49-F238E27FC236}">
                <a16:creationId xmlns:a16="http://schemas.microsoft.com/office/drawing/2014/main" id="{C5FC55A4-58CF-4E89-A54A-035793586190}"/>
              </a:ext>
            </a:extLst>
          </p:cNvPr>
          <p:cNvSpPr>
            <a:spLocks noGrp="1"/>
          </p:cNvSpPr>
          <p:nvPr/>
        </p:nvSpPr>
        <p:spPr>
          <a:xfrm>
            <a:off x="3809300" y="29083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 dirty="0" err="1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位集合交运算判断冲突</a:t>
            </a:r>
            <a:endParaRPr sz="1150" b="0" dirty="0">
              <a:solidFill>
                <a:srgbClr val="30384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M4|item4">
            <a:extLst>
              <a:ext uri="{FF2B5EF4-FFF2-40B4-BE49-F238E27FC236}">
                <a16:creationId xmlns:a16="http://schemas.microsoft.com/office/drawing/2014/main" id="{5FA35380-8099-4CA8-ABA1-6787B7C5AE7F}"/>
              </a:ext>
            </a:extLst>
          </p:cNvPr>
          <p:cNvSpPr>
            <a:spLocks noGrp="1"/>
          </p:cNvSpPr>
          <p:nvPr/>
        </p:nvSpPr>
        <p:spPr>
          <a:xfrm>
            <a:off x="6730300" y="29083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位集合并运算维护课表占用</a:t>
            </a:r>
          </a:p>
        </p:txBody>
      </p:sp>
      <p:sp>
        <p:nvSpPr>
          <p:cNvPr id="30" name="M4|item5">
            <a:extLst>
              <a:ext uri="{FF2B5EF4-FFF2-40B4-BE49-F238E27FC236}">
                <a16:creationId xmlns:a16="http://schemas.microsoft.com/office/drawing/2014/main" id="{125586FA-777E-476B-A32C-815569EC7EBB}"/>
              </a:ext>
            </a:extLst>
          </p:cNvPr>
          <p:cNvSpPr>
            <a:spLocks noGrp="1"/>
          </p:cNvSpPr>
          <p:nvPr/>
        </p:nvSpPr>
        <p:spPr>
          <a:xfrm>
            <a:off x="3809300" y="311785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 dirty="0" err="1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冲突时间反向</a:t>
            </a:r>
            <a:r>
              <a:rPr lang="zh-CN" altLang="en-US" sz="1150" b="0" dirty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推导</a:t>
            </a:r>
            <a:endParaRPr sz="1150" b="0" dirty="0">
              <a:solidFill>
                <a:srgbClr val="30384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M5|frame">
            <a:extLst>
              <a:ext uri="{FF2B5EF4-FFF2-40B4-BE49-F238E27FC236}">
                <a16:creationId xmlns:a16="http://schemas.microsoft.com/office/drawing/2014/main" id="{2792F965-D98B-4A69-981A-7F4088A6BC14}"/>
              </a:ext>
            </a:extLst>
          </p:cNvPr>
          <p:cNvSpPr>
            <a:spLocks noGrp="1"/>
          </p:cNvSpPr>
          <p:nvPr/>
        </p:nvSpPr>
        <p:spPr>
          <a:xfrm>
            <a:off x="837500" y="3581400"/>
            <a:ext cx="9017000" cy="812800"/>
          </a:xfrm>
          <a:prstGeom prst="roundRect">
            <a:avLst>
              <a:gd name="adj" fmla="val 6250"/>
            </a:avLst>
          </a:prstGeom>
          <a:solidFill>
            <a:srgbClr val="EFF3F6"/>
          </a:solidFill>
          <a:ln w="13970">
            <a:solidFill>
              <a:srgbClr val="536574"/>
            </a:solidFill>
          </a:ln>
        </p:spPr>
      </p:sp>
      <p:sp>
        <p:nvSpPr>
          <p:cNvPr id="32" name="M5|title">
            <a:extLst>
              <a:ext uri="{FF2B5EF4-FFF2-40B4-BE49-F238E27FC236}">
                <a16:creationId xmlns:a16="http://schemas.microsoft.com/office/drawing/2014/main" id="{80DEBD8D-C4F2-4787-AFEE-CACDFD8258AD}"/>
              </a:ext>
            </a:extLst>
          </p:cNvPr>
          <p:cNvSpPr>
            <a:spLocks noGrp="1"/>
          </p:cNvSpPr>
          <p:nvPr/>
        </p:nvSpPr>
        <p:spPr>
          <a:xfrm>
            <a:off x="1028000" y="3733800"/>
            <a:ext cx="2413000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冲突图构建与维护</a:t>
            </a:r>
          </a:p>
        </p:txBody>
      </p:sp>
      <p:sp>
        <p:nvSpPr>
          <p:cNvPr id="33" name="M5|tag">
            <a:extLst>
              <a:ext uri="{FF2B5EF4-FFF2-40B4-BE49-F238E27FC236}">
                <a16:creationId xmlns:a16="http://schemas.microsoft.com/office/drawing/2014/main" id="{1F5B60E7-7437-4AFD-B2D9-1A1D79E549CC}"/>
              </a:ext>
            </a:extLst>
          </p:cNvPr>
          <p:cNvSpPr>
            <a:spLocks noGrp="1"/>
          </p:cNvSpPr>
          <p:nvPr/>
        </p:nvSpPr>
        <p:spPr>
          <a:xfrm>
            <a:off x="1028000" y="4076700"/>
            <a:ext cx="2413000" cy="177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50" b="0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0" dirty="0" err="1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rPr>
              <a:t>无向图</a:t>
            </a:r>
            <a:r>
              <a:rPr lang="zh-CN" altLang="en-US" sz="950" b="0" dirty="0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950" b="0" dirty="0" err="1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rPr>
              <a:t>邻接表</a:t>
            </a:r>
            <a:endParaRPr sz="950" b="0" dirty="0">
              <a:solidFill>
                <a:srgbClr val="63727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M5|divider">
            <a:extLst>
              <a:ext uri="{FF2B5EF4-FFF2-40B4-BE49-F238E27FC236}">
                <a16:creationId xmlns:a16="http://schemas.microsoft.com/office/drawing/2014/main" id="{EE5B6119-7260-4733-8667-171A1184AB93}"/>
              </a:ext>
            </a:extLst>
          </p:cNvPr>
          <p:cNvSpPr>
            <a:spLocks noGrp="1"/>
          </p:cNvSpPr>
          <p:nvPr/>
        </p:nvSpPr>
        <p:spPr>
          <a:xfrm>
            <a:off x="3593400" y="3721100"/>
            <a:ext cx="0" cy="533400"/>
          </a:xfrm>
          <a:prstGeom prst="line">
            <a:avLst/>
          </a:prstGeom>
          <a:noFill/>
          <a:ln w="8255">
            <a:solidFill>
              <a:srgbClr val="CDD6DD"/>
            </a:solidFill>
          </a:ln>
        </p:spPr>
      </p:sp>
      <p:sp>
        <p:nvSpPr>
          <p:cNvPr id="35" name="M5|item1">
            <a:extLst>
              <a:ext uri="{FF2B5EF4-FFF2-40B4-BE49-F238E27FC236}">
                <a16:creationId xmlns:a16="http://schemas.microsoft.com/office/drawing/2014/main" id="{4C52EED4-ACCA-4117-AC10-C89CB8F6491D}"/>
              </a:ext>
            </a:extLst>
          </p:cNvPr>
          <p:cNvSpPr>
            <a:spLocks noGrp="1"/>
          </p:cNvSpPr>
          <p:nvPr/>
        </p:nvSpPr>
        <p:spPr>
          <a:xfrm>
            <a:off x="3809300" y="367665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TeachingClass 作为顶点</a:t>
            </a:r>
          </a:p>
        </p:txBody>
      </p:sp>
      <p:sp>
        <p:nvSpPr>
          <p:cNvPr id="36" name="M5|item2">
            <a:extLst>
              <a:ext uri="{FF2B5EF4-FFF2-40B4-BE49-F238E27FC236}">
                <a16:creationId xmlns:a16="http://schemas.microsoft.com/office/drawing/2014/main" id="{D5A7AACF-D29C-4CA5-9A79-F4A9EB8C694B}"/>
              </a:ext>
            </a:extLst>
          </p:cNvPr>
          <p:cNvSpPr>
            <a:spLocks noGrp="1"/>
          </p:cNvSpPr>
          <p:nvPr/>
        </p:nvSpPr>
        <p:spPr>
          <a:xfrm>
            <a:off x="6730300" y="367665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时间冲突关系作为无向边</a:t>
            </a:r>
          </a:p>
        </p:txBody>
      </p:sp>
      <p:sp>
        <p:nvSpPr>
          <p:cNvPr id="37" name="M5|item3">
            <a:extLst>
              <a:ext uri="{FF2B5EF4-FFF2-40B4-BE49-F238E27FC236}">
                <a16:creationId xmlns:a16="http://schemas.microsoft.com/office/drawing/2014/main" id="{8D26CC49-F6AA-416F-A10E-4C54879DC714}"/>
              </a:ext>
            </a:extLst>
          </p:cNvPr>
          <p:cNvSpPr>
            <a:spLocks noGrp="1"/>
          </p:cNvSpPr>
          <p:nvPr/>
        </p:nvSpPr>
        <p:spPr>
          <a:xfrm>
            <a:off x="3809300" y="38862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邻接表存储冲突关系</a:t>
            </a:r>
          </a:p>
        </p:txBody>
      </p:sp>
      <p:sp>
        <p:nvSpPr>
          <p:cNvPr id="38" name="M5|item4">
            <a:extLst>
              <a:ext uri="{FF2B5EF4-FFF2-40B4-BE49-F238E27FC236}">
                <a16:creationId xmlns:a16="http://schemas.microsoft.com/office/drawing/2014/main" id="{0F613407-87D6-41E9-9242-1760B0A8CDBD}"/>
              </a:ext>
            </a:extLst>
          </p:cNvPr>
          <p:cNvSpPr>
            <a:spLocks noGrp="1"/>
          </p:cNvSpPr>
          <p:nvPr/>
        </p:nvSpPr>
        <p:spPr>
          <a:xfrm>
            <a:off x="6730300" y="38862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冲突边增删与动态更新</a:t>
            </a:r>
          </a:p>
        </p:txBody>
      </p:sp>
      <p:sp>
        <p:nvSpPr>
          <p:cNvPr id="39" name="M5|note">
            <a:extLst>
              <a:ext uri="{FF2B5EF4-FFF2-40B4-BE49-F238E27FC236}">
                <a16:creationId xmlns:a16="http://schemas.microsoft.com/office/drawing/2014/main" id="{2EF374F8-E8B1-46EA-AD49-0E3E7A3746A5}"/>
              </a:ext>
            </a:extLst>
          </p:cNvPr>
          <p:cNvSpPr>
            <a:spLocks noGrp="1"/>
          </p:cNvSpPr>
          <p:nvPr/>
        </p:nvSpPr>
        <p:spPr>
          <a:xfrm>
            <a:off x="3809300" y="4102100"/>
            <a:ext cx="5715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00" b="0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rPr>
              <a:t>边仅连接不同课程的教学班</a:t>
            </a:r>
          </a:p>
        </p:txBody>
      </p:sp>
      <p:sp>
        <p:nvSpPr>
          <p:cNvPr id="40" name="M6|frame">
            <a:extLst>
              <a:ext uri="{FF2B5EF4-FFF2-40B4-BE49-F238E27FC236}">
                <a16:creationId xmlns:a16="http://schemas.microsoft.com/office/drawing/2014/main" id="{33910AE0-993F-41AE-AB3B-93067B800351}"/>
              </a:ext>
            </a:extLst>
          </p:cNvPr>
          <p:cNvSpPr>
            <a:spLocks noGrp="1"/>
          </p:cNvSpPr>
          <p:nvPr/>
        </p:nvSpPr>
        <p:spPr>
          <a:xfrm>
            <a:off x="837500" y="4559300"/>
            <a:ext cx="9017000" cy="812800"/>
          </a:xfrm>
          <a:prstGeom prst="roundRect">
            <a:avLst>
              <a:gd name="adj" fmla="val 6250"/>
            </a:avLst>
          </a:prstGeom>
          <a:solidFill>
            <a:srgbClr val="EFF3F6"/>
          </a:solidFill>
          <a:ln w="13970">
            <a:solidFill>
              <a:srgbClr val="536574"/>
            </a:solidFill>
          </a:ln>
        </p:spPr>
      </p:sp>
      <p:sp>
        <p:nvSpPr>
          <p:cNvPr id="41" name="M6|title">
            <a:extLst>
              <a:ext uri="{FF2B5EF4-FFF2-40B4-BE49-F238E27FC236}">
                <a16:creationId xmlns:a16="http://schemas.microsoft.com/office/drawing/2014/main" id="{EF634F20-357C-4CC0-B053-E16CBBBCBDEB}"/>
              </a:ext>
            </a:extLst>
          </p:cNvPr>
          <p:cNvSpPr>
            <a:spLocks noGrp="1"/>
          </p:cNvSpPr>
          <p:nvPr/>
        </p:nvSpPr>
        <p:spPr>
          <a:xfrm>
            <a:off x="1028000" y="4711700"/>
            <a:ext cx="2413000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选课组合搜索</a:t>
            </a:r>
          </a:p>
        </p:txBody>
      </p:sp>
      <p:sp>
        <p:nvSpPr>
          <p:cNvPr id="42" name="M6|tag">
            <a:extLst>
              <a:ext uri="{FF2B5EF4-FFF2-40B4-BE49-F238E27FC236}">
                <a16:creationId xmlns:a16="http://schemas.microsoft.com/office/drawing/2014/main" id="{B1C3E650-A0B2-4181-B62F-35444ECC8125}"/>
              </a:ext>
            </a:extLst>
          </p:cNvPr>
          <p:cNvSpPr>
            <a:spLocks noGrp="1"/>
          </p:cNvSpPr>
          <p:nvPr/>
        </p:nvSpPr>
        <p:spPr>
          <a:xfrm>
            <a:off x="1028000" y="5054600"/>
            <a:ext cx="2413000" cy="177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50" b="0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0" dirty="0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rPr>
              <a:t>DFS</a:t>
            </a:r>
            <a:r>
              <a:rPr lang="zh-CN" altLang="en-US" sz="950" b="0" dirty="0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950" b="0" dirty="0" err="1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rPr>
              <a:t>回溯</a:t>
            </a:r>
            <a:r>
              <a:rPr lang="zh-CN" altLang="en-US" sz="950" b="0" dirty="0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950" b="0" dirty="0" err="1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rPr>
              <a:t>剪枝</a:t>
            </a:r>
            <a:endParaRPr sz="950" b="0" dirty="0">
              <a:solidFill>
                <a:srgbClr val="63727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" name="M6|divider">
            <a:extLst>
              <a:ext uri="{FF2B5EF4-FFF2-40B4-BE49-F238E27FC236}">
                <a16:creationId xmlns:a16="http://schemas.microsoft.com/office/drawing/2014/main" id="{966563D0-446D-4E62-93A6-82F3863290FE}"/>
              </a:ext>
            </a:extLst>
          </p:cNvPr>
          <p:cNvSpPr>
            <a:spLocks noGrp="1"/>
          </p:cNvSpPr>
          <p:nvPr/>
        </p:nvSpPr>
        <p:spPr>
          <a:xfrm>
            <a:off x="3593400" y="4699000"/>
            <a:ext cx="0" cy="533400"/>
          </a:xfrm>
          <a:prstGeom prst="line">
            <a:avLst/>
          </a:prstGeom>
          <a:noFill/>
          <a:ln w="8255">
            <a:solidFill>
              <a:srgbClr val="CDD6DD"/>
            </a:solidFill>
          </a:ln>
        </p:spPr>
      </p:sp>
      <p:sp>
        <p:nvSpPr>
          <p:cNvPr id="44" name="M6|item1">
            <a:extLst>
              <a:ext uri="{FF2B5EF4-FFF2-40B4-BE49-F238E27FC236}">
                <a16:creationId xmlns:a16="http://schemas.microsoft.com/office/drawing/2014/main" id="{EA864C28-433A-4364-BB30-9BECC2A48A63}"/>
              </a:ext>
            </a:extLst>
          </p:cNvPr>
          <p:cNvSpPr>
            <a:spLocks noGrp="1"/>
          </p:cNvSpPr>
          <p:nvPr/>
        </p:nvSpPr>
        <p:spPr>
          <a:xfrm>
            <a:off x="3809300" y="465455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DFS 深度优先搜索</a:t>
            </a:r>
          </a:p>
        </p:txBody>
      </p:sp>
      <p:sp>
        <p:nvSpPr>
          <p:cNvPr id="45" name="M6|item2">
            <a:extLst>
              <a:ext uri="{FF2B5EF4-FFF2-40B4-BE49-F238E27FC236}">
                <a16:creationId xmlns:a16="http://schemas.microsoft.com/office/drawing/2014/main" id="{B66354CD-1DE4-4142-A264-38E8A2FE5214}"/>
              </a:ext>
            </a:extLst>
          </p:cNvPr>
          <p:cNvSpPr>
            <a:spLocks noGrp="1"/>
          </p:cNvSpPr>
          <p:nvPr/>
        </p:nvSpPr>
        <p:spPr>
          <a:xfrm>
            <a:off x="6730300" y="465455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回溯与冲突剪枝</a:t>
            </a:r>
          </a:p>
        </p:txBody>
      </p:sp>
      <p:sp>
        <p:nvSpPr>
          <p:cNvPr id="46" name="M6|item3">
            <a:extLst>
              <a:ext uri="{FF2B5EF4-FFF2-40B4-BE49-F238E27FC236}">
                <a16:creationId xmlns:a16="http://schemas.microsoft.com/office/drawing/2014/main" id="{869E73E5-3E1F-4605-8CCB-01B0E2F3B13B}"/>
              </a:ext>
            </a:extLst>
          </p:cNvPr>
          <p:cNvSpPr>
            <a:spLocks noGrp="1"/>
          </p:cNvSpPr>
          <p:nvPr/>
        </p:nvSpPr>
        <p:spPr>
          <a:xfrm>
            <a:off x="3809300" y="48641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最少候选优先</a:t>
            </a:r>
          </a:p>
        </p:txBody>
      </p:sp>
      <p:sp>
        <p:nvSpPr>
          <p:cNvPr id="47" name="M6|item4">
            <a:extLst>
              <a:ext uri="{FF2B5EF4-FFF2-40B4-BE49-F238E27FC236}">
                <a16:creationId xmlns:a16="http://schemas.microsoft.com/office/drawing/2014/main" id="{2A62EA92-935B-486F-9536-8766ECB65A8D}"/>
              </a:ext>
            </a:extLst>
          </p:cNvPr>
          <p:cNvSpPr>
            <a:spLocks noGrp="1"/>
          </p:cNvSpPr>
          <p:nvPr/>
        </p:nvSpPr>
        <p:spPr>
          <a:xfrm>
            <a:off x="6730300" y="48641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候选提前筛除</a:t>
            </a:r>
          </a:p>
        </p:txBody>
      </p:sp>
      <p:sp>
        <p:nvSpPr>
          <p:cNvPr id="48" name="M6|item5">
            <a:extLst>
              <a:ext uri="{FF2B5EF4-FFF2-40B4-BE49-F238E27FC236}">
                <a16:creationId xmlns:a16="http://schemas.microsoft.com/office/drawing/2014/main" id="{D489ACA0-B837-4D30-A5BA-F1116B7A4552}"/>
              </a:ext>
            </a:extLst>
          </p:cNvPr>
          <p:cNvSpPr>
            <a:spLocks noGrp="1"/>
          </p:cNvSpPr>
          <p:nvPr/>
        </p:nvSpPr>
        <p:spPr>
          <a:xfrm>
            <a:off x="3809300" y="507365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搜索状态恢复</a:t>
            </a:r>
          </a:p>
        </p:txBody>
      </p:sp>
      <p:sp>
        <p:nvSpPr>
          <p:cNvPr id="49" name="M7|frame">
            <a:extLst>
              <a:ext uri="{FF2B5EF4-FFF2-40B4-BE49-F238E27FC236}">
                <a16:creationId xmlns:a16="http://schemas.microsoft.com/office/drawing/2014/main" id="{427B6B5D-07CD-4D2D-8FDB-18C053EA1666}"/>
              </a:ext>
            </a:extLst>
          </p:cNvPr>
          <p:cNvSpPr>
            <a:spLocks noGrp="1"/>
          </p:cNvSpPr>
          <p:nvPr/>
        </p:nvSpPr>
        <p:spPr>
          <a:xfrm>
            <a:off x="837500" y="5537200"/>
            <a:ext cx="9017000" cy="812800"/>
          </a:xfrm>
          <a:prstGeom prst="roundRect">
            <a:avLst>
              <a:gd name="adj" fmla="val 6250"/>
            </a:avLst>
          </a:prstGeom>
          <a:solidFill>
            <a:srgbClr val="EFF3F6"/>
          </a:solidFill>
          <a:ln w="13970">
            <a:solidFill>
              <a:srgbClr val="536574"/>
            </a:solidFill>
          </a:ln>
        </p:spPr>
      </p:sp>
      <p:sp>
        <p:nvSpPr>
          <p:cNvPr id="50" name="M7|title">
            <a:extLst>
              <a:ext uri="{FF2B5EF4-FFF2-40B4-BE49-F238E27FC236}">
                <a16:creationId xmlns:a16="http://schemas.microsoft.com/office/drawing/2014/main" id="{16F2E9A1-1AB7-4785-BF3B-3E0914DEE8FC}"/>
              </a:ext>
            </a:extLst>
          </p:cNvPr>
          <p:cNvSpPr>
            <a:spLocks noGrp="1"/>
          </p:cNvSpPr>
          <p:nvPr/>
        </p:nvSpPr>
        <p:spPr>
          <a:xfrm>
            <a:off x="1028000" y="5689600"/>
            <a:ext cx="2413000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方案评价与 Top-K 维护</a:t>
            </a:r>
          </a:p>
        </p:txBody>
      </p:sp>
      <p:sp>
        <p:nvSpPr>
          <p:cNvPr id="51" name="M7|tag">
            <a:extLst>
              <a:ext uri="{FF2B5EF4-FFF2-40B4-BE49-F238E27FC236}">
                <a16:creationId xmlns:a16="http://schemas.microsoft.com/office/drawing/2014/main" id="{DE40EB60-63C9-47CC-BC02-17C80B56617B}"/>
              </a:ext>
            </a:extLst>
          </p:cNvPr>
          <p:cNvSpPr>
            <a:spLocks noGrp="1"/>
          </p:cNvSpPr>
          <p:nvPr/>
        </p:nvSpPr>
        <p:spPr>
          <a:xfrm>
            <a:off x="1028000" y="6032500"/>
            <a:ext cx="2413000" cy="177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50" b="0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0" dirty="0" err="1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rPr>
              <a:t>方案排序</a:t>
            </a:r>
            <a:r>
              <a:rPr lang="zh-CN" altLang="en-US" sz="950" b="0" dirty="0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950" b="0" dirty="0" err="1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rPr>
              <a:t>大根堆</a:t>
            </a:r>
            <a:endParaRPr sz="950" b="0" dirty="0">
              <a:solidFill>
                <a:srgbClr val="63727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M7|divider">
            <a:extLst>
              <a:ext uri="{FF2B5EF4-FFF2-40B4-BE49-F238E27FC236}">
                <a16:creationId xmlns:a16="http://schemas.microsoft.com/office/drawing/2014/main" id="{D9EA2BA7-C525-4196-9971-17A114D833D7}"/>
              </a:ext>
            </a:extLst>
          </p:cNvPr>
          <p:cNvSpPr>
            <a:spLocks noGrp="1"/>
          </p:cNvSpPr>
          <p:nvPr/>
        </p:nvSpPr>
        <p:spPr>
          <a:xfrm>
            <a:off x="3593400" y="5676900"/>
            <a:ext cx="0" cy="533400"/>
          </a:xfrm>
          <a:prstGeom prst="line">
            <a:avLst/>
          </a:prstGeom>
          <a:noFill/>
          <a:ln w="8255">
            <a:solidFill>
              <a:srgbClr val="CDD6DD"/>
            </a:solidFill>
          </a:ln>
        </p:spPr>
      </p:sp>
      <p:sp>
        <p:nvSpPr>
          <p:cNvPr id="53" name="M7|item1">
            <a:extLst>
              <a:ext uri="{FF2B5EF4-FFF2-40B4-BE49-F238E27FC236}">
                <a16:creationId xmlns:a16="http://schemas.microsoft.com/office/drawing/2014/main" id="{64FF65B0-D00A-4F4A-AB68-E360E270EEE3}"/>
              </a:ext>
            </a:extLst>
          </p:cNvPr>
          <p:cNvSpPr>
            <a:spLocks noGrp="1"/>
          </p:cNvSpPr>
          <p:nvPr/>
        </p:nvSpPr>
        <p:spPr>
          <a:xfrm>
            <a:off x="3809300" y="563245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早课节数统计</a:t>
            </a:r>
          </a:p>
        </p:txBody>
      </p:sp>
      <p:sp>
        <p:nvSpPr>
          <p:cNvPr id="54" name="M7|item2">
            <a:extLst>
              <a:ext uri="{FF2B5EF4-FFF2-40B4-BE49-F238E27FC236}">
                <a16:creationId xmlns:a16="http://schemas.microsoft.com/office/drawing/2014/main" id="{C5155034-4148-4441-8FB0-7742C6F46A0C}"/>
              </a:ext>
            </a:extLst>
          </p:cNvPr>
          <p:cNvSpPr>
            <a:spLocks noGrp="1"/>
          </p:cNvSpPr>
          <p:nvPr/>
        </p:nvSpPr>
        <p:spPr>
          <a:xfrm>
            <a:off x="6730300" y="563245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上课天数统计</a:t>
            </a:r>
          </a:p>
        </p:txBody>
      </p:sp>
      <p:sp>
        <p:nvSpPr>
          <p:cNvPr id="55" name="M7|item3">
            <a:extLst>
              <a:ext uri="{FF2B5EF4-FFF2-40B4-BE49-F238E27FC236}">
                <a16:creationId xmlns:a16="http://schemas.microsoft.com/office/drawing/2014/main" id="{136064AD-3D84-4919-8B6D-FD87608858B8}"/>
              </a:ext>
            </a:extLst>
          </p:cNvPr>
          <p:cNvSpPr>
            <a:spLocks noGrp="1"/>
          </p:cNvSpPr>
          <p:nvPr/>
        </p:nvSpPr>
        <p:spPr>
          <a:xfrm>
            <a:off x="3809300" y="5842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单日课程量统计</a:t>
            </a:r>
          </a:p>
        </p:txBody>
      </p:sp>
      <p:sp>
        <p:nvSpPr>
          <p:cNvPr id="56" name="M7|item4">
            <a:extLst>
              <a:ext uri="{FF2B5EF4-FFF2-40B4-BE49-F238E27FC236}">
                <a16:creationId xmlns:a16="http://schemas.microsoft.com/office/drawing/2014/main" id="{E323C562-FB4B-4753-B701-62C187DECDA9}"/>
              </a:ext>
            </a:extLst>
          </p:cNvPr>
          <p:cNvSpPr>
            <a:spLocks noGrp="1"/>
          </p:cNvSpPr>
          <p:nvPr/>
        </p:nvSpPr>
        <p:spPr>
          <a:xfrm>
            <a:off x="6730300" y="5842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最大连续上课节数</a:t>
            </a:r>
          </a:p>
        </p:txBody>
      </p:sp>
      <p:sp>
        <p:nvSpPr>
          <p:cNvPr id="57" name="M7|item5">
            <a:extLst>
              <a:ext uri="{FF2B5EF4-FFF2-40B4-BE49-F238E27FC236}">
                <a16:creationId xmlns:a16="http://schemas.microsoft.com/office/drawing/2014/main" id="{EE425C48-DAF0-4916-8EFD-928C1ACDFA87}"/>
              </a:ext>
            </a:extLst>
          </p:cNvPr>
          <p:cNvSpPr>
            <a:spLocks noGrp="1"/>
          </p:cNvSpPr>
          <p:nvPr/>
        </p:nvSpPr>
        <p:spPr>
          <a:xfrm>
            <a:off x="3809300" y="605155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用户偏好优先级比较</a:t>
            </a:r>
          </a:p>
        </p:txBody>
      </p:sp>
      <p:sp>
        <p:nvSpPr>
          <p:cNvPr id="58" name="M7|item6">
            <a:extLst>
              <a:ext uri="{FF2B5EF4-FFF2-40B4-BE49-F238E27FC236}">
                <a16:creationId xmlns:a16="http://schemas.microsoft.com/office/drawing/2014/main" id="{4E61CB06-D544-4AAC-AC5B-C8CADAFFEF33}"/>
              </a:ext>
            </a:extLst>
          </p:cNvPr>
          <p:cNvSpPr>
            <a:spLocks noGrp="1"/>
          </p:cNvSpPr>
          <p:nvPr/>
        </p:nvSpPr>
        <p:spPr>
          <a:xfrm>
            <a:off x="6730300" y="605155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大根堆维护 Top-K 方案</a:t>
            </a:r>
          </a:p>
        </p:txBody>
      </p:sp>
      <p:sp>
        <p:nvSpPr>
          <p:cNvPr id="59" name="M8|frame">
            <a:extLst>
              <a:ext uri="{FF2B5EF4-FFF2-40B4-BE49-F238E27FC236}">
                <a16:creationId xmlns:a16="http://schemas.microsoft.com/office/drawing/2014/main" id="{13ED7BF7-212D-4E0F-A1A0-5D71FD653CB1}"/>
              </a:ext>
            </a:extLst>
          </p:cNvPr>
          <p:cNvSpPr>
            <a:spLocks noGrp="1"/>
          </p:cNvSpPr>
          <p:nvPr/>
        </p:nvSpPr>
        <p:spPr>
          <a:xfrm>
            <a:off x="533400" y="6540500"/>
            <a:ext cx="9625200" cy="8128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3970">
            <a:solidFill>
              <a:srgbClr val="536574"/>
            </a:solidFill>
          </a:ln>
        </p:spPr>
      </p:sp>
      <p:sp>
        <p:nvSpPr>
          <p:cNvPr id="60" name="M8|title">
            <a:extLst>
              <a:ext uri="{FF2B5EF4-FFF2-40B4-BE49-F238E27FC236}">
                <a16:creationId xmlns:a16="http://schemas.microsoft.com/office/drawing/2014/main" id="{DDAA14DF-1435-4EDB-9284-5D5028133EB9}"/>
              </a:ext>
            </a:extLst>
          </p:cNvPr>
          <p:cNvSpPr>
            <a:spLocks noGrp="1"/>
          </p:cNvSpPr>
          <p:nvPr/>
        </p:nvSpPr>
        <p:spPr>
          <a:xfrm>
            <a:off x="723900" y="6692900"/>
            <a:ext cx="2413000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图形交互与结果展示</a:t>
            </a:r>
          </a:p>
        </p:txBody>
      </p:sp>
      <p:sp>
        <p:nvSpPr>
          <p:cNvPr id="61" name="M8|tag">
            <a:extLst>
              <a:ext uri="{FF2B5EF4-FFF2-40B4-BE49-F238E27FC236}">
                <a16:creationId xmlns:a16="http://schemas.microsoft.com/office/drawing/2014/main" id="{A6BDEB95-C8C1-44DE-AE1E-656A54C59C32}"/>
              </a:ext>
            </a:extLst>
          </p:cNvPr>
          <p:cNvSpPr>
            <a:spLocks noGrp="1"/>
          </p:cNvSpPr>
          <p:nvPr/>
        </p:nvSpPr>
        <p:spPr>
          <a:xfrm>
            <a:off x="723900" y="7035800"/>
            <a:ext cx="2413000" cy="177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50" b="0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0">
                <a:solidFill>
                  <a:srgbClr val="63727F"/>
                </a:solidFill>
                <a:latin typeface="Microsoft YaHei"/>
                <a:ea typeface="Microsoft YaHei"/>
                <a:cs typeface="Microsoft YaHei"/>
              </a:rPr>
              <a:t>Qt 6 Widgets</a:t>
            </a:r>
          </a:p>
        </p:txBody>
      </p:sp>
      <p:sp>
        <p:nvSpPr>
          <p:cNvPr id="62" name="M8|divider">
            <a:extLst>
              <a:ext uri="{FF2B5EF4-FFF2-40B4-BE49-F238E27FC236}">
                <a16:creationId xmlns:a16="http://schemas.microsoft.com/office/drawing/2014/main" id="{213E4589-9F67-4EF9-9979-E1701626CCEA}"/>
              </a:ext>
            </a:extLst>
          </p:cNvPr>
          <p:cNvSpPr>
            <a:spLocks noGrp="1"/>
          </p:cNvSpPr>
          <p:nvPr/>
        </p:nvSpPr>
        <p:spPr>
          <a:xfrm>
            <a:off x="3289300" y="6680200"/>
            <a:ext cx="0" cy="533400"/>
          </a:xfrm>
          <a:prstGeom prst="line">
            <a:avLst/>
          </a:prstGeom>
          <a:noFill/>
          <a:ln w="8255">
            <a:solidFill>
              <a:srgbClr val="CDD6DD"/>
            </a:solidFill>
          </a:ln>
        </p:spPr>
      </p:sp>
      <p:sp>
        <p:nvSpPr>
          <p:cNvPr id="63" name="M8|item1">
            <a:extLst>
              <a:ext uri="{FF2B5EF4-FFF2-40B4-BE49-F238E27FC236}">
                <a16:creationId xmlns:a16="http://schemas.microsoft.com/office/drawing/2014/main" id="{6C275853-E20A-4B54-83FA-5504EAF83083}"/>
              </a:ext>
            </a:extLst>
          </p:cNvPr>
          <p:cNvSpPr>
            <a:spLocks noGrp="1"/>
          </p:cNvSpPr>
          <p:nvPr/>
        </p:nvSpPr>
        <p:spPr>
          <a:xfrm>
            <a:off x="3505200" y="6635750"/>
            <a:ext cx="30981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周课表可视化</a:t>
            </a:r>
          </a:p>
        </p:txBody>
      </p:sp>
      <p:sp>
        <p:nvSpPr>
          <p:cNvPr id="64" name="M8|item2">
            <a:extLst>
              <a:ext uri="{FF2B5EF4-FFF2-40B4-BE49-F238E27FC236}">
                <a16:creationId xmlns:a16="http://schemas.microsoft.com/office/drawing/2014/main" id="{89A8846F-E234-4D2B-9389-37EDCF850709}"/>
              </a:ext>
            </a:extLst>
          </p:cNvPr>
          <p:cNvSpPr>
            <a:spLocks noGrp="1"/>
          </p:cNvSpPr>
          <p:nvPr/>
        </p:nvSpPr>
        <p:spPr>
          <a:xfrm>
            <a:off x="6730300" y="6635750"/>
            <a:ext cx="30981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候选方案切换与比较</a:t>
            </a:r>
          </a:p>
        </p:txBody>
      </p:sp>
      <p:sp>
        <p:nvSpPr>
          <p:cNvPr id="65" name="M8|item3">
            <a:extLst>
              <a:ext uri="{FF2B5EF4-FFF2-40B4-BE49-F238E27FC236}">
                <a16:creationId xmlns:a16="http://schemas.microsoft.com/office/drawing/2014/main" id="{59CACC2A-FA01-4F9B-A06F-48E658B7531F}"/>
              </a:ext>
            </a:extLst>
          </p:cNvPr>
          <p:cNvSpPr>
            <a:spLocks noGrp="1"/>
          </p:cNvSpPr>
          <p:nvPr/>
        </p:nvSpPr>
        <p:spPr>
          <a:xfrm>
            <a:off x="3505200" y="6845300"/>
            <a:ext cx="30981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冲突课程及冲突时间显示</a:t>
            </a:r>
          </a:p>
        </p:txBody>
      </p:sp>
      <p:sp>
        <p:nvSpPr>
          <p:cNvPr id="66" name="M8|item4">
            <a:extLst>
              <a:ext uri="{FF2B5EF4-FFF2-40B4-BE49-F238E27FC236}">
                <a16:creationId xmlns:a16="http://schemas.microsoft.com/office/drawing/2014/main" id="{0A0907EE-8622-4145-8D2C-0CA3982BABAA}"/>
              </a:ext>
            </a:extLst>
          </p:cNvPr>
          <p:cNvSpPr>
            <a:spLocks noGrp="1"/>
          </p:cNvSpPr>
          <p:nvPr/>
        </p:nvSpPr>
        <p:spPr>
          <a:xfrm>
            <a:off x="6730300" y="6845300"/>
            <a:ext cx="30981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无可行方案提示</a:t>
            </a:r>
          </a:p>
        </p:txBody>
      </p:sp>
      <p:sp>
        <p:nvSpPr>
          <p:cNvPr id="67" name="M8|item5">
            <a:extLst>
              <a:ext uri="{FF2B5EF4-FFF2-40B4-BE49-F238E27FC236}">
                <a16:creationId xmlns:a16="http://schemas.microsoft.com/office/drawing/2014/main" id="{F4A8E69F-46AF-4720-9C04-3B7FDFA4E96B}"/>
              </a:ext>
            </a:extLst>
          </p:cNvPr>
          <p:cNvSpPr>
            <a:spLocks noGrp="1"/>
          </p:cNvSpPr>
          <p:nvPr/>
        </p:nvSpPr>
        <p:spPr>
          <a:xfrm>
            <a:off x="3505200" y="7054850"/>
            <a:ext cx="30981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0">
                <a:solidFill>
                  <a:srgbClr val="303841"/>
                </a:solidFill>
                <a:latin typeface="Microsoft YaHei"/>
                <a:ea typeface="Microsoft YaHei"/>
                <a:cs typeface="Microsoft YaHei"/>
              </a:rPr>
              <a:t>搜索状态显示</a:t>
            </a:r>
          </a:p>
        </p:txBody>
      </p:sp>
      <p:cxnSp>
        <p:nvCxnSpPr>
          <p:cNvPr id="143" name="连接符: 肘形 142"/>
          <p:cNvCxnSpPr>
            <a:stCxn id="3" idx="2"/>
            <a:endCxn id="22" idx="0"/>
          </p:cNvCxnSpPr>
          <p:nvPr/>
        </p:nvCxnSpPr>
        <p:spPr>
          <a:xfrm>
            <a:off x="2057400" y="2324100"/>
            <a:ext cx="3288600" cy="279400"/>
          </a:xfrm>
          <a:prstGeom prst="bentConnector4">
            <a:avLst>
              <a:gd name="adj1" fmla="val 0"/>
              <a:gd name="adj2" fmla="val 50000"/>
            </a:avLst>
          </a:prstGeom>
          <a:ln w="14605">
            <a:solidFill>
              <a:srgbClr val="536574"/>
            </a:solidFill>
            <a:tailEnd type="triangle" w="sm" len="sm"/>
          </a:ln>
        </p:spPr>
      </p:cxnSp>
      <p:cxnSp>
        <p:nvCxnSpPr>
          <p:cNvPr id="144" name="直接箭头连接符 143"/>
          <p:cNvCxnSpPr>
            <a:stCxn id="10" idx="2"/>
            <a:endCxn id="22" idx="0"/>
          </p:cNvCxnSpPr>
          <p:nvPr/>
        </p:nvCxnSpPr>
        <p:spPr>
          <a:xfrm>
            <a:off x="5346000" y="2324100"/>
            <a:ext cx="0" cy="279400"/>
          </a:xfrm>
          <a:prstGeom prst="straightConnector1">
            <a:avLst/>
          </a:prstGeom>
          <a:ln w="14605">
            <a:solidFill>
              <a:srgbClr val="536574"/>
            </a:solidFill>
            <a:tailEnd type="triangle" w="sm" len="sm"/>
          </a:ln>
        </p:spPr>
      </p:cxnSp>
      <p:cxnSp>
        <p:nvCxnSpPr>
          <p:cNvPr id="145" name="连接符: 肘形 144"/>
          <p:cNvCxnSpPr>
            <a:stCxn id="16" idx="2"/>
            <a:endCxn id="22" idx="0"/>
          </p:cNvCxnSpPr>
          <p:nvPr/>
        </p:nvCxnSpPr>
        <p:spPr>
          <a:xfrm flipH="1">
            <a:off x="5346000" y="2324100"/>
            <a:ext cx="3288600" cy="279400"/>
          </a:xfrm>
          <a:prstGeom prst="bentConnector4">
            <a:avLst>
              <a:gd name="adj1" fmla="val 0"/>
              <a:gd name="adj2" fmla="val 50000"/>
            </a:avLst>
          </a:prstGeom>
          <a:ln w="14605">
            <a:solidFill>
              <a:srgbClr val="536574"/>
            </a:solidFill>
            <a:tailEnd type="triangle" w="sm" len="sm"/>
          </a:ln>
        </p:spPr>
      </p:cxnSp>
      <p:cxnSp>
        <p:nvCxnSpPr>
          <p:cNvPr id="146" name="直接箭头连接符 145"/>
          <p:cNvCxnSpPr>
            <a:stCxn id="22" idx="2"/>
            <a:endCxn id="31" idx="0"/>
          </p:cNvCxnSpPr>
          <p:nvPr/>
        </p:nvCxnSpPr>
        <p:spPr>
          <a:xfrm>
            <a:off x="5346000" y="3416300"/>
            <a:ext cx="0" cy="165100"/>
          </a:xfrm>
          <a:prstGeom prst="straightConnector1">
            <a:avLst/>
          </a:prstGeom>
          <a:ln w="14605">
            <a:solidFill>
              <a:srgbClr val="536574"/>
            </a:solidFill>
            <a:tailEnd type="triangle" w="sm" len="sm"/>
          </a:ln>
        </p:spPr>
      </p:cxnSp>
      <p:cxnSp>
        <p:nvCxnSpPr>
          <p:cNvPr id="147" name="直接箭头连接符 146"/>
          <p:cNvCxnSpPr>
            <a:stCxn id="31" idx="2"/>
            <a:endCxn id="40" idx="0"/>
          </p:cNvCxnSpPr>
          <p:nvPr/>
        </p:nvCxnSpPr>
        <p:spPr>
          <a:xfrm>
            <a:off x="5346000" y="4394200"/>
            <a:ext cx="0" cy="165100"/>
          </a:xfrm>
          <a:prstGeom prst="straightConnector1">
            <a:avLst/>
          </a:prstGeom>
          <a:ln w="14605">
            <a:solidFill>
              <a:srgbClr val="536574"/>
            </a:solidFill>
            <a:tailEnd type="triangle" w="sm" len="sm"/>
          </a:ln>
        </p:spPr>
      </p:cxnSp>
      <p:cxnSp>
        <p:nvCxnSpPr>
          <p:cNvPr id="148" name="直接箭头连接符 147"/>
          <p:cNvCxnSpPr>
            <a:stCxn id="40" idx="2"/>
            <a:endCxn id="49" idx="0"/>
          </p:cNvCxnSpPr>
          <p:nvPr/>
        </p:nvCxnSpPr>
        <p:spPr>
          <a:xfrm>
            <a:off x="5346000" y="5372100"/>
            <a:ext cx="0" cy="165100"/>
          </a:xfrm>
          <a:prstGeom prst="straightConnector1">
            <a:avLst/>
          </a:prstGeom>
          <a:ln w="14605">
            <a:solidFill>
              <a:srgbClr val="536574"/>
            </a:solidFill>
            <a:tailEnd type="triangle" w="sm" len="sm"/>
          </a:ln>
        </p:spPr>
      </p:cxnSp>
      <p:cxnSp>
        <p:nvCxnSpPr>
          <p:cNvPr id="149" name="直接箭头连接符 148"/>
          <p:cNvCxnSpPr>
            <a:stCxn id="49" idx="2"/>
            <a:endCxn id="59" idx="0"/>
          </p:cNvCxnSpPr>
          <p:nvPr/>
        </p:nvCxnSpPr>
        <p:spPr>
          <a:xfrm flipH="1">
            <a:off x="5346000" y="6350000"/>
            <a:ext cx="0" cy="190500"/>
          </a:xfrm>
          <a:prstGeom prst="straightConnector1">
            <a:avLst/>
          </a:prstGeom>
          <a:ln w="14605">
            <a:solidFill>
              <a:srgbClr val="536574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84815071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DocSecurity>0</DocSecurity>
  <PresentationFormat>自定义</PresentationFormat>
  <Paragraphs>54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junhao xu</cp:lastModifiedBy>
  <cp:revision>1</cp:revision>
  <dcterms:created xsi:type="dcterms:W3CDTF">2026-09-27T13:30:57Z</dcterms:created>
  <dcterms:modified xsi:type="dcterms:W3CDTF">2026-09-27T13:55:01Z</dcterms:modified>
</cp:coreProperties>
</file>